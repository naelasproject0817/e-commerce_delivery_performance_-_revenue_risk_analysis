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7" roundtripDataSignature="AMtx7mhq0WOFIOSaLxve4xWKImXNkL4T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2" name="Google Shape;122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hd80787c6b53f6e6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9" name="Google Shape;1279;hd80787c6b53f6e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hd80787c6b53f6e6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4" name="Google Shape;1284;hd80787c6b53f6e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h3c495877238649a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9" name="Google Shape;1289;h3c495877238649a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8" name="Google Shape;131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1.jp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1.jpg"/><Relationship Id="rId5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Relationship Id="rId4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Relationship Id="rId4" Type="http://schemas.openxmlformats.org/officeDocument/2006/relationships/hyperlink" Target="https://colab.research.google.com/drive/10cTlTZerxiTAGS7sHRNT_yeqquo0Rmug" TargetMode="External"/><Relationship Id="rId5" Type="http://schemas.openxmlformats.org/officeDocument/2006/relationships/hyperlink" Target="https://drive.google.com/file/d/1hsg7SvFChNE2Lm0tY65XSoGFpK5XH5aD/view?usp=drive_link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545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4572" y="0"/>
            <a:ext cx="18283428" cy="10287000"/>
          </a:xfrm>
          <a:custGeom>
            <a:rect b="b" l="l" r="r" t="t"/>
            <a:pathLst>
              <a:path extrusionOk="0" h="13716000" w="24377904">
                <a:moveTo>
                  <a:pt x="0" y="0"/>
                </a:moveTo>
                <a:lnTo>
                  <a:pt x="24377904" y="0"/>
                </a:lnTo>
                <a:lnTo>
                  <a:pt x="24377904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0B254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1234440" y="2057400"/>
            <a:ext cx="10972800" cy="548640"/>
          </a:xfrm>
          <a:custGeom>
            <a:rect b="b" l="l" r="r" t="t"/>
            <a:pathLst>
              <a:path extrusionOk="0" h="731520" w="14630400">
                <a:moveTo>
                  <a:pt x="0" y="0"/>
                </a:moveTo>
                <a:lnTo>
                  <a:pt x="14630400" y="0"/>
                </a:lnTo>
                <a:lnTo>
                  <a:pt x="14630400" y="731520"/>
                </a:lnTo>
                <a:lnTo>
                  <a:pt x="0" y="7315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339408" l="0" r="0" t="-33940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6" name="Google Shape;86;p1"/>
          <p:cNvGrpSpPr/>
          <p:nvPr/>
        </p:nvGrpSpPr>
        <p:grpSpPr>
          <a:xfrm>
            <a:off x="1234440" y="1985962"/>
            <a:ext cx="10972800" cy="620078"/>
            <a:chOff x="0" y="-47625"/>
            <a:chExt cx="14630400" cy="826770"/>
          </a:xfrm>
        </p:grpSpPr>
        <p:sp>
          <p:nvSpPr>
            <p:cNvPr id="87" name="Google Shape;87;p1"/>
            <p:cNvSpPr/>
            <p:nvPr/>
          </p:nvSpPr>
          <p:spPr>
            <a:xfrm>
              <a:off x="0" y="0"/>
              <a:ext cx="14630400" cy="779145"/>
            </a:xfrm>
            <a:custGeom>
              <a:rect b="b" l="l" r="r" t="t"/>
              <a:pathLst>
                <a:path extrusionOk="0" h="779145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79145"/>
                  </a:lnTo>
                  <a:lnTo>
                    <a:pt x="0" y="77914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315872" l="0" r="0" t="-31587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1"/>
            <p:cNvSpPr txBox="1"/>
            <p:nvPr/>
          </p:nvSpPr>
          <p:spPr>
            <a:xfrm>
              <a:off x="0" y="-47625"/>
              <a:ext cx="14630400" cy="8267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pc="448" sz="1950">
                  <a:solidFill>
                    <a:srgbClr val="CFE2F3"/>
                  </a:solidFill>
                  <a:latin typeface="Calibri"/>
                  <a:ea typeface="Calibri"/>
                  <a:cs typeface="Calibri"/>
                  <a:sym typeface="Calibri"/>
                </a:rPr>
                <a:t>ANALISIS DATA E-COMMERCE  </a:t>
              </a:r>
              <a:endParaRPr/>
            </a:p>
          </p:txBody>
        </p:sp>
      </p:grpSp>
      <p:sp>
        <p:nvSpPr>
          <p:cNvPr id="89" name="Google Shape;89;p1"/>
          <p:cNvSpPr/>
          <p:nvPr/>
        </p:nvSpPr>
        <p:spPr>
          <a:xfrm>
            <a:off x="1028700" y="3943350"/>
            <a:ext cx="14401800" cy="2743200"/>
          </a:xfrm>
          <a:custGeom>
            <a:rect b="b" l="l" r="r" t="t"/>
            <a:pathLst>
              <a:path extrusionOk="0" h="3657600" w="19202400">
                <a:moveTo>
                  <a:pt x="0" y="0"/>
                </a:moveTo>
                <a:lnTo>
                  <a:pt x="19202400" y="0"/>
                </a:lnTo>
                <a:lnTo>
                  <a:pt x="19202400" y="3657600"/>
                </a:lnTo>
                <a:lnTo>
                  <a:pt x="0" y="365760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52224" l="0" r="0" t="-5222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0" name="Google Shape;90;p1"/>
          <p:cNvGrpSpPr/>
          <p:nvPr/>
        </p:nvGrpSpPr>
        <p:grpSpPr>
          <a:xfrm>
            <a:off x="1028700" y="3979069"/>
            <a:ext cx="14401800" cy="2707481"/>
            <a:chOff x="0" y="0"/>
            <a:chExt cx="19202400" cy="3609975"/>
          </a:xfrm>
        </p:grpSpPr>
        <p:sp>
          <p:nvSpPr>
            <p:cNvPr id="91" name="Google Shape;91;p1"/>
            <p:cNvSpPr/>
            <p:nvPr/>
          </p:nvSpPr>
          <p:spPr>
            <a:xfrm>
              <a:off x="0" y="0"/>
              <a:ext cx="19202400" cy="3609975"/>
            </a:xfrm>
            <a:custGeom>
              <a:rect b="b" l="l" r="r" t="t"/>
              <a:pathLst>
                <a:path extrusionOk="0" h="3609975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3609975"/>
                  </a:lnTo>
                  <a:lnTo>
                    <a:pt x="0" y="360997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53644" l="0" r="0" t="-5364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"/>
            <p:cNvSpPr txBox="1"/>
            <p:nvPr/>
          </p:nvSpPr>
          <p:spPr>
            <a:xfrm>
              <a:off x="0" y="47625"/>
              <a:ext cx="19202400" cy="3562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600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E-Commerce Delivery Performance</a:t>
              </a:r>
              <a:endParaRPr/>
            </a:p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600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&amp; Revenue Risk Analysis</a:t>
              </a:r>
              <a:endParaRPr/>
            </a:p>
          </p:txBody>
        </p:sp>
      </p:grpSp>
      <p:sp>
        <p:nvSpPr>
          <p:cNvPr id="93" name="Google Shape;93;p1"/>
          <p:cNvSpPr/>
          <p:nvPr/>
        </p:nvSpPr>
        <p:spPr>
          <a:xfrm>
            <a:off x="1234440" y="8023860"/>
            <a:ext cx="12070079" cy="1234440"/>
          </a:xfrm>
          <a:custGeom>
            <a:rect b="b" l="l" r="r" t="t"/>
            <a:pathLst>
              <a:path extrusionOk="0" h="1645920" w="16093439">
                <a:moveTo>
                  <a:pt x="0" y="0"/>
                </a:moveTo>
                <a:lnTo>
                  <a:pt x="16093439" y="0"/>
                </a:lnTo>
                <a:lnTo>
                  <a:pt x="16093439" y="1645920"/>
                </a:lnTo>
                <a:lnTo>
                  <a:pt x="0" y="16459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140389" l="0" r="0" t="-14038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4" name="Google Shape;94;p1"/>
          <p:cNvGrpSpPr/>
          <p:nvPr/>
        </p:nvGrpSpPr>
        <p:grpSpPr>
          <a:xfrm>
            <a:off x="1234440" y="7880985"/>
            <a:ext cx="12070080" cy="1377314"/>
            <a:chOff x="0" y="-95250"/>
            <a:chExt cx="16093440" cy="1836420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16093439" cy="1741170"/>
            </a:xfrm>
            <a:custGeom>
              <a:rect b="b" l="l" r="r" t="t"/>
              <a:pathLst>
                <a:path extrusionOk="0" h="1741170" w="16093439">
                  <a:moveTo>
                    <a:pt x="0" y="0"/>
                  </a:moveTo>
                  <a:lnTo>
                    <a:pt x="16093439" y="0"/>
                  </a:lnTo>
                  <a:lnTo>
                    <a:pt x="16093439" y="1741170"/>
                  </a:lnTo>
                  <a:lnTo>
                    <a:pt x="0" y="174117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30102" l="0" r="0" t="-13010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95250"/>
              <a:ext cx="16093440" cy="18364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99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50">
                  <a:solidFill>
                    <a:srgbClr val="CFE2F3"/>
                  </a:solidFill>
                  <a:latin typeface="Calibri"/>
                  <a:ea typeface="Calibri"/>
                  <a:cs typeface="Calibri"/>
                  <a:sym typeface="Calibri"/>
                </a:rPr>
                <a:t>Oleh Naela Arbach</a:t>
              </a:r>
              <a:endParaRPr/>
            </a:p>
          </p:txBody>
        </p:sp>
      </p:grpSp>
      <p:sp>
        <p:nvSpPr>
          <p:cNvPr id="97" name="Google Shape;97;p1"/>
          <p:cNvSpPr/>
          <p:nvPr/>
        </p:nvSpPr>
        <p:spPr>
          <a:xfrm>
            <a:off x="1234440" y="9395460"/>
            <a:ext cx="10972800" cy="411480"/>
          </a:xfrm>
          <a:custGeom>
            <a:rect b="b" l="l" r="r" t="t"/>
            <a:pathLst>
              <a:path extrusionOk="0" h="548640" w="14630400">
                <a:moveTo>
                  <a:pt x="0" y="0"/>
                </a:moveTo>
                <a:lnTo>
                  <a:pt x="14630400" y="0"/>
                </a:lnTo>
                <a:lnTo>
                  <a:pt x="14630400" y="548640"/>
                </a:lnTo>
                <a:lnTo>
                  <a:pt x="0" y="54864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469211" l="0" r="0" t="-46921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" name="Google Shape;98;p1"/>
          <p:cNvGrpSpPr/>
          <p:nvPr/>
        </p:nvGrpSpPr>
        <p:grpSpPr>
          <a:xfrm>
            <a:off x="1234440" y="9338310"/>
            <a:ext cx="10972800" cy="468630"/>
            <a:chOff x="0" y="-38100"/>
            <a:chExt cx="14630400" cy="624840"/>
          </a:xfrm>
        </p:grpSpPr>
        <p:sp>
          <p:nvSpPr>
            <p:cNvPr id="99" name="Google Shape;99;p1"/>
            <p:cNvSpPr/>
            <p:nvPr/>
          </p:nvSpPr>
          <p:spPr>
            <a:xfrm>
              <a:off x="0" y="0"/>
              <a:ext cx="14630400" cy="586740"/>
            </a:xfrm>
            <a:custGeom>
              <a:rect b="b" l="l" r="r" t="t"/>
              <a:pathLst>
                <a:path extrusionOk="0" h="5867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86740"/>
                  </a:lnTo>
                  <a:lnTo>
                    <a:pt x="0" y="58674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435814" l="0" r="0" t="-43581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1"/>
            <p:cNvSpPr txBox="1"/>
            <p:nvPr/>
          </p:nvSpPr>
          <p:spPr>
            <a:xfrm>
              <a:off x="0" y="-38100"/>
              <a:ext cx="14630400" cy="624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500">
                  <a:solidFill>
                    <a:srgbClr val="8FA9C2"/>
                  </a:solidFill>
                  <a:latin typeface="Calibri"/>
                  <a:ea typeface="Calibri"/>
                  <a:cs typeface="Calibri"/>
                  <a:sym typeface="Calibri"/>
                </a:rPr>
                <a:t>Disusun berdasarkan hasil eksplorasi data (EDA) &amp; dashboard Power BI</a:t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B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p2"/>
          <p:cNvGrpSpPr/>
          <p:nvPr/>
        </p:nvGrpSpPr>
        <p:grpSpPr>
          <a:xfrm>
            <a:off x="331700" y="1695989"/>
            <a:ext cx="17559253" cy="6786552"/>
            <a:chOff x="0" y="0"/>
            <a:chExt cx="23412337" cy="9048736"/>
          </a:xfrm>
        </p:grpSpPr>
        <p:cxnSp>
          <p:nvCxnSpPr>
            <p:cNvPr id="106" name="Google Shape;106;p2"/>
            <p:cNvCxnSpPr/>
            <p:nvPr/>
          </p:nvCxnSpPr>
          <p:spPr>
            <a:xfrm>
              <a:off x="2992506" y="4599442"/>
              <a:ext cx="17454788" cy="0"/>
            </a:xfrm>
            <a:prstGeom prst="straightConnector1">
              <a:avLst/>
            </a:prstGeom>
            <a:noFill/>
            <a:ln cap="flat" cmpd="sng" w="508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07" name="Google Shape;107;p2"/>
            <p:cNvGrpSpPr/>
            <p:nvPr/>
          </p:nvGrpSpPr>
          <p:grpSpPr>
            <a:xfrm>
              <a:off x="2266442" y="4215763"/>
              <a:ext cx="726063" cy="767357"/>
              <a:chOff x="0" y="0"/>
              <a:chExt cx="812800" cy="859026"/>
            </a:xfrm>
          </p:grpSpPr>
          <p:sp>
            <p:nvSpPr>
              <p:cNvPr id="108" name="Google Shape;108;p2"/>
              <p:cNvSpPr/>
              <p:nvPr/>
            </p:nvSpPr>
            <p:spPr>
              <a:xfrm>
                <a:off x="0" y="0"/>
                <a:ext cx="812800" cy="859026"/>
              </a:xfrm>
              <a:custGeom>
                <a:rect b="b" l="l" r="r" t="t"/>
                <a:pathLst>
                  <a:path extrusionOk="0" h="859026" w="812800">
                    <a:moveTo>
                      <a:pt x="406400" y="0"/>
                    </a:moveTo>
                    <a:cubicBezTo>
                      <a:pt x="181951" y="0"/>
                      <a:pt x="0" y="192300"/>
                      <a:pt x="0" y="429513"/>
                    </a:cubicBezTo>
                    <a:cubicBezTo>
                      <a:pt x="0" y="666727"/>
                      <a:pt x="181951" y="859026"/>
                      <a:pt x="406400" y="859026"/>
                    </a:cubicBezTo>
                    <a:cubicBezTo>
                      <a:pt x="630849" y="859026"/>
                      <a:pt x="812800" y="666727"/>
                      <a:pt x="812800" y="429513"/>
                    </a:cubicBezTo>
                    <a:cubicBezTo>
                      <a:pt x="812800" y="192300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23A3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109;p2"/>
              <p:cNvSpPr txBox="1"/>
              <p:nvPr/>
            </p:nvSpPr>
            <p:spPr>
              <a:xfrm>
                <a:off x="76200" y="32909"/>
                <a:ext cx="660400" cy="7455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2001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949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/>
              </a:p>
            </p:txBody>
          </p:sp>
        </p:grpSp>
        <p:sp>
          <p:nvSpPr>
            <p:cNvPr id="110" name="Google Shape;110;p2"/>
            <p:cNvSpPr txBox="1"/>
            <p:nvPr/>
          </p:nvSpPr>
          <p:spPr>
            <a:xfrm>
              <a:off x="1009145" y="3732690"/>
              <a:ext cx="3240659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4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Pengiriman Terlambat</a:t>
              </a:r>
              <a:endParaRPr/>
            </a:p>
          </p:txBody>
        </p:sp>
        <p:grpSp>
          <p:nvGrpSpPr>
            <p:cNvPr id="111" name="Google Shape;111;p2"/>
            <p:cNvGrpSpPr/>
            <p:nvPr/>
          </p:nvGrpSpPr>
          <p:grpSpPr>
            <a:xfrm>
              <a:off x="0" y="5620846"/>
              <a:ext cx="5258948" cy="3427890"/>
              <a:chOff x="0" y="0"/>
              <a:chExt cx="1038805" cy="677114"/>
            </a:xfrm>
          </p:grpSpPr>
          <p:sp>
            <p:nvSpPr>
              <p:cNvPr id="112" name="Google Shape;112;p2"/>
              <p:cNvSpPr/>
              <p:nvPr/>
            </p:nvSpPr>
            <p:spPr>
              <a:xfrm>
                <a:off x="0" y="0"/>
                <a:ext cx="1038805" cy="677114"/>
              </a:xfrm>
              <a:custGeom>
                <a:rect b="b" l="l" r="r" t="t"/>
                <a:pathLst>
                  <a:path extrusionOk="0" h="677114" w="1038805">
                    <a:moveTo>
                      <a:pt x="98143" y="0"/>
                    </a:moveTo>
                    <a:lnTo>
                      <a:pt x="940662" y="0"/>
                    </a:lnTo>
                    <a:cubicBezTo>
                      <a:pt x="994864" y="0"/>
                      <a:pt x="1038805" y="43940"/>
                      <a:pt x="1038805" y="98143"/>
                    </a:cubicBezTo>
                    <a:lnTo>
                      <a:pt x="1038805" y="578971"/>
                    </a:lnTo>
                    <a:cubicBezTo>
                      <a:pt x="1038805" y="633174"/>
                      <a:pt x="994864" y="677114"/>
                      <a:pt x="940662" y="677114"/>
                    </a:cubicBezTo>
                    <a:lnTo>
                      <a:pt x="98143" y="677114"/>
                    </a:lnTo>
                    <a:cubicBezTo>
                      <a:pt x="43940" y="677114"/>
                      <a:pt x="0" y="633174"/>
                      <a:pt x="0" y="578971"/>
                    </a:cubicBezTo>
                    <a:lnTo>
                      <a:pt x="0" y="98143"/>
                    </a:lnTo>
                    <a:cubicBezTo>
                      <a:pt x="0" y="43940"/>
                      <a:pt x="43940" y="0"/>
                      <a:pt x="98143" y="0"/>
                    </a:cubicBezTo>
                    <a:close/>
                  </a:path>
                </a:pathLst>
              </a:custGeom>
              <a:solidFill>
                <a:srgbClr val="D8E1E9"/>
              </a:solidFill>
              <a:ln cap="rnd" cmpd="sng" w="38100">
                <a:solidFill>
                  <a:srgbClr val="5F79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" name="Google Shape;113;p2"/>
              <p:cNvSpPr txBox="1"/>
              <p:nvPr/>
            </p:nvSpPr>
            <p:spPr>
              <a:xfrm>
                <a:off x="0" y="19050"/>
                <a:ext cx="1038805" cy="6580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0703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749" u="none" strike="noStrike">
                    <a:solidFill>
                      <a:srgbClr val="000000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Keterlambatan pengiriman</a:t>
                </a:r>
                <a:r>
                  <a:rPr lang="en-US" sz="1749" u="none" strike="noStrike">
                    <a:solidFill>
                      <a:srgbClr val="000000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mencapai </a:t>
                </a:r>
                <a:r>
                  <a:rPr b="1" lang="en-US" sz="1749" u="none" strike="noStrike">
                    <a:solidFill>
                      <a:srgbClr val="000000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56,32%</a:t>
                </a:r>
                <a:r>
                  <a:rPr lang="en-US" sz="1749" u="none" strike="noStrike">
                    <a:solidFill>
                      <a:srgbClr val="000000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dan rata-rata keterlambatan </a:t>
                </a:r>
                <a:r>
                  <a:rPr b="1" lang="en-US" sz="1749" u="none" strike="noStrike">
                    <a:solidFill>
                      <a:srgbClr val="000000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1,28 hari</a:t>
                </a:r>
                <a:r>
                  <a:rPr lang="en-US" sz="1749" u="none" strike="noStrike">
                    <a:solidFill>
                      <a:srgbClr val="000000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dari estimasi</a:t>
                </a:r>
                <a:endParaRPr/>
              </a:p>
            </p:txBody>
          </p:sp>
        </p:grpSp>
        <p:grpSp>
          <p:nvGrpSpPr>
            <p:cNvPr id="114" name="Google Shape;114;p2"/>
            <p:cNvGrpSpPr/>
            <p:nvPr/>
          </p:nvGrpSpPr>
          <p:grpSpPr>
            <a:xfrm>
              <a:off x="6265166" y="4215763"/>
              <a:ext cx="726063" cy="767357"/>
              <a:chOff x="0" y="0"/>
              <a:chExt cx="812800" cy="859026"/>
            </a:xfrm>
          </p:grpSpPr>
          <p:sp>
            <p:nvSpPr>
              <p:cNvPr id="115" name="Google Shape;115;p2"/>
              <p:cNvSpPr/>
              <p:nvPr/>
            </p:nvSpPr>
            <p:spPr>
              <a:xfrm>
                <a:off x="0" y="0"/>
                <a:ext cx="812800" cy="859026"/>
              </a:xfrm>
              <a:custGeom>
                <a:rect b="b" l="l" r="r" t="t"/>
                <a:pathLst>
                  <a:path extrusionOk="0" h="859026" w="812800">
                    <a:moveTo>
                      <a:pt x="406400" y="0"/>
                    </a:moveTo>
                    <a:cubicBezTo>
                      <a:pt x="181951" y="0"/>
                      <a:pt x="0" y="192300"/>
                      <a:pt x="0" y="429513"/>
                    </a:cubicBezTo>
                    <a:cubicBezTo>
                      <a:pt x="0" y="666727"/>
                      <a:pt x="181951" y="859026"/>
                      <a:pt x="406400" y="859026"/>
                    </a:cubicBezTo>
                    <a:cubicBezTo>
                      <a:pt x="630849" y="859026"/>
                      <a:pt x="812800" y="666727"/>
                      <a:pt x="812800" y="429513"/>
                    </a:cubicBezTo>
                    <a:cubicBezTo>
                      <a:pt x="812800" y="192300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5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116;p2"/>
              <p:cNvSpPr txBox="1"/>
              <p:nvPr/>
            </p:nvSpPr>
            <p:spPr>
              <a:xfrm>
                <a:off x="76200" y="32909"/>
                <a:ext cx="660400" cy="7455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2001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949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</p:grpSp>
        <p:sp>
          <p:nvSpPr>
            <p:cNvPr id="117" name="Google Shape;117;p2"/>
            <p:cNvSpPr txBox="1"/>
            <p:nvPr/>
          </p:nvSpPr>
          <p:spPr>
            <a:xfrm>
              <a:off x="5178314" y="5110293"/>
              <a:ext cx="2899767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4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Keterlambatan Operational </a:t>
              </a:r>
              <a:endParaRPr/>
            </a:p>
          </p:txBody>
        </p:sp>
        <p:grpSp>
          <p:nvGrpSpPr>
            <p:cNvPr id="118" name="Google Shape;118;p2"/>
            <p:cNvGrpSpPr/>
            <p:nvPr/>
          </p:nvGrpSpPr>
          <p:grpSpPr>
            <a:xfrm>
              <a:off x="3897703" y="305274"/>
              <a:ext cx="5460989" cy="3326290"/>
              <a:chOff x="0" y="0"/>
              <a:chExt cx="1078714" cy="657045"/>
            </a:xfrm>
          </p:grpSpPr>
          <p:sp>
            <p:nvSpPr>
              <p:cNvPr id="119" name="Google Shape;119;p2"/>
              <p:cNvSpPr/>
              <p:nvPr/>
            </p:nvSpPr>
            <p:spPr>
              <a:xfrm>
                <a:off x="0" y="0"/>
                <a:ext cx="1078714" cy="657045"/>
              </a:xfrm>
              <a:custGeom>
                <a:rect b="b" l="l" r="r" t="t"/>
                <a:pathLst>
                  <a:path extrusionOk="0" h="657045" w="1078714">
                    <a:moveTo>
                      <a:pt x="94512" y="0"/>
                    </a:moveTo>
                    <a:lnTo>
                      <a:pt x="984202" y="0"/>
                    </a:lnTo>
                    <a:cubicBezTo>
                      <a:pt x="1036399" y="0"/>
                      <a:pt x="1078714" y="42314"/>
                      <a:pt x="1078714" y="94512"/>
                    </a:cubicBezTo>
                    <a:lnTo>
                      <a:pt x="1078714" y="562533"/>
                    </a:lnTo>
                    <a:cubicBezTo>
                      <a:pt x="1078714" y="614731"/>
                      <a:pt x="1036399" y="657045"/>
                      <a:pt x="984202" y="657045"/>
                    </a:cubicBezTo>
                    <a:lnTo>
                      <a:pt x="94512" y="657045"/>
                    </a:lnTo>
                    <a:cubicBezTo>
                      <a:pt x="42314" y="657045"/>
                      <a:pt x="0" y="614731"/>
                      <a:pt x="0" y="562533"/>
                    </a:cubicBezTo>
                    <a:lnTo>
                      <a:pt x="0" y="94512"/>
                    </a:lnTo>
                    <a:cubicBezTo>
                      <a:pt x="0" y="42314"/>
                      <a:pt x="42314" y="0"/>
                      <a:pt x="94512" y="0"/>
                    </a:cubicBezTo>
                    <a:close/>
                  </a:path>
                </a:pathLst>
              </a:custGeom>
              <a:solidFill>
                <a:srgbClr val="D8E1E9"/>
              </a:solidFill>
              <a:ln cap="rnd" cmpd="sng" w="38100">
                <a:solidFill>
                  <a:srgbClr val="5F79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2"/>
              <p:cNvSpPr txBox="1"/>
              <p:nvPr/>
            </p:nvSpPr>
            <p:spPr>
              <a:xfrm>
                <a:off x="0" y="19050"/>
                <a:ext cx="1078714" cy="6379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0703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749" u="none" strike="noStrike">
                    <a:solidFill>
                      <a:srgbClr val="000000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Tingkat keterlambatan</a:t>
                </a:r>
                <a:r>
                  <a:rPr lang="en-US" sz="1749" u="none" strike="noStrike">
                    <a:solidFill>
                      <a:srgbClr val="000000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konsisten tinggi </a:t>
                </a:r>
                <a:r>
                  <a:rPr b="1" lang="en-US" sz="1749" u="none" strike="noStrike">
                    <a:solidFill>
                      <a:srgbClr val="000000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(55%-58%) </a:t>
                </a:r>
                <a:r>
                  <a:rPr lang="en-US" sz="1749" u="none" strike="noStrike">
                    <a:solidFill>
                      <a:srgbClr val="000000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yang menunjukkan </a:t>
                </a:r>
                <a:r>
                  <a:rPr b="1" lang="en-US" sz="1749" u="none" strike="noStrike">
                    <a:solidFill>
                      <a:srgbClr val="000000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masalah pada operasional struktural, bukan anomali musiman.</a:t>
                </a:r>
                <a:endParaRPr/>
              </a:p>
              <a:p>
                <a:pPr indent="0" lvl="0" marL="0" marR="0" rtl="0" algn="ctr">
                  <a:lnSpc>
                    <a:spcPct val="10703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749" u="none" strike="noStrike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endParaRPr>
              </a:p>
            </p:txBody>
          </p:sp>
        </p:grpSp>
        <p:grpSp>
          <p:nvGrpSpPr>
            <p:cNvPr id="121" name="Google Shape;121;p2"/>
            <p:cNvGrpSpPr/>
            <p:nvPr/>
          </p:nvGrpSpPr>
          <p:grpSpPr>
            <a:xfrm>
              <a:off x="10781533" y="4215763"/>
              <a:ext cx="726063" cy="767357"/>
              <a:chOff x="0" y="0"/>
              <a:chExt cx="812800" cy="859026"/>
            </a:xfrm>
          </p:grpSpPr>
          <p:sp>
            <p:nvSpPr>
              <p:cNvPr id="122" name="Google Shape;122;p2"/>
              <p:cNvSpPr/>
              <p:nvPr/>
            </p:nvSpPr>
            <p:spPr>
              <a:xfrm>
                <a:off x="0" y="0"/>
                <a:ext cx="812800" cy="859026"/>
              </a:xfrm>
              <a:custGeom>
                <a:rect b="b" l="l" r="r" t="t"/>
                <a:pathLst>
                  <a:path extrusionOk="0" h="859026" w="812800">
                    <a:moveTo>
                      <a:pt x="406400" y="0"/>
                    </a:moveTo>
                    <a:cubicBezTo>
                      <a:pt x="181951" y="0"/>
                      <a:pt x="0" y="192300"/>
                      <a:pt x="0" y="429513"/>
                    </a:cubicBezTo>
                    <a:cubicBezTo>
                      <a:pt x="0" y="666727"/>
                      <a:pt x="181951" y="859026"/>
                      <a:pt x="406400" y="859026"/>
                    </a:cubicBezTo>
                    <a:cubicBezTo>
                      <a:pt x="630849" y="859026"/>
                      <a:pt x="812800" y="666727"/>
                      <a:pt x="812800" y="429513"/>
                    </a:cubicBezTo>
                    <a:cubicBezTo>
                      <a:pt x="812800" y="192300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23A3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2"/>
              <p:cNvSpPr txBox="1"/>
              <p:nvPr/>
            </p:nvSpPr>
            <p:spPr>
              <a:xfrm>
                <a:off x="76200" y="32909"/>
                <a:ext cx="660400" cy="7455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2001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949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/>
              </a:p>
            </p:txBody>
          </p:sp>
        </p:grpSp>
        <p:grpSp>
          <p:nvGrpSpPr>
            <p:cNvPr id="124" name="Google Shape;124;p2"/>
            <p:cNvGrpSpPr/>
            <p:nvPr/>
          </p:nvGrpSpPr>
          <p:grpSpPr>
            <a:xfrm>
              <a:off x="15292196" y="4322443"/>
              <a:ext cx="726063" cy="767357"/>
              <a:chOff x="0" y="0"/>
              <a:chExt cx="812800" cy="859026"/>
            </a:xfrm>
          </p:grpSpPr>
          <p:sp>
            <p:nvSpPr>
              <p:cNvPr id="125" name="Google Shape;125;p2"/>
              <p:cNvSpPr/>
              <p:nvPr/>
            </p:nvSpPr>
            <p:spPr>
              <a:xfrm>
                <a:off x="0" y="0"/>
                <a:ext cx="812800" cy="859026"/>
              </a:xfrm>
              <a:custGeom>
                <a:rect b="b" l="l" r="r" t="t"/>
                <a:pathLst>
                  <a:path extrusionOk="0" h="859026" w="812800">
                    <a:moveTo>
                      <a:pt x="406400" y="0"/>
                    </a:moveTo>
                    <a:cubicBezTo>
                      <a:pt x="181951" y="0"/>
                      <a:pt x="0" y="192300"/>
                      <a:pt x="0" y="429513"/>
                    </a:cubicBezTo>
                    <a:cubicBezTo>
                      <a:pt x="0" y="666727"/>
                      <a:pt x="181951" y="859026"/>
                      <a:pt x="406400" y="859026"/>
                    </a:cubicBezTo>
                    <a:cubicBezTo>
                      <a:pt x="630849" y="859026"/>
                      <a:pt x="812800" y="666727"/>
                      <a:pt x="812800" y="429513"/>
                    </a:cubicBezTo>
                    <a:cubicBezTo>
                      <a:pt x="812800" y="192300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274A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2"/>
              <p:cNvSpPr txBox="1"/>
              <p:nvPr/>
            </p:nvSpPr>
            <p:spPr>
              <a:xfrm>
                <a:off x="76200" y="32909"/>
                <a:ext cx="660400" cy="7455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2001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949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  <a:endParaRPr/>
              </a:p>
            </p:txBody>
          </p:sp>
        </p:grpSp>
        <p:sp>
          <p:nvSpPr>
            <p:cNvPr id="127" name="Google Shape;127;p2"/>
            <p:cNvSpPr txBox="1"/>
            <p:nvPr/>
          </p:nvSpPr>
          <p:spPr>
            <a:xfrm>
              <a:off x="9736932" y="3441337"/>
              <a:ext cx="2680795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4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Rating Turun dan </a:t>
              </a:r>
              <a:r>
                <a:rPr b="1" lang="en-US" sz="1549" u="none" strike="noStrike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Tingkat Retur Naik</a:t>
              </a:r>
              <a:endParaRPr/>
            </a:p>
          </p:txBody>
        </p:sp>
        <p:sp>
          <p:nvSpPr>
            <p:cNvPr id="128" name="Google Shape;128;p2"/>
            <p:cNvSpPr txBox="1"/>
            <p:nvPr/>
          </p:nvSpPr>
          <p:spPr>
            <a:xfrm>
              <a:off x="14426767" y="5129356"/>
              <a:ext cx="2515592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49" u="none" strike="noStrike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Pendapatan Berisiko</a:t>
              </a:r>
              <a:endParaRPr/>
            </a:p>
          </p:txBody>
        </p:sp>
        <p:grpSp>
          <p:nvGrpSpPr>
            <p:cNvPr id="129" name="Google Shape;129;p2"/>
            <p:cNvGrpSpPr/>
            <p:nvPr/>
          </p:nvGrpSpPr>
          <p:grpSpPr>
            <a:xfrm>
              <a:off x="13081878" y="0"/>
              <a:ext cx="5141243" cy="3732690"/>
              <a:chOff x="0" y="0"/>
              <a:chExt cx="1015554" cy="737321"/>
            </a:xfrm>
          </p:grpSpPr>
          <p:sp>
            <p:nvSpPr>
              <p:cNvPr id="130" name="Google Shape;130;p2"/>
              <p:cNvSpPr/>
              <p:nvPr/>
            </p:nvSpPr>
            <p:spPr>
              <a:xfrm>
                <a:off x="0" y="0"/>
                <a:ext cx="1015554" cy="737321"/>
              </a:xfrm>
              <a:custGeom>
                <a:rect b="b" l="l" r="r" t="t"/>
                <a:pathLst>
                  <a:path extrusionOk="0" h="737321" w="1015554">
                    <a:moveTo>
                      <a:pt x="100390" y="0"/>
                    </a:moveTo>
                    <a:lnTo>
                      <a:pt x="915164" y="0"/>
                    </a:lnTo>
                    <a:cubicBezTo>
                      <a:pt x="970608" y="0"/>
                      <a:pt x="1015554" y="44946"/>
                      <a:pt x="1015554" y="100390"/>
                    </a:cubicBezTo>
                    <a:lnTo>
                      <a:pt x="1015554" y="636932"/>
                    </a:lnTo>
                    <a:cubicBezTo>
                      <a:pt x="1015554" y="692375"/>
                      <a:pt x="970608" y="737321"/>
                      <a:pt x="915164" y="737321"/>
                    </a:cubicBezTo>
                    <a:lnTo>
                      <a:pt x="100390" y="737321"/>
                    </a:lnTo>
                    <a:cubicBezTo>
                      <a:pt x="44946" y="737321"/>
                      <a:pt x="0" y="692375"/>
                      <a:pt x="0" y="636932"/>
                    </a:cubicBezTo>
                    <a:lnTo>
                      <a:pt x="0" y="100390"/>
                    </a:lnTo>
                    <a:cubicBezTo>
                      <a:pt x="0" y="44946"/>
                      <a:pt x="44946" y="0"/>
                      <a:pt x="100390" y="0"/>
                    </a:cubicBezTo>
                    <a:close/>
                  </a:path>
                </a:pathLst>
              </a:custGeom>
              <a:solidFill>
                <a:srgbClr val="D8E1E9"/>
              </a:solidFill>
              <a:ln cap="rnd" cmpd="sng" w="38100">
                <a:solidFill>
                  <a:srgbClr val="5F79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1;p2"/>
              <p:cNvSpPr txBox="1"/>
              <p:nvPr/>
            </p:nvSpPr>
            <p:spPr>
              <a:xfrm>
                <a:off x="0" y="19050"/>
                <a:ext cx="1015554" cy="7182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0703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749" u="none" strike="noStrike">
                    <a:solidFill>
                      <a:srgbClr val="000000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Keterlambatan ini menurunkan rating</a:t>
                </a:r>
                <a:r>
                  <a:rPr lang="en-US" sz="1749" u="none" strike="noStrike">
                    <a:solidFill>
                      <a:srgbClr val="000000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pelanggan, dan berkaitan erat dengan peningkatan retur — yang berarti</a:t>
                </a:r>
                <a:r>
                  <a:rPr b="1" lang="en-US" sz="1749" u="none" strike="noStrike">
                    <a:solidFill>
                      <a:srgbClr val="D64545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kebocoran pendapatan</a:t>
                </a:r>
                <a:r>
                  <a:rPr lang="en-US" sz="1749" u="none" strike="noStrike">
                    <a:solidFill>
                      <a:srgbClr val="000000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hingga </a:t>
                </a:r>
                <a:r>
                  <a:rPr b="1" lang="en-US" sz="1749" u="none" strike="noStrike">
                    <a:solidFill>
                      <a:srgbClr val="000000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$1,17M</a:t>
                </a:r>
                <a:r>
                  <a:rPr lang="en-US" sz="1749" u="none" strike="noStrike">
                    <a:solidFill>
                      <a:srgbClr val="000000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dari nilai pesanan yang diretur.</a:t>
                </a:r>
                <a:endParaRPr/>
              </a:p>
              <a:p>
                <a:pPr indent="0" lvl="0" marL="0" marR="0" rtl="0" algn="ctr">
                  <a:lnSpc>
                    <a:spcPct val="10703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749" u="none" strike="noStrike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endParaRPr>
              </a:p>
            </p:txBody>
          </p:sp>
        </p:grpSp>
        <p:grpSp>
          <p:nvGrpSpPr>
            <p:cNvPr id="132" name="Google Shape;132;p2"/>
            <p:cNvGrpSpPr/>
            <p:nvPr/>
          </p:nvGrpSpPr>
          <p:grpSpPr>
            <a:xfrm>
              <a:off x="17952018" y="5463042"/>
              <a:ext cx="5460319" cy="3427890"/>
              <a:chOff x="0" y="0"/>
              <a:chExt cx="1078582" cy="677114"/>
            </a:xfrm>
          </p:grpSpPr>
          <p:sp>
            <p:nvSpPr>
              <p:cNvPr id="133" name="Google Shape;133;p2"/>
              <p:cNvSpPr/>
              <p:nvPr/>
            </p:nvSpPr>
            <p:spPr>
              <a:xfrm>
                <a:off x="0" y="0"/>
                <a:ext cx="1078582" cy="677114"/>
              </a:xfrm>
              <a:custGeom>
                <a:rect b="b" l="l" r="r" t="t"/>
                <a:pathLst>
                  <a:path extrusionOk="0" h="677114" w="1078582">
                    <a:moveTo>
                      <a:pt x="94523" y="0"/>
                    </a:moveTo>
                    <a:lnTo>
                      <a:pt x="984058" y="0"/>
                    </a:lnTo>
                    <a:cubicBezTo>
                      <a:pt x="1036262" y="0"/>
                      <a:pt x="1078582" y="42320"/>
                      <a:pt x="1078582" y="94523"/>
                    </a:cubicBezTo>
                    <a:lnTo>
                      <a:pt x="1078582" y="582591"/>
                    </a:lnTo>
                    <a:cubicBezTo>
                      <a:pt x="1078582" y="634794"/>
                      <a:pt x="1036262" y="677114"/>
                      <a:pt x="984058" y="677114"/>
                    </a:cubicBezTo>
                    <a:lnTo>
                      <a:pt x="94523" y="677114"/>
                    </a:lnTo>
                    <a:cubicBezTo>
                      <a:pt x="42320" y="677114"/>
                      <a:pt x="0" y="634794"/>
                      <a:pt x="0" y="582591"/>
                    </a:cubicBezTo>
                    <a:lnTo>
                      <a:pt x="0" y="94523"/>
                    </a:lnTo>
                    <a:cubicBezTo>
                      <a:pt x="0" y="42320"/>
                      <a:pt x="42320" y="0"/>
                      <a:pt x="94523" y="0"/>
                    </a:cubicBezTo>
                    <a:close/>
                  </a:path>
                </a:pathLst>
              </a:custGeom>
              <a:solidFill>
                <a:srgbClr val="D8E1E9"/>
              </a:solidFill>
              <a:ln cap="rnd" cmpd="sng" w="38100">
                <a:solidFill>
                  <a:srgbClr val="5F799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2"/>
              <p:cNvSpPr txBox="1"/>
              <p:nvPr/>
            </p:nvSpPr>
            <p:spPr>
              <a:xfrm>
                <a:off x="0" y="19050"/>
                <a:ext cx="1078582" cy="6580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703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749" u="none" strike="noStrike">
                    <a:solidFill>
                      <a:srgbClr val="000000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Perusahaan perlu mengetahui</a:t>
                </a:r>
                <a:r>
                  <a:rPr b="1" lang="en-US" sz="1749" u="none" strike="noStrike">
                    <a:solidFill>
                      <a:srgbClr val="000000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root cause</a:t>
                </a:r>
                <a:r>
                  <a:rPr lang="en-US" sz="1749" u="none" strike="noStrike">
                    <a:solidFill>
                      <a:srgbClr val="000000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apa yang paling banyak menyumbang keterlambatan, agar dapat </a:t>
                </a:r>
                <a:r>
                  <a:rPr b="1" lang="en-US" sz="1749" u="none" strike="noStrike">
                    <a:solidFill>
                      <a:srgbClr val="000000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memprioritaskan perbaikan operasional dan menekan risiko kehilangan pendapatan dari retur.</a:t>
                </a:r>
                <a:endParaRPr/>
              </a:p>
            </p:txBody>
          </p:sp>
        </p:grpSp>
        <p:grpSp>
          <p:nvGrpSpPr>
            <p:cNvPr id="135" name="Google Shape;135;p2"/>
            <p:cNvGrpSpPr/>
            <p:nvPr/>
          </p:nvGrpSpPr>
          <p:grpSpPr>
            <a:xfrm>
              <a:off x="2266442" y="4904566"/>
              <a:ext cx="731520" cy="716280"/>
              <a:chOff x="0" y="-38100"/>
              <a:chExt cx="731520" cy="716280"/>
            </a:xfrm>
          </p:grpSpPr>
          <p:sp>
            <p:nvSpPr>
              <p:cNvPr id="136" name="Google Shape;136;p2"/>
              <p:cNvSpPr/>
              <p:nvPr/>
            </p:nvSpPr>
            <p:spPr>
              <a:xfrm>
                <a:off x="0" y="0"/>
                <a:ext cx="731520" cy="678180"/>
              </a:xfrm>
              <a:custGeom>
                <a:rect b="b" l="l" r="r" t="t"/>
                <a:pathLst>
                  <a:path extrusionOk="0" h="678180" w="731520">
                    <a:moveTo>
                      <a:pt x="0" y="0"/>
                    </a:moveTo>
                    <a:lnTo>
                      <a:pt x="731520" y="0"/>
                    </a:lnTo>
                    <a:lnTo>
                      <a:pt x="731520" y="678180"/>
                    </a:lnTo>
                    <a:lnTo>
                      <a:pt x="0" y="678180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0" l="-68946" r="-68946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p2"/>
              <p:cNvSpPr txBox="1"/>
              <p:nvPr/>
            </p:nvSpPr>
            <p:spPr>
              <a:xfrm>
                <a:off x="0" y="-38100"/>
                <a:ext cx="731520" cy="716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1991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5B7387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↓</a:t>
                </a:r>
                <a:endParaRPr/>
              </a:p>
            </p:txBody>
          </p:sp>
        </p:grpSp>
        <p:grpSp>
          <p:nvGrpSpPr>
            <p:cNvPr id="138" name="Google Shape;138;p2"/>
            <p:cNvGrpSpPr/>
            <p:nvPr/>
          </p:nvGrpSpPr>
          <p:grpSpPr>
            <a:xfrm>
              <a:off x="10781533" y="4885503"/>
              <a:ext cx="731520" cy="716280"/>
              <a:chOff x="0" y="-38100"/>
              <a:chExt cx="731520" cy="716280"/>
            </a:xfrm>
          </p:grpSpPr>
          <p:sp>
            <p:nvSpPr>
              <p:cNvPr id="139" name="Google Shape;139;p2"/>
              <p:cNvSpPr/>
              <p:nvPr/>
            </p:nvSpPr>
            <p:spPr>
              <a:xfrm>
                <a:off x="0" y="0"/>
                <a:ext cx="731520" cy="678180"/>
              </a:xfrm>
              <a:custGeom>
                <a:rect b="b" l="l" r="r" t="t"/>
                <a:pathLst>
                  <a:path extrusionOk="0" h="678180" w="731520">
                    <a:moveTo>
                      <a:pt x="0" y="0"/>
                    </a:moveTo>
                    <a:lnTo>
                      <a:pt x="731520" y="0"/>
                    </a:lnTo>
                    <a:lnTo>
                      <a:pt x="731520" y="678180"/>
                    </a:lnTo>
                    <a:lnTo>
                      <a:pt x="0" y="678180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0" l="-68946" r="-68946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" name="Google Shape;140;p2"/>
              <p:cNvSpPr txBox="1"/>
              <p:nvPr/>
            </p:nvSpPr>
            <p:spPr>
              <a:xfrm>
                <a:off x="0" y="-38100"/>
                <a:ext cx="731520" cy="716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1991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5B7387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↓</a:t>
                </a:r>
                <a:endParaRPr/>
              </a:p>
            </p:txBody>
          </p:sp>
        </p:grpSp>
        <p:grpSp>
          <p:nvGrpSpPr>
            <p:cNvPr id="141" name="Google Shape;141;p2"/>
            <p:cNvGrpSpPr/>
            <p:nvPr/>
          </p:nvGrpSpPr>
          <p:grpSpPr>
            <a:xfrm rot="10800000">
              <a:off x="6259709" y="3644263"/>
              <a:ext cx="731520" cy="716280"/>
              <a:chOff x="0" y="-38100"/>
              <a:chExt cx="731520" cy="716280"/>
            </a:xfrm>
          </p:grpSpPr>
          <p:sp>
            <p:nvSpPr>
              <p:cNvPr id="142" name="Google Shape;142;p2"/>
              <p:cNvSpPr/>
              <p:nvPr/>
            </p:nvSpPr>
            <p:spPr>
              <a:xfrm>
                <a:off x="0" y="0"/>
                <a:ext cx="731520" cy="678180"/>
              </a:xfrm>
              <a:custGeom>
                <a:rect b="b" l="l" r="r" t="t"/>
                <a:pathLst>
                  <a:path extrusionOk="0" h="678180" w="731520">
                    <a:moveTo>
                      <a:pt x="0" y="0"/>
                    </a:moveTo>
                    <a:lnTo>
                      <a:pt x="731520" y="0"/>
                    </a:lnTo>
                    <a:lnTo>
                      <a:pt x="731520" y="678180"/>
                    </a:lnTo>
                    <a:lnTo>
                      <a:pt x="0" y="678180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0" l="-68946" r="-68946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2"/>
              <p:cNvSpPr txBox="1"/>
              <p:nvPr/>
            </p:nvSpPr>
            <p:spPr>
              <a:xfrm>
                <a:off x="0" y="-38100"/>
                <a:ext cx="731520" cy="716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1991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5B7387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↓</a:t>
                </a:r>
                <a:endParaRPr/>
              </a:p>
            </p:txBody>
          </p:sp>
        </p:grpSp>
        <p:grpSp>
          <p:nvGrpSpPr>
            <p:cNvPr id="144" name="Google Shape;144;p2"/>
            <p:cNvGrpSpPr/>
            <p:nvPr/>
          </p:nvGrpSpPr>
          <p:grpSpPr>
            <a:xfrm rot="10800000">
              <a:off x="15286739" y="3732690"/>
              <a:ext cx="731520" cy="716280"/>
              <a:chOff x="0" y="-38100"/>
              <a:chExt cx="731520" cy="716280"/>
            </a:xfrm>
          </p:grpSpPr>
          <p:sp>
            <p:nvSpPr>
              <p:cNvPr id="145" name="Google Shape;145;p2"/>
              <p:cNvSpPr/>
              <p:nvPr/>
            </p:nvSpPr>
            <p:spPr>
              <a:xfrm>
                <a:off x="0" y="0"/>
                <a:ext cx="731520" cy="678180"/>
              </a:xfrm>
              <a:custGeom>
                <a:rect b="b" l="l" r="r" t="t"/>
                <a:pathLst>
                  <a:path extrusionOk="0" h="678180" w="731520">
                    <a:moveTo>
                      <a:pt x="0" y="0"/>
                    </a:moveTo>
                    <a:lnTo>
                      <a:pt x="731520" y="0"/>
                    </a:lnTo>
                    <a:lnTo>
                      <a:pt x="731520" y="678180"/>
                    </a:lnTo>
                    <a:lnTo>
                      <a:pt x="0" y="678180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0" l="-68946" r="-68946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2"/>
              <p:cNvSpPr txBox="1"/>
              <p:nvPr/>
            </p:nvSpPr>
            <p:spPr>
              <a:xfrm>
                <a:off x="0" y="-38100"/>
                <a:ext cx="731520" cy="716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1991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5B7387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↓</a:t>
                </a:r>
                <a:endParaRPr/>
              </a:p>
            </p:txBody>
          </p:sp>
        </p:grpSp>
      </p:grpSp>
      <p:grpSp>
        <p:nvGrpSpPr>
          <p:cNvPr id="147" name="Google Shape;147;p2"/>
          <p:cNvGrpSpPr/>
          <p:nvPr/>
        </p:nvGrpSpPr>
        <p:grpSpPr>
          <a:xfrm>
            <a:off x="648608" y="458628"/>
            <a:ext cx="16184880" cy="1125856"/>
            <a:chOff x="0" y="-19050"/>
            <a:chExt cx="21579840" cy="1501140"/>
          </a:xfrm>
        </p:grpSpPr>
        <p:sp>
          <p:nvSpPr>
            <p:cNvPr id="148" name="Google Shape;148;p2"/>
            <p:cNvSpPr/>
            <p:nvPr/>
          </p:nvSpPr>
          <p:spPr>
            <a:xfrm>
              <a:off x="0" y="0"/>
              <a:ext cx="21579839" cy="1482090"/>
            </a:xfrm>
            <a:custGeom>
              <a:rect b="b" l="l" r="r" t="t"/>
              <a:pathLst>
                <a:path extrusionOk="0" h="148209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482090"/>
                  </a:lnTo>
                  <a:lnTo>
                    <a:pt x="0" y="148209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33704" l="0" r="0" t="-23370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2"/>
            <p:cNvSpPr txBox="1"/>
            <p:nvPr/>
          </p:nvSpPr>
          <p:spPr>
            <a:xfrm>
              <a:off x="0" y="-19050"/>
              <a:ext cx="21579840" cy="15011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00">
                  <a:solidFill>
                    <a:srgbClr val="0B2545"/>
                  </a:solidFill>
                  <a:latin typeface="Cambria"/>
                  <a:ea typeface="Cambria"/>
                  <a:cs typeface="Cambria"/>
                  <a:sym typeface="Cambria"/>
                </a:rPr>
                <a:t>Problem Statement</a:t>
              </a:r>
              <a:endParaRPr/>
            </a:p>
          </p:txBody>
        </p:sp>
      </p:grpSp>
      <p:grpSp>
        <p:nvGrpSpPr>
          <p:cNvPr id="150" name="Google Shape;150;p2"/>
          <p:cNvGrpSpPr/>
          <p:nvPr/>
        </p:nvGrpSpPr>
        <p:grpSpPr>
          <a:xfrm>
            <a:off x="648608" y="190024"/>
            <a:ext cx="10972800" cy="537210"/>
            <a:chOff x="0" y="-38100"/>
            <a:chExt cx="14630400" cy="716280"/>
          </a:xfrm>
        </p:grpSpPr>
        <p:sp>
          <p:nvSpPr>
            <p:cNvPr id="151" name="Google Shape;151;p2"/>
            <p:cNvSpPr/>
            <p:nvPr/>
          </p:nvSpPr>
          <p:spPr>
            <a:xfrm>
              <a:off x="0" y="0"/>
              <a:ext cx="14630400" cy="678180"/>
            </a:xfrm>
            <a:custGeom>
              <a:rect b="b" l="l" r="r" t="t"/>
              <a:pathLst>
                <a:path extrusionOk="0" h="6781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78180"/>
                  </a:lnTo>
                  <a:lnTo>
                    <a:pt x="0" y="6781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70380" l="0" r="0" t="-37038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2"/>
            <p:cNvSpPr txBox="1"/>
            <p:nvPr/>
          </p:nvSpPr>
          <p:spPr>
            <a:xfrm>
              <a:off x="0" y="-38100"/>
              <a:ext cx="14630400" cy="716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pc="300" sz="1800">
                  <a:solidFill>
                    <a:srgbClr val="1C7293"/>
                  </a:solidFill>
                  <a:latin typeface="Calibri"/>
                  <a:ea typeface="Calibri"/>
                  <a:cs typeface="Calibri"/>
                  <a:sym typeface="Calibri"/>
                </a:rPr>
                <a:t>BUSINESS UNDERSTANDING</a:t>
              </a:r>
              <a:endParaRPr/>
            </a:p>
          </p:txBody>
        </p:sp>
      </p:grpSp>
      <p:grpSp>
        <p:nvGrpSpPr>
          <p:cNvPr id="153" name="Google Shape;153;p2"/>
          <p:cNvGrpSpPr/>
          <p:nvPr/>
        </p:nvGrpSpPr>
        <p:grpSpPr>
          <a:xfrm>
            <a:off x="685800" y="9722930"/>
            <a:ext cx="10972800" cy="454342"/>
            <a:chOff x="0" y="-28575"/>
            <a:chExt cx="14630400" cy="605790"/>
          </a:xfrm>
        </p:grpSpPr>
        <p:sp>
          <p:nvSpPr>
            <p:cNvPr id="154" name="Google Shape;154;p2"/>
            <p:cNvSpPr/>
            <p:nvPr/>
          </p:nvSpPr>
          <p:spPr>
            <a:xfrm>
              <a:off x="0" y="0"/>
              <a:ext cx="14630400" cy="577215"/>
            </a:xfrm>
            <a:custGeom>
              <a:rect b="b" l="l" r="r" t="t"/>
              <a:pathLst>
                <a:path extrusionOk="0" h="577215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77215"/>
                  </a:lnTo>
                  <a:lnTo>
                    <a:pt x="0" y="57721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43876" l="0" r="0" t="-44387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2"/>
            <p:cNvSpPr txBox="1"/>
            <p:nvPr/>
          </p:nvSpPr>
          <p:spPr>
            <a:xfrm>
              <a:off x="0" y="-28575"/>
              <a:ext cx="14630400" cy="6057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5B7387"/>
                  </a:solidFill>
                  <a:latin typeface="Calibri"/>
                  <a:ea typeface="Calibri"/>
                  <a:cs typeface="Calibri"/>
                  <a:sym typeface="Calibri"/>
                </a:rPr>
                <a:t>E-Commerce Delivery Performance &amp; Revenue Risk</a:t>
              </a:r>
              <a:endParaRPr/>
            </a:p>
          </p:txBody>
        </p:sp>
      </p:grpSp>
      <p:grpSp>
        <p:nvGrpSpPr>
          <p:cNvPr id="156" name="Google Shape;156;p2"/>
          <p:cNvGrpSpPr/>
          <p:nvPr/>
        </p:nvGrpSpPr>
        <p:grpSpPr>
          <a:xfrm>
            <a:off x="6727537" y="5827486"/>
            <a:ext cx="4027022" cy="2570917"/>
            <a:chOff x="0" y="0"/>
            <a:chExt cx="1060577" cy="676966"/>
          </a:xfrm>
        </p:grpSpPr>
        <p:sp>
          <p:nvSpPr>
            <p:cNvPr id="157" name="Google Shape;157;p2"/>
            <p:cNvSpPr/>
            <p:nvPr/>
          </p:nvSpPr>
          <p:spPr>
            <a:xfrm>
              <a:off x="0" y="0"/>
              <a:ext cx="1060577" cy="676966"/>
            </a:xfrm>
            <a:custGeom>
              <a:rect b="b" l="l" r="r" t="t"/>
              <a:pathLst>
                <a:path extrusionOk="0" h="676966" w="1060577">
                  <a:moveTo>
                    <a:pt x="1060577" y="96125"/>
                  </a:moveTo>
                  <a:lnTo>
                    <a:pt x="1060577" y="580841"/>
                  </a:lnTo>
                  <a:cubicBezTo>
                    <a:pt x="1060577" y="633929"/>
                    <a:pt x="1017541" y="676966"/>
                    <a:pt x="964452" y="676966"/>
                  </a:cubicBezTo>
                  <a:lnTo>
                    <a:pt x="96125" y="676966"/>
                  </a:lnTo>
                  <a:cubicBezTo>
                    <a:pt x="43036" y="676966"/>
                    <a:pt x="0" y="633929"/>
                    <a:pt x="0" y="580841"/>
                  </a:cubicBezTo>
                  <a:lnTo>
                    <a:pt x="0" y="96125"/>
                  </a:lnTo>
                  <a:cubicBezTo>
                    <a:pt x="0" y="43036"/>
                    <a:pt x="43036" y="0"/>
                    <a:pt x="96125" y="0"/>
                  </a:cubicBezTo>
                  <a:lnTo>
                    <a:pt x="964452" y="0"/>
                  </a:lnTo>
                  <a:cubicBezTo>
                    <a:pt x="1017541" y="0"/>
                    <a:pt x="1060577" y="43036"/>
                    <a:pt x="1060577" y="96125"/>
                  </a:cubicBezTo>
                  <a:close/>
                </a:path>
              </a:pathLst>
            </a:custGeom>
            <a:solidFill>
              <a:srgbClr val="D8E1E9"/>
            </a:solidFill>
            <a:ln cap="rnd" cmpd="sng" w="38100">
              <a:solidFill>
                <a:srgbClr val="5F799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2"/>
            <p:cNvSpPr txBox="1"/>
            <p:nvPr/>
          </p:nvSpPr>
          <p:spPr>
            <a:xfrm>
              <a:off x="0" y="19050"/>
              <a:ext cx="1060577" cy="6579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703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4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Penurunan rating pelanggan akibat keterlambatan </a:t>
              </a:r>
              <a:r>
                <a:rPr b="1" lang="en-US" sz="174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memicu  request return. </a:t>
              </a:r>
              <a:r>
                <a:rPr lang="en-US" sz="174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Sebanyak </a:t>
              </a:r>
              <a:r>
                <a:rPr b="1" lang="en-US" sz="174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23,34% request return, </a:t>
              </a:r>
              <a:r>
                <a:rPr lang="en-US" sz="174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angka ini</a:t>
              </a:r>
              <a:r>
                <a:rPr b="1" lang="en-US" sz="174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 2,5x lipat </a:t>
              </a:r>
              <a:r>
                <a:rPr lang="en-US" sz="174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lebih banyak dibanding dengan barang yang dikirim tepat waktu yang hanya</a:t>
              </a:r>
              <a:r>
                <a:rPr b="1" lang="en-US" sz="174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 9,39%</a:t>
              </a:r>
              <a:endParaRPr/>
            </a:p>
          </p:txBody>
        </p:sp>
      </p:grpSp>
      <p:grpSp>
        <p:nvGrpSpPr>
          <p:cNvPr id="159" name="Google Shape;159;p2"/>
          <p:cNvGrpSpPr/>
          <p:nvPr/>
        </p:nvGrpSpPr>
        <p:grpSpPr>
          <a:xfrm>
            <a:off x="15476843" y="4743334"/>
            <a:ext cx="544547" cy="575517"/>
            <a:chOff x="0" y="0"/>
            <a:chExt cx="812800" cy="859026"/>
          </a:xfrm>
        </p:grpSpPr>
        <p:sp>
          <p:nvSpPr>
            <p:cNvPr id="160" name="Google Shape;160;p2"/>
            <p:cNvSpPr/>
            <p:nvPr/>
          </p:nvSpPr>
          <p:spPr>
            <a:xfrm>
              <a:off x="0" y="0"/>
              <a:ext cx="812800" cy="859026"/>
            </a:xfrm>
            <a:custGeom>
              <a:rect b="b" l="l" r="r" t="t"/>
              <a:pathLst>
                <a:path extrusionOk="0" h="859026" w="812800">
                  <a:moveTo>
                    <a:pt x="406400" y="0"/>
                  </a:moveTo>
                  <a:cubicBezTo>
                    <a:pt x="181951" y="0"/>
                    <a:pt x="0" y="192300"/>
                    <a:pt x="0" y="429513"/>
                  </a:cubicBezTo>
                  <a:cubicBezTo>
                    <a:pt x="0" y="666727"/>
                    <a:pt x="181951" y="859026"/>
                    <a:pt x="406400" y="859026"/>
                  </a:cubicBezTo>
                  <a:cubicBezTo>
                    <a:pt x="630849" y="859026"/>
                    <a:pt x="812800" y="666727"/>
                    <a:pt x="812800" y="429513"/>
                  </a:cubicBezTo>
                  <a:cubicBezTo>
                    <a:pt x="812800" y="19230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2"/>
            <p:cNvSpPr txBox="1"/>
            <p:nvPr/>
          </p:nvSpPr>
          <p:spPr>
            <a:xfrm>
              <a:off x="76200" y="32909"/>
              <a:ext cx="660400" cy="7455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49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</p:grpSp>
      <p:sp>
        <p:nvSpPr>
          <p:cNvPr id="162" name="Google Shape;162;p2"/>
          <p:cNvSpPr txBox="1"/>
          <p:nvPr/>
        </p:nvSpPr>
        <p:spPr>
          <a:xfrm>
            <a:off x="14667093" y="4462730"/>
            <a:ext cx="188669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4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Fokus Solusi</a:t>
            </a:r>
            <a:endParaRPr/>
          </a:p>
        </p:txBody>
      </p:sp>
      <p:grpSp>
        <p:nvGrpSpPr>
          <p:cNvPr id="163" name="Google Shape;163;p2"/>
          <p:cNvGrpSpPr/>
          <p:nvPr/>
        </p:nvGrpSpPr>
        <p:grpSpPr>
          <a:xfrm>
            <a:off x="15476843" y="5290276"/>
            <a:ext cx="548640" cy="537210"/>
            <a:chOff x="0" y="-38100"/>
            <a:chExt cx="731520" cy="716280"/>
          </a:xfrm>
        </p:grpSpPr>
        <p:sp>
          <p:nvSpPr>
            <p:cNvPr id="164" name="Google Shape;164;p2"/>
            <p:cNvSpPr/>
            <p:nvPr/>
          </p:nvSpPr>
          <p:spPr>
            <a:xfrm>
              <a:off x="0" y="0"/>
              <a:ext cx="731520" cy="678180"/>
            </a:xfrm>
            <a:custGeom>
              <a:rect b="b" l="l" r="r" t="t"/>
              <a:pathLst>
                <a:path extrusionOk="0" h="67818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678180"/>
                  </a:lnTo>
                  <a:lnTo>
                    <a:pt x="0" y="6781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68946" r="-68946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2"/>
            <p:cNvSpPr txBox="1"/>
            <p:nvPr/>
          </p:nvSpPr>
          <p:spPr>
            <a:xfrm>
              <a:off x="0" y="-38100"/>
              <a:ext cx="731520" cy="716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5B7387"/>
                  </a:solidFill>
                  <a:latin typeface="Calibri"/>
                  <a:ea typeface="Calibri"/>
                  <a:cs typeface="Calibri"/>
                  <a:sym typeface="Calibri"/>
                </a:rPr>
                <a:t>↓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545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"/>
          <p:cNvSpPr/>
          <p:nvPr/>
        </p:nvSpPr>
        <p:spPr>
          <a:xfrm>
            <a:off x="822960" y="685800"/>
            <a:ext cx="6858000" cy="480060"/>
          </a:xfrm>
          <a:custGeom>
            <a:rect b="b" l="l" r="r" t="t"/>
            <a:pathLst>
              <a:path extrusionOk="0" h="640080" w="9144000">
                <a:moveTo>
                  <a:pt x="0" y="0"/>
                </a:moveTo>
                <a:lnTo>
                  <a:pt x="9144000" y="0"/>
                </a:lnTo>
                <a:lnTo>
                  <a:pt x="9144000" y="640080"/>
                </a:lnTo>
                <a:lnTo>
                  <a:pt x="0" y="64008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28161" l="0" r="0" t="-22816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1" name="Google Shape;171;p3"/>
          <p:cNvGrpSpPr/>
          <p:nvPr/>
        </p:nvGrpSpPr>
        <p:grpSpPr>
          <a:xfrm>
            <a:off x="822960" y="628650"/>
            <a:ext cx="6858000" cy="537210"/>
            <a:chOff x="0" y="-38100"/>
            <a:chExt cx="9144000" cy="716280"/>
          </a:xfrm>
        </p:grpSpPr>
        <p:sp>
          <p:nvSpPr>
            <p:cNvPr id="172" name="Google Shape;172;p3"/>
            <p:cNvSpPr/>
            <p:nvPr/>
          </p:nvSpPr>
          <p:spPr>
            <a:xfrm>
              <a:off x="0" y="0"/>
              <a:ext cx="9144000" cy="678180"/>
            </a:xfrm>
            <a:custGeom>
              <a:rect b="b" l="l" r="r" t="t"/>
              <a:pathLst>
                <a:path extrusionOk="0" h="6781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78180"/>
                  </a:lnTo>
                  <a:lnTo>
                    <a:pt x="0" y="67818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12715" l="0" r="0" t="-21271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3"/>
            <p:cNvSpPr txBox="1"/>
            <p:nvPr/>
          </p:nvSpPr>
          <p:spPr>
            <a:xfrm>
              <a:off x="0" y="-38100"/>
              <a:ext cx="9144000" cy="716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pc="300" sz="1800">
                  <a:solidFill>
                    <a:srgbClr val="1C7293"/>
                  </a:solidFill>
                  <a:latin typeface="Calibri"/>
                  <a:ea typeface="Calibri"/>
                  <a:cs typeface="Calibri"/>
                  <a:sym typeface="Calibri"/>
                </a:rPr>
                <a:t>AGENDA</a:t>
              </a:r>
              <a:endParaRPr/>
            </a:p>
          </p:txBody>
        </p:sp>
      </p:grpSp>
      <p:sp>
        <p:nvSpPr>
          <p:cNvPr id="174" name="Google Shape;174;p3"/>
          <p:cNvSpPr/>
          <p:nvPr/>
        </p:nvSpPr>
        <p:spPr>
          <a:xfrm>
            <a:off x="777248" y="884250"/>
            <a:ext cx="13716000" cy="3081433"/>
          </a:xfrm>
          <a:custGeom>
            <a:rect b="b" l="l" r="r" t="t"/>
            <a:pathLst>
              <a:path extrusionOk="0" h="4108577" w="18288000">
                <a:moveTo>
                  <a:pt x="0" y="0"/>
                </a:moveTo>
                <a:lnTo>
                  <a:pt x="18288000" y="0"/>
                </a:lnTo>
                <a:lnTo>
                  <a:pt x="18288000" y="4108577"/>
                </a:lnTo>
                <a:lnTo>
                  <a:pt x="0" y="4108577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36670" l="0" r="0" t="-3667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5" name="Google Shape;175;p3"/>
          <p:cNvGrpSpPr/>
          <p:nvPr/>
        </p:nvGrpSpPr>
        <p:grpSpPr>
          <a:xfrm>
            <a:off x="822960" y="685812"/>
            <a:ext cx="13716000" cy="4186187"/>
            <a:chOff x="0" y="-1463458"/>
            <a:chExt cx="18288000" cy="5581582"/>
          </a:xfrm>
        </p:grpSpPr>
        <p:sp>
          <p:nvSpPr>
            <p:cNvPr id="176" name="Google Shape;176;p3"/>
            <p:cNvSpPr/>
            <p:nvPr/>
          </p:nvSpPr>
          <p:spPr>
            <a:xfrm>
              <a:off x="0" y="0"/>
              <a:ext cx="18288000" cy="4118124"/>
            </a:xfrm>
            <a:custGeom>
              <a:rect b="b" l="l" r="r" t="t"/>
              <a:pathLst>
                <a:path extrusionOk="0" h="4118124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118124"/>
                  </a:lnTo>
                  <a:lnTo>
                    <a:pt x="0" y="4118124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36529" l="0" r="0" t="-3652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3"/>
            <p:cNvSpPr txBox="1"/>
            <p:nvPr/>
          </p:nvSpPr>
          <p:spPr>
            <a:xfrm>
              <a:off x="0" y="-1463458"/>
              <a:ext cx="18288000" cy="412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20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4 </a:t>
              </a:r>
              <a:r>
                <a:rPr b="1" lang="en-US" sz="420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Pertanyaan Bisnis Utama</a:t>
              </a:r>
              <a:endParaRPr/>
            </a:p>
          </p:txBody>
        </p:sp>
      </p:grpSp>
      <p:sp>
        <p:nvSpPr>
          <p:cNvPr id="178" name="Google Shape;178;p3"/>
          <p:cNvSpPr/>
          <p:nvPr/>
        </p:nvSpPr>
        <p:spPr>
          <a:xfrm>
            <a:off x="777247" y="3286760"/>
            <a:ext cx="8161021" cy="2016252"/>
          </a:xfrm>
          <a:custGeom>
            <a:rect b="b" l="l" r="r" t="t"/>
            <a:pathLst>
              <a:path extrusionOk="0" h="2688336" w="10881361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10735056" y="0"/>
                </a:lnTo>
                <a:cubicBezTo>
                  <a:pt x="10815828" y="0"/>
                  <a:pt x="10881361" y="65532"/>
                  <a:pt x="10881361" y="146304"/>
                </a:cubicBezTo>
                <a:lnTo>
                  <a:pt x="10881361" y="2542032"/>
                </a:lnTo>
                <a:cubicBezTo>
                  <a:pt x="10881361" y="2622804"/>
                  <a:pt x="10815828" y="2688336"/>
                  <a:pt x="10735056" y="2688336"/>
                </a:cubicBezTo>
                <a:lnTo>
                  <a:pt x="146304" y="2688336"/>
                </a:lnTo>
                <a:cubicBezTo>
                  <a:pt x="65532" y="2688336"/>
                  <a:pt x="0" y="2622804"/>
                  <a:pt x="0" y="2542032"/>
                </a:cubicBezTo>
                <a:close/>
              </a:path>
            </a:pathLst>
          </a:custGeom>
          <a:solidFill>
            <a:srgbClr val="13355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3"/>
          <p:cNvSpPr/>
          <p:nvPr/>
        </p:nvSpPr>
        <p:spPr>
          <a:xfrm>
            <a:off x="1120147" y="3588512"/>
            <a:ext cx="754380" cy="754380"/>
          </a:xfrm>
          <a:custGeom>
            <a:rect b="b" l="l" r="r" t="t"/>
            <a:pathLst>
              <a:path extrusionOk="0" h="1005840" w="1005840">
                <a:moveTo>
                  <a:pt x="0" y="502920"/>
                </a:moveTo>
                <a:cubicBezTo>
                  <a:pt x="0" y="225171"/>
                  <a:pt x="225171" y="0"/>
                  <a:pt x="502920" y="0"/>
                </a:cubicBezTo>
                <a:cubicBezTo>
                  <a:pt x="780669" y="0"/>
                  <a:pt x="1005840" y="225171"/>
                  <a:pt x="1005840" y="502920"/>
                </a:cubicBezTo>
                <a:cubicBezTo>
                  <a:pt x="1005840" y="780669"/>
                  <a:pt x="780669" y="1005840"/>
                  <a:pt x="502920" y="1005840"/>
                </a:cubicBezTo>
                <a:cubicBezTo>
                  <a:pt x="225171" y="1005840"/>
                  <a:pt x="0" y="780669"/>
                  <a:pt x="0" y="502920"/>
                </a:cubicBezTo>
                <a:close/>
              </a:path>
            </a:pathLst>
          </a:cu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3"/>
          <p:cNvSpPr/>
          <p:nvPr/>
        </p:nvSpPr>
        <p:spPr>
          <a:xfrm>
            <a:off x="1120147" y="3588512"/>
            <a:ext cx="754380" cy="754380"/>
          </a:xfrm>
          <a:custGeom>
            <a:rect b="b" l="l" r="r" t="t"/>
            <a:pathLst>
              <a:path extrusionOk="0" h="1005840" w="1005840">
                <a:moveTo>
                  <a:pt x="0" y="0"/>
                </a:moveTo>
                <a:lnTo>
                  <a:pt x="1005840" y="0"/>
                </a:lnTo>
                <a:lnTo>
                  <a:pt x="1005840" y="1005840"/>
                </a:lnTo>
                <a:lnTo>
                  <a:pt x="0" y="100584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0" l="-78389" r="-7838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1" name="Google Shape;181;p3"/>
          <p:cNvGrpSpPr/>
          <p:nvPr/>
        </p:nvGrpSpPr>
        <p:grpSpPr>
          <a:xfrm>
            <a:off x="1120147" y="3559937"/>
            <a:ext cx="754380" cy="782955"/>
            <a:chOff x="0" y="-19050"/>
            <a:chExt cx="1005840" cy="1043940"/>
          </a:xfrm>
        </p:grpSpPr>
        <p:sp>
          <p:nvSpPr>
            <p:cNvPr id="182" name="Google Shape;182;p3"/>
            <p:cNvSpPr/>
            <p:nvPr/>
          </p:nvSpPr>
          <p:spPr>
            <a:xfrm>
              <a:off x="0" y="0"/>
              <a:ext cx="1005840" cy="1024890"/>
            </a:xfrm>
            <a:custGeom>
              <a:rect b="b" l="l" r="r" t="t"/>
              <a:pathLst>
                <a:path extrusionOk="0" h="102489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24890"/>
                  </a:lnTo>
                  <a:lnTo>
                    <a:pt x="0" y="102489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0" l="-80733" r="-80733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3"/>
            <p:cNvSpPr txBox="1"/>
            <p:nvPr/>
          </p:nvSpPr>
          <p:spPr>
            <a:xfrm>
              <a:off x="0" y="-19050"/>
              <a:ext cx="1005840" cy="10439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5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Q1</a:t>
              </a:r>
              <a:endParaRPr/>
            </a:p>
          </p:txBody>
        </p:sp>
      </p:grpSp>
      <p:sp>
        <p:nvSpPr>
          <p:cNvPr id="184" name="Google Shape;184;p3"/>
          <p:cNvSpPr/>
          <p:nvPr/>
        </p:nvSpPr>
        <p:spPr>
          <a:xfrm>
            <a:off x="2080268" y="3451352"/>
            <a:ext cx="6515100" cy="1673352"/>
          </a:xfrm>
          <a:custGeom>
            <a:rect b="b" l="l" r="r" t="t"/>
            <a:pathLst>
              <a:path extrusionOk="0" h="2231136" w="8686800">
                <a:moveTo>
                  <a:pt x="0" y="0"/>
                </a:moveTo>
                <a:lnTo>
                  <a:pt x="8686800" y="0"/>
                </a:lnTo>
                <a:lnTo>
                  <a:pt x="8686800" y="2231136"/>
                </a:lnTo>
                <a:lnTo>
                  <a:pt x="0" y="2231136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5810" l="0" r="0" t="-258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5" name="Google Shape;185;p3"/>
          <p:cNvGrpSpPr/>
          <p:nvPr/>
        </p:nvGrpSpPr>
        <p:grpSpPr>
          <a:xfrm>
            <a:off x="2080268" y="3365628"/>
            <a:ext cx="6515100" cy="1759077"/>
            <a:chOff x="0" y="-57150"/>
            <a:chExt cx="8686800" cy="2345436"/>
          </a:xfrm>
        </p:grpSpPr>
        <p:sp>
          <p:nvSpPr>
            <p:cNvPr id="186" name="Google Shape;186;p3"/>
            <p:cNvSpPr/>
            <p:nvPr/>
          </p:nvSpPr>
          <p:spPr>
            <a:xfrm>
              <a:off x="0" y="0"/>
              <a:ext cx="8686800" cy="2288286"/>
            </a:xfrm>
            <a:custGeom>
              <a:rect b="b" l="l" r="r" t="t"/>
              <a:pathLst>
                <a:path extrusionOk="0" h="2288286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2288286"/>
                  </a:lnTo>
                  <a:lnTo>
                    <a:pt x="0" y="2288286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3969" l="0" r="0" t="-2396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3"/>
            <p:cNvSpPr txBox="1"/>
            <p:nvPr/>
          </p:nvSpPr>
          <p:spPr>
            <a:xfrm>
              <a:off x="0" y="-57150"/>
              <a:ext cx="8686800" cy="23454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75">
                  <a:solidFill>
                    <a:srgbClr val="CFE2F3"/>
                  </a:solidFill>
                  <a:latin typeface="Calibri"/>
                  <a:ea typeface="Calibri"/>
                  <a:cs typeface="Calibri"/>
                  <a:sym typeface="Calibri"/>
                </a:rPr>
                <a:t>Bagaimana performa ketepatan waktu pengiriman secara keseluruhan?</a:t>
              </a:r>
              <a:endParaRPr/>
            </a:p>
          </p:txBody>
        </p:sp>
      </p:grpSp>
      <p:sp>
        <p:nvSpPr>
          <p:cNvPr id="188" name="Google Shape;188;p3"/>
          <p:cNvSpPr/>
          <p:nvPr/>
        </p:nvSpPr>
        <p:spPr>
          <a:xfrm>
            <a:off x="9349748" y="3286760"/>
            <a:ext cx="8161021" cy="2016252"/>
          </a:xfrm>
          <a:custGeom>
            <a:rect b="b" l="l" r="r" t="t"/>
            <a:pathLst>
              <a:path extrusionOk="0" h="2688336" w="10881361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10735056" y="0"/>
                </a:lnTo>
                <a:cubicBezTo>
                  <a:pt x="10815828" y="0"/>
                  <a:pt x="10881361" y="65532"/>
                  <a:pt x="10881361" y="146304"/>
                </a:cubicBezTo>
                <a:lnTo>
                  <a:pt x="10881361" y="2542032"/>
                </a:lnTo>
                <a:cubicBezTo>
                  <a:pt x="10881361" y="2622804"/>
                  <a:pt x="10815828" y="2688336"/>
                  <a:pt x="10735056" y="2688336"/>
                </a:cubicBezTo>
                <a:lnTo>
                  <a:pt x="146304" y="2688336"/>
                </a:lnTo>
                <a:cubicBezTo>
                  <a:pt x="65532" y="2688336"/>
                  <a:pt x="0" y="2622804"/>
                  <a:pt x="0" y="2542032"/>
                </a:cubicBezTo>
                <a:close/>
              </a:path>
            </a:pathLst>
          </a:custGeom>
          <a:solidFill>
            <a:srgbClr val="13355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3"/>
          <p:cNvSpPr/>
          <p:nvPr/>
        </p:nvSpPr>
        <p:spPr>
          <a:xfrm>
            <a:off x="9692648" y="3588512"/>
            <a:ext cx="754380" cy="754380"/>
          </a:xfrm>
          <a:custGeom>
            <a:rect b="b" l="l" r="r" t="t"/>
            <a:pathLst>
              <a:path extrusionOk="0" h="1005840" w="1005840">
                <a:moveTo>
                  <a:pt x="0" y="502920"/>
                </a:moveTo>
                <a:cubicBezTo>
                  <a:pt x="0" y="225171"/>
                  <a:pt x="225171" y="0"/>
                  <a:pt x="502920" y="0"/>
                </a:cubicBezTo>
                <a:cubicBezTo>
                  <a:pt x="780669" y="0"/>
                  <a:pt x="1005840" y="225171"/>
                  <a:pt x="1005840" y="502920"/>
                </a:cubicBezTo>
                <a:cubicBezTo>
                  <a:pt x="1005840" y="780669"/>
                  <a:pt x="780669" y="1005840"/>
                  <a:pt x="502920" y="1005840"/>
                </a:cubicBezTo>
                <a:cubicBezTo>
                  <a:pt x="225171" y="1005840"/>
                  <a:pt x="0" y="780669"/>
                  <a:pt x="0" y="502920"/>
                </a:cubicBezTo>
                <a:close/>
              </a:path>
            </a:pathLst>
          </a:cu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3"/>
          <p:cNvSpPr/>
          <p:nvPr/>
        </p:nvSpPr>
        <p:spPr>
          <a:xfrm>
            <a:off x="9692648" y="3588512"/>
            <a:ext cx="754380" cy="754380"/>
          </a:xfrm>
          <a:custGeom>
            <a:rect b="b" l="l" r="r" t="t"/>
            <a:pathLst>
              <a:path extrusionOk="0" h="1005840" w="1005840">
                <a:moveTo>
                  <a:pt x="0" y="0"/>
                </a:moveTo>
                <a:lnTo>
                  <a:pt x="1005840" y="0"/>
                </a:lnTo>
                <a:lnTo>
                  <a:pt x="1005840" y="1005840"/>
                </a:lnTo>
                <a:lnTo>
                  <a:pt x="0" y="100584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0" l="-78389" r="-7838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1" name="Google Shape;191;p3"/>
          <p:cNvGrpSpPr/>
          <p:nvPr/>
        </p:nvGrpSpPr>
        <p:grpSpPr>
          <a:xfrm>
            <a:off x="9692648" y="3559937"/>
            <a:ext cx="754380" cy="782955"/>
            <a:chOff x="0" y="-19050"/>
            <a:chExt cx="1005840" cy="1043940"/>
          </a:xfrm>
        </p:grpSpPr>
        <p:sp>
          <p:nvSpPr>
            <p:cNvPr id="192" name="Google Shape;192;p3"/>
            <p:cNvSpPr/>
            <p:nvPr/>
          </p:nvSpPr>
          <p:spPr>
            <a:xfrm>
              <a:off x="0" y="0"/>
              <a:ext cx="1005840" cy="1024890"/>
            </a:xfrm>
            <a:custGeom>
              <a:rect b="b" l="l" r="r" t="t"/>
              <a:pathLst>
                <a:path extrusionOk="0" h="102489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24890"/>
                  </a:lnTo>
                  <a:lnTo>
                    <a:pt x="0" y="102489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0" l="-80733" r="-80733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3"/>
            <p:cNvSpPr txBox="1"/>
            <p:nvPr/>
          </p:nvSpPr>
          <p:spPr>
            <a:xfrm>
              <a:off x="0" y="-19050"/>
              <a:ext cx="1005840" cy="10439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5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Q2</a:t>
              </a:r>
              <a:endParaRPr/>
            </a:p>
          </p:txBody>
        </p:sp>
      </p:grpSp>
      <p:sp>
        <p:nvSpPr>
          <p:cNvPr id="194" name="Google Shape;194;p3"/>
          <p:cNvSpPr/>
          <p:nvPr/>
        </p:nvSpPr>
        <p:spPr>
          <a:xfrm>
            <a:off x="10652767" y="3451352"/>
            <a:ext cx="6515100" cy="1673352"/>
          </a:xfrm>
          <a:custGeom>
            <a:rect b="b" l="l" r="r" t="t"/>
            <a:pathLst>
              <a:path extrusionOk="0" h="2231136" w="8686800">
                <a:moveTo>
                  <a:pt x="0" y="0"/>
                </a:moveTo>
                <a:lnTo>
                  <a:pt x="8686800" y="0"/>
                </a:lnTo>
                <a:lnTo>
                  <a:pt x="8686800" y="2231136"/>
                </a:lnTo>
                <a:lnTo>
                  <a:pt x="0" y="2231136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5810" l="0" r="0" t="-258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3"/>
          <p:cNvSpPr/>
          <p:nvPr/>
        </p:nvSpPr>
        <p:spPr>
          <a:xfrm>
            <a:off x="777247" y="5714492"/>
            <a:ext cx="8161021" cy="2016252"/>
          </a:xfrm>
          <a:custGeom>
            <a:rect b="b" l="l" r="r" t="t"/>
            <a:pathLst>
              <a:path extrusionOk="0" h="2688336" w="10881361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10735056" y="0"/>
                </a:lnTo>
                <a:cubicBezTo>
                  <a:pt x="10815828" y="0"/>
                  <a:pt x="10881361" y="65532"/>
                  <a:pt x="10881361" y="146304"/>
                </a:cubicBezTo>
                <a:lnTo>
                  <a:pt x="10881361" y="2542032"/>
                </a:lnTo>
                <a:cubicBezTo>
                  <a:pt x="10881361" y="2622804"/>
                  <a:pt x="10815828" y="2688336"/>
                  <a:pt x="10735056" y="2688336"/>
                </a:cubicBezTo>
                <a:lnTo>
                  <a:pt x="146304" y="2688336"/>
                </a:lnTo>
                <a:cubicBezTo>
                  <a:pt x="65532" y="2688336"/>
                  <a:pt x="0" y="2622804"/>
                  <a:pt x="0" y="2542032"/>
                </a:cubicBezTo>
                <a:close/>
              </a:path>
            </a:pathLst>
          </a:custGeom>
          <a:solidFill>
            <a:srgbClr val="13355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3"/>
          <p:cNvSpPr/>
          <p:nvPr/>
        </p:nvSpPr>
        <p:spPr>
          <a:xfrm>
            <a:off x="1120147" y="6016244"/>
            <a:ext cx="754380" cy="754380"/>
          </a:xfrm>
          <a:custGeom>
            <a:rect b="b" l="l" r="r" t="t"/>
            <a:pathLst>
              <a:path extrusionOk="0" h="1005840" w="1005840">
                <a:moveTo>
                  <a:pt x="0" y="502920"/>
                </a:moveTo>
                <a:cubicBezTo>
                  <a:pt x="0" y="225171"/>
                  <a:pt x="225171" y="0"/>
                  <a:pt x="502920" y="0"/>
                </a:cubicBezTo>
                <a:cubicBezTo>
                  <a:pt x="780669" y="0"/>
                  <a:pt x="1005840" y="225171"/>
                  <a:pt x="1005840" y="502920"/>
                </a:cubicBezTo>
                <a:cubicBezTo>
                  <a:pt x="1005840" y="780669"/>
                  <a:pt x="780669" y="1005840"/>
                  <a:pt x="502920" y="1005840"/>
                </a:cubicBezTo>
                <a:cubicBezTo>
                  <a:pt x="225171" y="1005840"/>
                  <a:pt x="0" y="780669"/>
                  <a:pt x="0" y="502920"/>
                </a:cubicBezTo>
                <a:close/>
              </a:path>
            </a:pathLst>
          </a:cu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3"/>
          <p:cNvSpPr/>
          <p:nvPr/>
        </p:nvSpPr>
        <p:spPr>
          <a:xfrm>
            <a:off x="1120147" y="6016244"/>
            <a:ext cx="754380" cy="754380"/>
          </a:xfrm>
          <a:custGeom>
            <a:rect b="b" l="l" r="r" t="t"/>
            <a:pathLst>
              <a:path extrusionOk="0" h="1005840" w="1005840">
                <a:moveTo>
                  <a:pt x="0" y="0"/>
                </a:moveTo>
                <a:lnTo>
                  <a:pt x="1005840" y="0"/>
                </a:lnTo>
                <a:lnTo>
                  <a:pt x="1005840" y="1005840"/>
                </a:lnTo>
                <a:lnTo>
                  <a:pt x="0" y="100584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0" l="-78389" r="-7838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8" name="Google Shape;198;p3"/>
          <p:cNvGrpSpPr/>
          <p:nvPr/>
        </p:nvGrpSpPr>
        <p:grpSpPr>
          <a:xfrm>
            <a:off x="1120147" y="5987669"/>
            <a:ext cx="754380" cy="782955"/>
            <a:chOff x="0" y="-19050"/>
            <a:chExt cx="1005840" cy="1043940"/>
          </a:xfrm>
        </p:grpSpPr>
        <p:sp>
          <p:nvSpPr>
            <p:cNvPr id="199" name="Google Shape;199;p3"/>
            <p:cNvSpPr/>
            <p:nvPr/>
          </p:nvSpPr>
          <p:spPr>
            <a:xfrm>
              <a:off x="0" y="0"/>
              <a:ext cx="1005840" cy="1024890"/>
            </a:xfrm>
            <a:custGeom>
              <a:rect b="b" l="l" r="r" t="t"/>
              <a:pathLst>
                <a:path extrusionOk="0" h="102489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24890"/>
                  </a:lnTo>
                  <a:lnTo>
                    <a:pt x="0" y="102489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0" l="-80733" r="-80733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3"/>
            <p:cNvSpPr txBox="1"/>
            <p:nvPr/>
          </p:nvSpPr>
          <p:spPr>
            <a:xfrm>
              <a:off x="0" y="-19050"/>
              <a:ext cx="1005840" cy="10439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5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Q3</a:t>
              </a:r>
              <a:endParaRPr/>
            </a:p>
          </p:txBody>
        </p:sp>
      </p:grpSp>
      <p:sp>
        <p:nvSpPr>
          <p:cNvPr id="201" name="Google Shape;201;p3"/>
          <p:cNvSpPr/>
          <p:nvPr/>
        </p:nvSpPr>
        <p:spPr>
          <a:xfrm>
            <a:off x="2080268" y="5879084"/>
            <a:ext cx="6515100" cy="1673352"/>
          </a:xfrm>
          <a:custGeom>
            <a:rect b="b" l="l" r="r" t="t"/>
            <a:pathLst>
              <a:path extrusionOk="0" h="2231136" w="8686800">
                <a:moveTo>
                  <a:pt x="0" y="0"/>
                </a:moveTo>
                <a:lnTo>
                  <a:pt x="8686800" y="0"/>
                </a:lnTo>
                <a:lnTo>
                  <a:pt x="8686800" y="2231136"/>
                </a:lnTo>
                <a:lnTo>
                  <a:pt x="0" y="2231136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5810" l="0" r="0" t="-258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3"/>
          <p:cNvSpPr/>
          <p:nvPr/>
        </p:nvSpPr>
        <p:spPr>
          <a:xfrm>
            <a:off x="9349748" y="5714492"/>
            <a:ext cx="8161021" cy="2016252"/>
          </a:xfrm>
          <a:custGeom>
            <a:rect b="b" l="l" r="r" t="t"/>
            <a:pathLst>
              <a:path extrusionOk="0" h="2688336" w="10881361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10735056" y="0"/>
                </a:lnTo>
                <a:cubicBezTo>
                  <a:pt x="10815828" y="0"/>
                  <a:pt x="10881361" y="65532"/>
                  <a:pt x="10881361" y="146304"/>
                </a:cubicBezTo>
                <a:lnTo>
                  <a:pt x="10881361" y="2542032"/>
                </a:lnTo>
                <a:cubicBezTo>
                  <a:pt x="10881361" y="2622804"/>
                  <a:pt x="10815828" y="2688336"/>
                  <a:pt x="10735056" y="2688336"/>
                </a:cubicBezTo>
                <a:lnTo>
                  <a:pt x="146304" y="2688336"/>
                </a:lnTo>
                <a:cubicBezTo>
                  <a:pt x="65532" y="2688336"/>
                  <a:pt x="0" y="2622804"/>
                  <a:pt x="0" y="2542032"/>
                </a:cubicBezTo>
                <a:close/>
              </a:path>
            </a:pathLst>
          </a:custGeom>
          <a:solidFill>
            <a:srgbClr val="13355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3"/>
          <p:cNvSpPr/>
          <p:nvPr/>
        </p:nvSpPr>
        <p:spPr>
          <a:xfrm>
            <a:off x="9692648" y="6016244"/>
            <a:ext cx="754380" cy="754380"/>
          </a:xfrm>
          <a:custGeom>
            <a:rect b="b" l="l" r="r" t="t"/>
            <a:pathLst>
              <a:path extrusionOk="0" h="1005840" w="1005840">
                <a:moveTo>
                  <a:pt x="0" y="502920"/>
                </a:moveTo>
                <a:cubicBezTo>
                  <a:pt x="0" y="225171"/>
                  <a:pt x="225171" y="0"/>
                  <a:pt x="502920" y="0"/>
                </a:cubicBezTo>
                <a:cubicBezTo>
                  <a:pt x="780669" y="0"/>
                  <a:pt x="1005840" y="225171"/>
                  <a:pt x="1005840" y="502920"/>
                </a:cubicBezTo>
                <a:cubicBezTo>
                  <a:pt x="1005840" y="780669"/>
                  <a:pt x="780669" y="1005840"/>
                  <a:pt x="502920" y="1005840"/>
                </a:cubicBezTo>
                <a:cubicBezTo>
                  <a:pt x="225171" y="1005840"/>
                  <a:pt x="0" y="780669"/>
                  <a:pt x="0" y="502920"/>
                </a:cubicBezTo>
                <a:close/>
              </a:path>
            </a:pathLst>
          </a:cu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3"/>
          <p:cNvSpPr/>
          <p:nvPr/>
        </p:nvSpPr>
        <p:spPr>
          <a:xfrm>
            <a:off x="9692648" y="6016244"/>
            <a:ext cx="754380" cy="754380"/>
          </a:xfrm>
          <a:custGeom>
            <a:rect b="b" l="l" r="r" t="t"/>
            <a:pathLst>
              <a:path extrusionOk="0" h="1005840" w="1005840">
                <a:moveTo>
                  <a:pt x="0" y="0"/>
                </a:moveTo>
                <a:lnTo>
                  <a:pt x="1005840" y="0"/>
                </a:lnTo>
                <a:lnTo>
                  <a:pt x="1005840" y="1005840"/>
                </a:lnTo>
                <a:lnTo>
                  <a:pt x="0" y="100584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0" l="-78389" r="-7838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5" name="Google Shape;205;p3"/>
          <p:cNvGrpSpPr/>
          <p:nvPr/>
        </p:nvGrpSpPr>
        <p:grpSpPr>
          <a:xfrm>
            <a:off x="9692648" y="5987669"/>
            <a:ext cx="754380" cy="782955"/>
            <a:chOff x="0" y="-19050"/>
            <a:chExt cx="1005840" cy="1043940"/>
          </a:xfrm>
        </p:grpSpPr>
        <p:sp>
          <p:nvSpPr>
            <p:cNvPr id="206" name="Google Shape;206;p3"/>
            <p:cNvSpPr/>
            <p:nvPr/>
          </p:nvSpPr>
          <p:spPr>
            <a:xfrm>
              <a:off x="0" y="0"/>
              <a:ext cx="1005840" cy="1024890"/>
            </a:xfrm>
            <a:custGeom>
              <a:rect b="b" l="l" r="r" t="t"/>
              <a:pathLst>
                <a:path extrusionOk="0" h="102489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24890"/>
                  </a:lnTo>
                  <a:lnTo>
                    <a:pt x="0" y="102489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0" l="-80733" r="-80733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3"/>
            <p:cNvSpPr txBox="1"/>
            <p:nvPr/>
          </p:nvSpPr>
          <p:spPr>
            <a:xfrm>
              <a:off x="0" y="-19050"/>
              <a:ext cx="1005840" cy="10439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5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Q4</a:t>
              </a:r>
              <a:endParaRPr/>
            </a:p>
          </p:txBody>
        </p:sp>
      </p:grpSp>
      <p:sp>
        <p:nvSpPr>
          <p:cNvPr id="208" name="Google Shape;208;p3"/>
          <p:cNvSpPr/>
          <p:nvPr/>
        </p:nvSpPr>
        <p:spPr>
          <a:xfrm>
            <a:off x="10652767" y="5879084"/>
            <a:ext cx="6515100" cy="1673352"/>
          </a:xfrm>
          <a:custGeom>
            <a:rect b="b" l="l" r="r" t="t"/>
            <a:pathLst>
              <a:path extrusionOk="0" h="2231136" w="8686800">
                <a:moveTo>
                  <a:pt x="0" y="0"/>
                </a:moveTo>
                <a:lnTo>
                  <a:pt x="8686800" y="0"/>
                </a:lnTo>
                <a:lnTo>
                  <a:pt x="8686800" y="2231136"/>
                </a:lnTo>
                <a:lnTo>
                  <a:pt x="0" y="2231136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5810" l="0" r="0" t="-258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9" name="Google Shape;209;p3"/>
          <p:cNvGrpSpPr/>
          <p:nvPr/>
        </p:nvGrpSpPr>
        <p:grpSpPr>
          <a:xfrm>
            <a:off x="10625335" y="5793359"/>
            <a:ext cx="6515100" cy="1759077"/>
            <a:chOff x="0" y="-57150"/>
            <a:chExt cx="8686800" cy="2345436"/>
          </a:xfrm>
        </p:grpSpPr>
        <p:sp>
          <p:nvSpPr>
            <p:cNvPr id="210" name="Google Shape;210;p3"/>
            <p:cNvSpPr/>
            <p:nvPr/>
          </p:nvSpPr>
          <p:spPr>
            <a:xfrm>
              <a:off x="0" y="0"/>
              <a:ext cx="8686800" cy="2288286"/>
            </a:xfrm>
            <a:custGeom>
              <a:rect b="b" l="l" r="r" t="t"/>
              <a:pathLst>
                <a:path extrusionOk="0" h="2288286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2288286"/>
                  </a:lnTo>
                  <a:lnTo>
                    <a:pt x="0" y="2288286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3969" l="0" r="0" t="-2396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3"/>
            <p:cNvSpPr txBox="1"/>
            <p:nvPr/>
          </p:nvSpPr>
          <p:spPr>
            <a:xfrm>
              <a:off x="0" y="-57150"/>
              <a:ext cx="8686800" cy="23454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75">
                  <a:solidFill>
                    <a:srgbClr val="CFE2F3"/>
                  </a:solidFill>
                  <a:latin typeface="Calibri"/>
                  <a:ea typeface="Calibri"/>
                  <a:cs typeface="Calibri"/>
                  <a:sym typeface="Calibri"/>
                </a:rPr>
                <a:t>Carrier mana yang paling sering terlambat, dan apakah itu berdampak ke rating?</a:t>
              </a:r>
              <a:endParaRPr/>
            </a:p>
          </p:txBody>
        </p:sp>
      </p:grpSp>
      <p:grpSp>
        <p:nvGrpSpPr>
          <p:cNvPr id="212" name="Google Shape;212;p3"/>
          <p:cNvGrpSpPr/>
          <p:nvPr/>
        </p:nvGrpSpPr>
        <p:grpSpPr>
          <a:xfrm>
            <a:off x="2080268" y="5793359"/>
            <a:ext cx="6515100" cy="1759077"/>
            <a:chOff x="0" y="-57150"/>
            <a:chExt cx="8686800" cy="2345436"/>
          </a:xfrm>
        </p:grpSpPr>
        <p:sp>
          <p:nvSpPr>
            <p:cNvPr id="213" name="Google Shape;213;p3"/>
            <p:cNvSpPr/>
            <p:nvPr/>
          </p:nvSpPr>
          <p:spPr>
            <a:xfrm>
              <a:off x="0" y="0"/>
              <a:ext cx="8686800" cy="2288286"/>
            </a:xfrm>
            <a:custGeom>
              <a:rect b="b" l="l" r="r" t="t"/>
              <a:pathLst>
                <a:path extrusionOk="0" h="2288286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2288286"/>
                  </a:lnTo>
                  <a:lnTo>
                    <a:pt x="0" y="2288286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3969" l="0" r="0" t="-2396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3"/>
            <p:cNvSpPr txBox="1"/>
            <p:nvPr/>
          </p:nvSpPr>
          <p:spPr>
            <a:xfrm>
              <a:off x="0" y="-57150"/>
              <a:ext cx="8686800" cy="23454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75">
                  <a:solidFill>
                    <a:srgbClr val="CFE2F3"/>
                  </a:solidFill>
                  <a:latin typeface="Calibri"/>
                  <a:ea typeface="Calibri"/>
                  <a:cs typeface="Calibri"/>
                  <a:sym typeface="Calibri"/>
                </a:rPr>
                <a:t>Kondisi cuaca apa yang paling berkontribusi terhadap keterlambatan?</a:t>
              </a:r>
              <a:endParaRPr/>
            </a:p>
          </p:txBody>
        </p:sp>
      </p:grpSp>
      <p:grpSp>
        <p:nvGrpSpPr>
          <p:cNvPr id="215" name="Google Shape;215;p3"/>
          <p:cNvGrpSpPr/>
          <p:nvPr/>
        </p:nvGrpSpPr>
        <p:grpSpPr>
          <a:xfrm>
            <a:off x="10698488" y="3441923"/>
            <a:ext cx="6515100" cy="1759077"/>
            <a:chOff x="0" y="-57150"/>
            <a:chExt cx="8686800" cy="2345436"/>
          </a:xfrm>
        </p:grpSpPr>
        <p:sp>
          <p:nvSpPr>
            <p:cNvPr id="216" name="Google Shape;216;p3"/>
            <p:cNvSpPr/>
            <p:nvPr/>
          </p:nvSpPr>
          <p:spPr>
            <a:xfrm>
              <a:off x="0" y="0"/>
              <a:ext cx="8686800" cy="2288286"/>
            </a:xfrm>
            <a:custGeom>
              <a:rect b="b" l="l" r="r" t="t"/>
              <a:pathLst>
                <a:path extrusionOk="0" h="2288286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2288286"/>
                  </a:lnTo>
                  <a:lnTo>
                    <a:pt x="0" y="2288286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3969" l="0" r="0" t="-2396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3"/>
            <p:cNvSpPr txBox="1"/>
            <p:nvPr/>
          </p:nvSpPr>
          <p:spPr>
            <a:xfrm>
              <a:off x="0" y="-57150"/>
              <a:ext cx="8686800" cy="23454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75">
                  <a:solidFill>
                    <a:srgbClr val="CFE2F3"/>
                  </a:solidFill>
                  <a:latin typeface="Calibri"/>
                  <a:ea typeface="Calibri"/>
                  <a:cs typeface="Calibri"/>
                  <a:sym typeface="Calibri"/>
                </a:rPr>
                <a:t>Apakah keterlambatan meningkatkan risiko retur, dan berapa nilai pendapatan yang berisiko?</a:t>
              </a:r>
              <a:endParaRPr/>
            </a:p>
          </p:txBody>
        </p:sp>
      </p:grpSp>
      <p:sp>
        <p:nvSpPr>
          <p:cNvPr id="218" name="Google Shape;218;p3"/>
          <p:cNvSpPr/>
          <p:nvPr/>
        </p:nvSpPr>
        <p:spPr>
          <a:xfrm>
            <a:off x="685800" y="9765792"/>
            <a:ext cx="10972800" cy="411480"/>
          </a:xfrm>
          <a:custGeom>
            <a:rect b="b" l="l" r="r" t="t"/>
            <a:pathLst>
              <a:path extrusionOk="0" h="548640" w="14630400">
                <a:moveTo>
                  <a:pt x="0" y="0"/>
                </a:moveTo>
                <a:lnTo>
                  <a:pt x="14630400" y="0"/>
                </a:lnTo>
                <a:lnTo>
                  <a:pt x="14630400" y="548640"/>
                </a:lnTo>
                <a:lnTo>
                  <a:pt x="0" y="54864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469211" l="0" r="0" t="-46921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9" name="Google Shape;219;p3"/>
          <p:cNvGrpSpPr/>
          <p:nvPr/>
        </p:nvGrpSpPr>
        <p:grpSpPr>
          <a:xfrm>
            <a:off x="685800" y="9722930"/>
            <a:ext cx="10972800" cy="454342"/>
            <a:chOff x="0" y="-28575"/>
            <a:chExt cx="14630400" cy="605790"/>
          </a:xfrm>
        </p:grpSpPr>
        <p:sp>
          <p:nvSpPr>
            <p:cNvPr id="220" name="Google Shape;220;p3"/>
            <p:cNvSpPr/>
            <p:nvPr/>
          </p:nvSpPr>
          <p:spPr>
            <a:xfrm>
              <a:off x="0" y="0"/>
              <a:ext cx="14630400" cy="577215"/>
            </a:xfrm>
            <a:custGeom>
              <a:rect b="b" l="l" r="r" t="t"/>
              <a:pathLst>
                <a:path extrusionOk="0" h="577215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77215"/>
                  </a:lnTo>
                  <a:lnTo>
                    <a:pt x="0" y="57721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443876" l="0" r="0" t="-44387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3"/>
            <p:cNvSpPr txBox="1"/>
            <p:nvPr/>
          </p:nvSpPr>
          <p:spPr>
            <a:xfrm>
              <a:off x="0" y="-28575"/>
              <a:ext cx="14630400" cy="6057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5B7387"/>
                  </a:solidFill>
                  <a:latin typeface="Calibri"/>
                  <a:ea typeface="Calibri"/>
                  <a:cs typeface="Calibri"/>
                  <a:sym typeface="Calibri"/>
                </a:rPr>
                <a:t>E-Commerce Delivery Performance &amp; Revenue Risk</a:t>
              </a:r>
              <a:endParaRPr/>
            </a:p>
          </p:txBody>
        </p:sp>
      </p:grpSp>
      <p:sp>
        <p:nvSpPr>
          <p:cNvPr id="222" name="Google Shape;222;p3"/>
          <p:cNvSpPr/>
          <p:nvPr/>
        </p:nvSpPr>
        <p:spPr>
          <a:xfrm>
            <a:off x="17186148" y="9765792"/>
            <a:ext cx="548640" cy="411480"/>
          </a:xfrm>
          <a:custGeom>
            <a:rect b="b" l="l" r="r" t="t"/>
            <a:pathLst>
              <a:path extrusionOk="0" h="548640" w="731520">
                <a:moveTo>
                  <a:pt x="0" y="0"/>
                </a:moveTo>
                <a:lnTo>
                  <a:pt x="731520" y="0"/>
                </a:lnTo>
                <a:lnTo>
                  <a:pt x="731520" y="548640"/>
                </a:lnTo>
                <a:lnTo>
                  <a:pt x="0" y="54864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0" l="-46294" r="-46292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"/>
          <p:cNvSpPr/>
          <p:nvPr/>
        </p:nvSpPr>
        <p:spPr>
          <a:xfrm>
            <a:off x="685800" y="9765792"/>
            <a:ext cx="10972800" cy="411480"/>
          </a:xfrm>
          <a:custGeom>
            <a:rect b="b" l="l" r="r" t="t"/>
            <a:pathLst>
              <a:path extrusionOk="0" h="548640" w="14630400">
                <a:moveTo>
                  <a:pt x="0" y="0"/>
                </a:moveTo>
                <a:lnTo>
                  <a:pt x="14630400" y="0"/>
                </a:lnTo>
                <a:lnTo>
                  <a:pt x="14630400" y="548640"/>
                </a:lnTo>
                <a:lnTo>
                  <a:pt x="0" y="54864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469211" l="0" r="0" t="-46921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4" name="Google Shape;224;p3"/>
          <p:cNvGrpSpPr/>
          <p:nvPr/>
        </p:nvGrpSpPr>
        <p:grpSpPr>
          <a:xfrm>
            <a:off x="685800" y="9722930"/>
            <a:ext cx="10972800" cy="454342"/>
            <a:chOff x="0" y="-28575"/>
            <a:chExt cx="14630400" cy="605790"/>
          </a:xfrm>
        </p:grpSpPr>
        <p:sp>
          <p:nvSpPr>
            <p:cNvPr id="225" name="Google Shape;225;p3"/>
            <p:cNvSpPr/>
            <p:nvPr/>
          </p:nvSpPr>
          <p:spPr>
            <a:xfrm>
              <a:off x="0" y="0"/>
              <a:ext cx="14630400" cy="577215"/>
            </a:xfrm>
            <a:custGeom>
              <a:rect b="b" l="l" r="r" t="t"/>
              <a:pathLst>
                <a:path extrusionOk="0" h="577215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77215"/>
                  </a:lnTo>
                  <a:lnTo>
                    <a:pt x="0" y="57721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443876" l="0" r="0" t="-44387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3"/>
            <p:cNvSpPr txBox="1"/>
            <p:nvPr/>
          </p:nvSpPr>
          <p:spPr>
            <a:xfrm>
              <a:off x="0" y="-28575"/>
              <a:ext cx="14630400" cy="6057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5F7998"/>
                  </a:solidFill>
                  <a:latin typeface="Calibri"/>
                  <a:ea typeface="Calibri"/>
                  <a:cs typeface="Calibri"/>
                  <a:sym typeface="Calibri"/>
                </a:rPr>
                <a:t>E-Commerce Delivery Performance &amp; Revenue Risk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B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"/>
          <p:cNvSpPr/>
          <p:nvPr/>
        </p:nvSpPr>
        <p:spPr>
          <a:xfrm>
            <a:off x="822960" y="617220"/>
            <a:ext cx="10972800" cy="480060"/>
          </a:xfrm>
          <a:custGeom>
            <a:rect b="b" l="l" r="r" t="t"/>
            <a:pathLst>
              <a:path extrusionOk="0" h="640080" w="14630400">
                <a:moveTo>
                  <a:pt x="0" y="0"/>
                </a:moveTo>
                <a:lnTo>
                  <a:pt x="14630400" y="0"/>
                </a:lnTo>
                <a:lnTo>
                  <a:pt x="14630400" y="640080"/>
                </a:lnTo>
                <a:lnTo>
                  <a:pt x="0" y="64008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395077" l="0" r="0" t="-39507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2" name="Google Shape;232;p4"/>
          <p:cNvGrpSpPr/>
          <p:nvPr/>
        </p:nvGrpSpPr>
        <p:grpSpPr>
          <a:xfrm>
            <a:off x="822960" y="560070"/>
            <a:ext cx="10972800" cy="537210"/>
            <a:chOff x="0" y="-38100"/>
            <a:chExt cx="14630400" cy="716280"/>
          </a:xfrm>
        </p:grpSpPr>
        <p:sp>
          <p:nvSpPr>
            <p:cNvPr id="233" name="Google Shape;233;p4"/>
            <p:cNvSpPr/>
            <p:nvPr/>
          </p:nvSpPr>
          <p:spPr>
            <a:xfrm>
              <a:off x="0" y="0"/>
              <a:ext cx="14630400" cy="678180"/>
            </a:xfrm>
            <a:custGeom>
              <a:rect b="b" l="l" r="r" t="t"/>
              <a:pathLst>
                <a:path extrusionOk="0" h="6781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78180"/>
                  </a:lnTo>
                  <a:lnTo>
                    <a:pt x="0" y="67818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370380" l="0" r="0" t="-37038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4"/>
            <p:cNvSpPr txBox="1"/>
            <p:nvPr/>
          </p:nvSpPr>
          <p:spPr>
            <a:xfrm>
              <a:off x="0" y="-38100"/>
              <a:ext cx="14630400" cy="716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pc="300" sz="1800">
                  <a:solidFill>
                    <a:srgbClr val="1C7293"/>
                  </a:solidFill>
                  <a:latin typeface="Calibri"/>
                  <a:ea typeface="Calibri"/>
                  <a:cs typeface="Calibri"/>
                  <a:sym typeface="Calibri"/>
                </a:rPr>
                <a:t>DATA UNDERSTANDING</a:t>
              </a:r>
              <a:endParaRPr/>
            </a:p>
          </p:txBody>
        </p:sp>
      </p:grpSp>
      <p:sp>
        <p:nvSpPr>
          <p:cNvPr id="235" name="Google Shape;235;p4"/>
          <p:cNvSpPr/>
          <p:nvPr/>
        </p:nvSpPr>
        <p:spPr>
          <a:xfrm>
            <a:off x="822960" y="1069848"/>
            <a:ext cx="16184879" cy="1097280"/>
          </a:xfrm>
          <a:custGeom>
            <a:rect b="b" l="l" r="r" t="t"/>
            <a:pathLst>
              <a:path extrusionOk="0" h="1463040" w="21579839">
                <a:moveTo>
                  <a:pt x="0" y="0"/>
                </a:moveTo>
                <a:lnTo>
                  <a:pt x="21579839" y="0"/>
                </a:lnTo>
                <a:lnTo>
                  <a:pt x="21579839" y="1463040"/>
                </a:lnTo>
                <a:lnTo>
                  <a:pt x="0" y="146304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37191" l="0" r="0" t="-23719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6" name="Google Shape;236;p4"/>
          <p:cNvGrpSpPr/>
          <p:nvPr/>
        </p:nvGrpSpPr>
        <p:grpSpPr>
          <a:xfrm>
            <a:off x="822960" y="1041272"/>
            <a:ext cx="16184880" cy="1125856"/>
            <a:chOff x="0" y="-19050"/>
            <a:chExt cx="21579840" cy="1501140"/>
          </a:xfrm>
        </p:grpSpPr>
        <p:sp>
          <p:nvSpPr>
            <p:cNvPr id="237" name="Google Shape;237;p4"/>
            <p:cNvSpPr/>
            <p:nvPr/>
          </p:nvSpPr>
          <p:spPr>
            <a:xfrm>
              <a:off x="0" y="0"/>
              <a:ext cx="21579839" cy="1482090"/>
            </a:xfrm>
            <a:custGeom>
              <a:rect b="b" l="l" r="r" t="t"/>
              <a:pathLst>
                <a:path extrusionOk="0" h="148209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482090"/>
                  </a:lnTo>
                  <a:lnTo>
                    <a:pt x="0" y="148209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33704" l="0" r="0" t="-23370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4"/>
            <p:cNvSpPr txBox="1"/>
            <p:nvPr/>
          </p:nvSpPr>
          <p:spPr>
            <a:xfrm>
              <a:off x="0" y="-19050"/>
              <a:ext cx="21579840" cy="15011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00">
                  <a:solidFill>
                    <a:srgbClr val="0B2545"/>
                  </a:solidFill>
                  <a:latin typeface="Cambria"/>
                  <a:ea typeface="Cambria"/>
                  <a:cs typeface="Cambria"/>
                  <a:sym typeface="Cambria"/>
                </a:rPr>
                <a:t>Overview Dataset</a:t>
              </a:r>
              <a:endParaRPr/>
            </a:p>
          </p:txBody>
        </p:sp>
      </p:grpSp>
      <p:sp>
        <p:nvSpPr>
          <p:cNvPr id="239" name="Google Shape;239;p4"/>
          <p:cNvSpPr/>
          <p:nvPr/>
        </p:nvSpPr>
        <p:spPr>
          <a:xfrm>
            <a:off x="806291" y="2520791"/>
            <a:ext cx="5313997" cy="1747837"/>
          </a:xfrm>
          <a:custGeom>
            <a:rect b="b" l="l" r="r" t="t"/>
            <a:pathLst>
              <a:path extrusionOk="0" h="1747837" w="5313997">
                <a:moveTo>
                  <a:pt x="0" y="0"/>
                </a:moveTo>
                <a:lnTo>
                  <a:pt x="5313998" y="0"/>
                </a:lnTo>
                <a:lnTo>
                  <a:pt x="5313998" y="1747838"/>
                </a:lnTo>
                <a:lnTo>
                  <a:pt x="0" y="174783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4"/>
          <p:cNvSpPr txBox="1"/>
          <p:nvPr/>
        </p:nvSpPr>
        <p:spPr>
          <a:xfrm>
            <a:off x="1078992" y="3683508"/>
            <a:ext cx="4768596" cy="4404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5B7387"/>
                </a:solidFill>
                <a:latin typeface="Calibri"/>
                <a:ea typeface="Calibri"/>
                <a:cs typeface="Calibri"/>
                <a:sym typeface="Calibri"/>
              </a:rPr>
              <a:t>Baris Pesanan</a:t>
            </a:r>
            <a:endParaRPr/>
          </a:p>
        </p:txBody>
      </p:sp>
      <p:sp>
        <p:nvSpPr>
          <p:cNvPr id="241" name="Google Shape;241;p4"/>
          <p:cNvSpPr/>
          <p:nvPr/>
        </p:nvSpPr>
        <p:spPr>
          <a:xfrm>
            <a:off x="6429851" y="2520791"/>
            <a:ext cx="5313997" cy="1747837"/>
          </a:xfrm>
          <a:custGeom>
            <a:rect b="b" l="l" r="r" t="t"/>
            <a:pathLst>
              <a:path extrusionOk="0" h="1747837" w="5313997">
                <a:moveTo>
                  <a:pt x="0" y="0"/>
                </a:moveTo>
                <a:lnTo>
                  <a:pt x="5313998" y="0"/>
                </a:lnTo>
                <a:lnTo>
                  <a:pt x="5313998" y="1747838"/>
                </a:lnTo>
                <a:lnTo>
                  <a:pt x="0" y="174783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4"/>
          <p:cNvSpPr txBox="1"/>
          <p:nvPr/>
        </p:nvSpPr>
        <p:spPr>
          <a:xfrm>
            <a:off x="6702552" y="3683508"/>
            <a:ext cx="4768596" cy="4404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5B7387"/>
                </a:solidFill>
                <a:latin typeface="Calibri"/>
                <a:ea typeface="Calibri"/>
                <a:cs typeface="Calibri"/>
                <a:sym typeface="Calibri"/>
              </a:rPr>
              <a:t>Kolom Akhir (setelah feature engineering)</a:t>
            </a:r>
            <a:endParaRPr/>
          </a:p>
        </p:txBody>
      </p:sp>
      <p:sp>
        <p:nvSpPr>
          <p:cNvPr id="243" name="Google Shape;243;p4"/>
          <p:cNvSpPr/>
          <p:nvPr/>
        </p:nvSpPr>
        <p:spPr>
          <a:xfrm>
            <a:off x="12053411" y="2520791"/>
            <a:ext cx="5313997" cy="1747837"/>
          </a:xfrm>
          <a:custGeom>
            <a:rect b="b" l="l" r="r" t="t"/>
            <a:pathLst>
              <a:path extrusionOk="0" h="1747837" w="5313997">
                <a:moveTo>
                  <a:pt x="0" y="0"/>
                </a:moveTo>
                <a:lnTo>
                  <a:pt x="5313998" y="0"/>
                </a:lnTo>
                <a:lnTo>
                  <a:pt x="5313998" y="1747838"/>
                </a:lnTo>
                <a:lnTo>
                  <a:pt x="0" y="174783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4"/>
          <p:cNvSpPr txBox="1"/>
          <p:nvPr/>
        </p:nvSpPr>
        <p:spPr>
          <a:xfrm>
            <a:off x="12326112" y="3683508"/>
            <a:ext cx="4768596" cy="4404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5B7387"/>
                </a:solidFill>
                <a:latin typeface="Calibri"/>
                <a:ea typeface="Calibri"/>
                <a:cs typeface="Calibri"/>
                <a:sym typeface="Calibri"/>
              </a:rPr>
              <a:t>Gudang (Warehouse)</a:t>
            </a:r>
            <a:endParaRPr/>
          </a:p>
        </p:txBody>
      </p:sp>
      <p:sp>
        <p:nvSpPr>
          <p:cNvPr id="245" name="Google Shape;245;p4"/>
          <p:cNvSpPr/>
          <p:nvPr/>
        </p:nvSpPr>
        <p:spPr>
          <a:xfrm>
            <a:off x="806291" y="4578191"/>
            <a:ext cx="5313997" cy="1747838"/>
          </a:xfrm>
          <a:custGeom>
            <a:rect b="b" l="l" r="r" t="t"/>
            <a:pathLst>
              <a:path extrusionOk="0" h="1747838" w="5313997">
                <a:moveTo>
                  <a:pt x="0" y="0"/>
                </a:moveTo>
                <a:lnTo>
                  <a:pt x="5313998" y="0"/>
                </a:lnTo>
                <a:lnTo>
                  <a:pt x="5313998" y="1747838"/>
                </a:lnTo>
                <a:lnTo>
                  <a:pt x="0" y="174783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4"/>
          <p:cNvSpPr txBox="1"/>
          <p:nvPr/>
        </p:nvSpPr>
        <p:spPr>
          <a:xfrm>
            <a:off x="1078992" y="5740908"/>
            <a:ext cx="4768596" cy="4404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5B7387"/>
                </a:solidFill>
                <a:latin typeface="Calibri"/>
                <a:ea typeface="Calibri"/>
                <a:cs typeface="Calibri"/>
                <a:sym typeface="Calibri"/>
              </a:rPr>
              <a:t>Perusahaan Carrier</a:t>
            </a:r>
            <a:endParaRPr/>
          </a:p>
        </p:txBody>
      </p:sp>
      <p:sp>
        <p:nvSpPr>
          <p:cNvPr id="247" name="Google Shape;247;p4"/>
          <p:cNvSpPr/>
          <p:nvPr/>
        </p:nvSpPr>
        <p:spPr>
          <a:xfrm>
            <a:off x="6429851" y="4578191"/>
            <a:ext cx="5313997" cy="1747838"/>
          </a:xfrm>
          <a:custGeom>
            <a:rect b="b" l="l" r="r" t="t"/>
            <a:pathLst>
              <a:path extrusionOk="0" h="1747838" w="5313997">
                <a:moveTo>
                  <a:pt x="0" y="0"/>
                </a:moveTo>
                <a:lnTo>
                  <a:pt x="5313998" y="0"/>
                </a:lnTo>
                <a:lnTo>
                  <a:pt x="5313998" y="1747838"/>
                </a:lnTo>
                <a:lnTo>
                  <a:pt x="0" y="174783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4"/>
          <p:cNvSpPr txBox="1"/>
          <p:nvPr/>
        </p:nvSpPr>
        <p:spPr>
          <a:xfrm>
            <a:off x="6702552" y="5740908"/>
            <a:ext cx="4768596" cy="4404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5B7387"/>
                </a:solidFill>
                <a:latin typeface="Calibri"/>
                <a:ea typeface="Calibri"/>
                <a:cs typeface="Calibri"/>
                <a:sym typeface="Calibri"/>
              </a:rPr>
              <a:t>Nilai Kosong &amp; Duplikat</a:t>
            </a:r>
            <a:endParaRPr/>
          </a:p>
        </p:txBody>
      </p:sp>
      <p:sp>
        <p:nvSpPr>
          <p:cNvPr id="249" name="Google Shape;249;p4"/>
          <p:cNvSpPr/>
          <p:nvPr/>
        </p:nvSpPr>
        <p:spPr>
          <a:xfrm>
            <a:off x="12053411" y="4578191"/>
            <a:ext cx="5313997" cy="1747838"/>
          </a:xfrm>
          <a:custGeom>
            <a:rect b="b" l="l" r="r" t="t"/>
            <a:pathLst>
              <a:path extrusionOk="0" h="1747838" w="5313997">
                <a:moveTo>
                  <a:pt x="0" y="0"/>
                </a:moveTo>
                <a:lnTo>
                  <a:pt x="5313998" y="0"/>
                </a:lnTo>
                <a:lnTo>
                  <a:pt x="5313998" y="1747838"/>
                </a:lnTo>
                <a:lnTo>
                  <a:pt x="0" y="174783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4"/>
          <p:cNvSpPr txBox="1"/>
          <p:nvPr/>
        </p:nvSpPr>
        <p:spPr>
          <a:xfrm>
            <a:off x="12326112" y="5740908"/>
            <a:ext cx="4768596" cy="4404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5B7387"/>
                </a:solidFill>
                <a:latin typeface="Calibri"/>
                <a:ea typeface="Calibri"/>
                <a:cs typeface="Calibri"/>
                <a:sym typeface="Calibri"/>
              </a:rPr>
              <a:t>Rentang Waktu Data</a:t>
            </a:r>
            <a:endParaRPr/>
          </a:p>
        </p:txBody>
      </p:sp>
      <p:sp>
        <p:nvSpPr>
          <p:cNvPr id="251" name="Google Shape;251;p4"/>
          <p:cNvSpPr/>
          <p:nvPr/>
        </p:nvSpPr>
        <p:spPr>
          <a:xfrm>
            <a:off x="822960" y="6515100"/>
            <a:ext cx="8229600" cy="480060"/>
          </a:xfrm>
          <a:custGeom>
            <a:rect b="b" l="l" r="r" t="t"/>
            <a:pathLst>
              <a:path extrusionOk="0" h="640080" w="10972800">
                <a:moveTo>
                  <a:pt x="0" y="0"/>
                </a:moveTo>
                <a:lnTo>
                  <a:pt x="10972800" y="0"/>
                </a:lnTo>
                <a:lnTo>
                  <a:pt x="10972800" y="640080"/>
                </a:lnTo>
                <a:lnTo>
                  <a:pt x="0" y="64008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83797" l="0" r="0" t="-28380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2" name="Google Shape;252;p4"/>
          <p:cNvGrpSpPr/>
          <p:nvPr/>
        </p:nvGrpSpPr>
        <p:grpSpPr>
          <a:xfrm>
            <a:off x="822960" y="6443662"/>
            <a:ext cx="8229600" cy="551498"/>
            <a:chOff x="0" y="-47625"/>
            <a:chExt cx="10972800" cy="735330"/>
          </a:xfrm>
        </p:grpSpPr>
        <p:sp>
          <p:nvSpPr>
            <p:cNvPr id="253" name="Google Shape;253;p4"/>
            <p:cNvSpPr/>
            <p:nvPr/>
          </p:nvSpPr>
          <p:spPr>
            <a:xfrm>
              <a:off x="0" y="0"/>
              <a:ext cx="10972800" cy="687705"/>
            </a:xfrm>
            <a:custGeom>
              <a:rect b="b" l="l" r="r" t="t"/>
              <a:pathLst>
                <a:path extrusionOk="0" h="687705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87705"/>
                  </a:lnTo>
                  <a:lnTo>
                    <a:pt x="0" y="68770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60907" l="0" r="0" t="-260907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4"/>
            <p:cNvSpPr txBox="1"/>
            <p:nvPr/>
          </p:nvSpPr>
          <p:spPr>
            <a:xfrm>
              <a:off x="0" y="-47625"/>
              <a:ext cx="10972800" cy="735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50">
                  <a:solidFill>
                    <a:srgbClr val="0B2545"/>
                  </a:solidFill>
                  <a:latin typeface="Calibri"/>
                  <a:ea typeface="Calibri"/>
                  <a:cs typeface="Calibri"/>
                  <a:sym typeface="Calibri"/>
                </a:rPr>
                <a:t>Cakupan Kolom Utama</a:t>
              </a:r>
              <a:endParaRPr/>
            </a:p>
          </p:txBody>
        </p:sp>
      </p:grpSp>
      <p:sp>
        <p:nvSpPr>
          <p:cNvPr id="255" name="Google Shape;255;p4"/>
          <p:cNvSpPr/>
          <p:nvPr/>
        </p:nvSpPr>
        <p:spPr>
          <a:xfrm>
            <a:off x="822960" y="7063740"/>
            <a:ext cx="16596360" cy="548640"/>
          </a:xfrm>
          <a:custGeom>
            <a:rect b="b" l="l" r="r" t="t"/>
            <a:pathLst>
              <a:path extrusionOk="0" h="731520" w="22128480">
                <a:moveTo>
                  <a:pt x="0" y="0"/>
                </a:moveTo>
                <a:lnTo>
                  <a:pt x="22128480" y="0"/>
                </a:lnTo>
                <a:lnTo>
                  <a:pt x="22128480" y="731520"/>
                </a:lnTo>
                <a:lnTo>
                  <a:pt x="0" y="7315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539067" l="0" r="0" t="-53906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6" name="Google Shape;256;p4"/>
          <p:cNvGrpSpPr/>
          <p:nvPr/>
        </p:nvGrpSpPr>
        <p:grpSpPr>
          <a:xfrm>
            <a:off x="822960" y="7020878"/>
            <a:ext cx="16596360" cy="591502"/>
            <a:chOff x="0" y="-28575"/>
            <a:chExt cx="22128480" cy="788670"/>
          </a:xfrm>
        </p:grpSpPr>
        <p:sp>
          <p:nvSpPr>
            <p:cNvPr id="257" name="Google Shape;257;p4"/>
            <p:cNvSpPr/>
            <p:nvPr/>
          </p:nvSpPr>
          <p:spPr>
            <a:xfrm>
              <a:off x="0" y="0"/>
              <a:ext cx="22128480" cy="760095"/>
            </a:xfrm>
            <a:custGeom>
              <a:rect b="b" l="l" r="r" t="t"/>
              <a:pathLst>
                <a:path extrusionOk="0" h="76009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60095"/>
                  </a:lnTo>
                  <a:lnTo>
                    <a:pt x="0" y="76009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517279" l="0" r="0" t="-51727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4"/>
            <p:cNvSpPr txBox="1"/>
            <p:nvPr/>
          </p:nvSpPr>
          <p:spPr>
            <a:xfrm>
              <a:off x="0" y="-28575"/>
              <a:ext cx="22128480" cy="7886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B2545"/>
                  </a:solidFill>
                  <a:latin typeface="Calibri"/>
                  <a:ea typeface="Calibri"/>
                  <a:cs typeface="Calibri"/>
                  <a:sym typeface="Calibri"/>
                </a:rPr>
                <a:t>Pesanan &amp; Pelanggan  </a:t>
              </a:r>
              <a:r>
                <a:rPr lang="en-US" sz="1650">
                  <a:solidFill>
                    <a:srgbClr val="5B7387"/>
                  </a:solidFill>
                  <a:latin typeface="Calibri"/>
                  <a:ea typeface="Calibri"/>
                  <a:cs typeface="Calibri"/>
                  <a:sym typeface="Calibri"/>
                </a:rPr>
                <a:t>order_id, order_date, customer_segment, customer_city/country, order_value_usd, customer_rating</a:t>
              </a:r>
              <a:endParaRPr/>
            </a:p>
          </p:txBody>
        </p:sp>
      </p:grpSp>
      <p:sp>
        <p:nvSpPr>
          <p:cNvPr id="259" name="Google Shape;259;p4"/>
          <p:cNvSpPr/>
          <p:nvPr/>
        </p:nvSpPr>
        <p:spPr>
          <a:xfrm>
            <a:off x="822960" y="7639812"/>
            <a:ext cx="16596360" cy="548640"/>
          </a:xfrm>
          <a:custGeom>
            <a:rect b="b" l="l" r="r" t="t"/>
            <a:pathLst>
              <a:path extrusionOk="0" h="731520" w="22128480">
                <a:moveTo>
                  <a:pt x="0" y="0"/>
                </a:moveTo>
                <a:lnTo>
                  <a:pt x="22128480" y="0"/>
                </a:lnTo>
                <a:lnTo>
                  <a:pt x="22128480" y="731520"/>
                </a:lnTo>
                <a:lnTo>
                  <a:pt x="0" y="7315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539067" l="0" r="0" t="-53906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0" name="Google Shape;260;p4"/>
          <p:cNvGrpSpPr/>
          <p:nvPr/>
        </p:nvGrpSpPr>
        <p:grpSpPr>
          <a:xfrm>
            <a:off x="822960" y="7596950"/>
            <a:ext cx="16596360" cy="591502"/>
            <a:chOff x="0" y="-28575"/>
            <a:chExt cx="22128480" cy="788670"/>
          </a:xfrm>
        </p:grpSpPr>
        <p:sp>
          <p:nvSpPr>
            <p:cNvPr id="261" name="Google Shape;261;p4"/>
            <p:cNvSpPr/>
            <p:nvPr/>
          </p:nvSpPr>
          <p:spPr>
            <a:xfrm>
              <a:off x="0" y="0"/>
              <a:ext cx="22128480" cy="760095"/>
            </a:xfrm>
            <a:custGeom>
              <a:rect b="b" l="l" r="r" t="t"/>
              <a:pathLst>
                <a:path extrusionOk="0" h="76009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60095"/>
                  </a:lnTo>
                  <a:lnTo>
                    <a:pt x="0" y="76009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517279" l="0" r="0" t="-51727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4"/>
            <p:cNvSpPr txBox="1"/>
            <p:nvPr/>
          </p:nvSpPr>
          <p:spPr>
            <a:xfrm>
              <a:off x="0" y="-28575"/>
              <a:ext cx="22128480" cy="7886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B2545"/>
                  </a:solidFill>
                  <a:latin typeface="Calibri"/>
                  <a:ea typeface="Calibri"/>
                  <a:cs typeface="Calibri"/>
                  <a:sym typeface="Calibri"/>
                </a:rPr>
                <a:t>Gudang &amp; Produk  </a:t>
              </a:r>
              <a:r>
                <a:rPr lang="en-US" sz="1650">
                  <a:solidFill>
                    <a:srgbClr val="5B7387"/>
                  </a:solidFill>
                  <a:latin typeface="Calibri"/>
                  <a:ea typeface="Calibri"/>
                  <a:cs typeface="Calibri"/>
                  <a:sym typeface="Calibri"/>
                </a:rPr>
                <a:t>warehouse_id, warehouse_city, product_category, product_weight_kg, distance_km</a:t>
              </a:r>
              <a:endParaRPr/>
            </a:p>
          </p:txBody>
        </p:sp>
      </p:grpSp>
      <p:sp>
        <p:nvSpPr>
          <p:cNvPr id="263" name="Google Shape;263;p4"/>
          <p:cNvSpPr/>
          <p:nvPr/>
        </p:nvSpPr>
        <p:spPr>
          <a:xfrm>
            <a:off x="822960" y="8215884"/>
            <a:ext cx="16596360" cy="548640"/>
          </a:xfrm>
          <a:custGeom>
            <a:rect b="b" l="l" r="r" t="t"/>
            <a:pathLst>
              <a:path extrusionOk="0" h="731520" w="22128480">
                <a:moveTo>
                  <a:pt x="0" y="0"/>
                </a:moveTo>
                <a:lnTo>
                  <a:pt x="22128480" y="0"/>
                </a:lnTo>
                <a:lnTo>
                  <a:pt x="22128480" y="731520"/>
                </a:lnTo>
                <a:lnTo>
                  <a:pt x="0" y="7315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539067" l="0" r="0" t="-53906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4" name="Google Shape;264;p4"/>
          <p:cNvGrpSpPr/>
          <p:nvPr/>
        </p:nvGrpSpPr>
        <p:grpSpPr>
          <a:xfrm>
            <a:off x="822960" y="8173022"/>
            <a:ext cx="16596360" cy="591502"/>
            <a:chOff x="0" y="-28575"/>
            <a:chExt cx="22128480" cy="788670"/>
          </a:xfrm>
        </p:grpSpPr>
        <p:sp>
          <p:nvSpPr>
            <p:cNvPr id="265" name="Google Shape;265;p4"/>
            <p:cNvSpPr/>
            <p:nvPr/>
          </p:nvSpPr>
          <p:spPr>
            <a:xfrm>
              <a:off x="0" y="0"/>
              <a:ext cx="22128480" cy="760095"/>
            </a:xfrm>
            <a:custGeom>
              <a:rect b="b" l="l" r="r" t="t"/>
              <a:pathLst>
                <a:path extrusionOk="0" h="76009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60095"/>
                  </a:lnTo>
                  <a:lnTo>
                    <a:pt x="0" y="76009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517279" l="0" r="0" t="-51727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4"/>
            <p:cNvSpPr txBox="1"/>
            <p:nvPr/>
          </p:nvSpPr>
          <p:spPr>
            <a:xfrm>
              <a:off x="0" y="-28575"/>
              <a:ext cx="22128480" cy="7886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B2545"/>
                  </a:solidFill>
                  <a:latin typeface="Calibri"/>
                  <a:ea typeface="Calibri"/>
                  <a:cs typeface="Calibri"/>
                  <a:sym typeface="Calibri"/>
                </a:rPr>
                <a:t>Pengiriman &amp; Carrier  </a:t>
              </a:r>
              <a:r>
                <a:rPr lang="en-US" sz="1650">
                  <a:solidFill>
                    <a:srgbClr val="5B7387"/>
                  </a:solidFill>
                  <a:latin typeface="Calibri"/>
                  <a:ea typeface="Calibri"/>
                  <a:cs typeface="Calibri"/>
                  <a:sym typeface="Calibri"/>
                </a:rPr>
                <a:t>shipping_method, carrier, promised/actual_delivery_days, delivery_delay_days, late_delivery, delivery_status</a:t>
              </a:r>
              <a:endParaRPr/>
            </a:p>
          </p:txBody>
        </p:sp>
      </p:grpSp>
      <p:sp>
        <p:nvSpPr>
          <p:cNvPr id="267" name="Google Shape;267;p4"/>
          <p:cNvSpPr/>
          <p:nvPr/>
        </p:nvSpPr>
        <p:spPr>
          <a:xfrm>
            <a:off x="822960" y="8791956"/>
            <a:ext cx="16596360" cy="548640"/>
          </a:xfrm>
          <a:custGeom>
            <a:rect b="b" l="l" r="r" t="t"/>
            <a:pathLst>
              <a:path extrusionOk="0" h="731520" w="22128480">
                <a:moveTo>
                  <a:pt x="0" y="0"/>
                </a:moveTo>
                <a:lnTo>
                  <a:pt x="22128480" y="0"/>
                </a:lnTo>
                <a:lnTo>
                  <a:pt x="22128480" y="731520"/>
                </a:lnTo>
                <a:lnTo>
                  <a:pt x="0" y="7315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539067" l="0" r="0" t="-53906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8" name="Google Shape;268;p4"/>
          <p:cNvGrpSpPr/>
          <p:nvPr/>
        </p:nvGrpSpPr>
        <p:grpSpPr>
          <a:xfrm>
            <a:off x="822960" y="8749094"/>
            <a:ext cx="16596360" cy="591502"/>
            <a:chOff x="0" y="-28575"/>
            <a:chExt cx="22128480" cy="788670"/>
          </a:xfrm>
        </p:grpSpPr>
        <p:sp>
          <p:nvSpPr>
            <p:cNvPr id="269" name="Google Shape;269;p4"/>
            <p:cNvSpPr/>
            <p:nvPr/>
          </p:nvSpPr>
          <p:spPr>
            <a:xfrm>
              <a:off x="0" y="0"/>
              <a:ext cx="22128480" cy="760095"/>
            </a:xfrm>
            <a:custGeom>
              <a:rect b="b" l="l" r="r" t="t"/>
              <a:pathLst>
                <a:path extrusionOk="0" h="76009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60095"/>
                  </a:lnTo>
                  <a:lnTo>
                    <a:pt x="0" y="76009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517279" l="0" r="0" t="-51727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4"/>
            <p:cNvSpPr txBox="1"/>
            <p:nvPr/>
          </p:nvSpPr>
          <p:spPr>
            <a:xfrm>
              <a:off x="0" y="-28575"/>
              <a:ext cx="22128480" cy="7886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B2545"/>
                  </a:solidFill>
                  <a:latin typeface="Calibri"/>
                  <a:ea typeface="Calibri"/>
                  <a:cs typeface="Calibri"/>
                  <a:sym typeface="Calibri"/>
                </a:rPr>
                <a:t>Konteks &amp; Retur  </a:t>
              </a:r>
              <a:r>
                <a:rPr lang="en-US" sz="1650">
                  <a:solidFill>
                    <a:srgbClr val="5B7387"/>
                  </a:solidFill>
                  <a:latin typeface="Calibri"/>
                  <a:ea typeface="Calibri"/>
                  <a:cs typeface="Calibri"/>
                  <a:sym typeface="Calibri"/>
                </a:rPr>
                <a:t>weather_condition, tracking_status, return_requested, return_reason</a:t>
              </a:r>
              <a:endParaRPr/>
            </a:p>
          </p:txBody>
        </p:sp>
      </p:grpSp>
      <p:sp>
        <p:nvSpPr>
          <p:cNvPr id="271" name="Google Shape;271;p4"/>
          <p:cNvSpPr/>
          <p:nvPr/>
        </p:nvSpPr>
        <p:spPr>
          <a:xfrm>
            <a:off x="685800" y="9765792"/>
            <a:ext cx="10972800" cy="411480"/>
          </a:xfrm>
          <a:custGeom>
            <a:rect b="b" l="l" r="r" t="t"/>
            <a:pathLst>
              <a:path extrusionOk="0" h="548640" w="14630400">
                <a:moveTo>
                  <a:pt x="0" y="0"/>
                </a:moveTo>
                <a:lnTo>
                  <a:pt x="14630400" y="0"/>
                </a:lnTo>
                <a:lnTo>
                  <a:pt x="14630400" y="548640"/>
                </a:lnTo>
                <a:lnTo>
                  <a:pt x="0" y="54864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469211" l="0" r="0" t="-46921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2" name="Google Shape;272;p4"/>
          <p:cNvGrpSpPr/>
          <p:nvPr/>
        </p:nvGrpSpPr>
        <p:grpSpPr>
          <a:xfrm>
            <a:off x="685800" y="9722930"/>
            <a:ext cx="10972800" cy="454342"/>
            <a:chOff x="0" y="-28575"/>
            <a:chExt cx="14630400" cy="605790"/>
          </a:xfrm>
        </p:grpSpPr>
        <p:sp>
          <p:nvSpPr>
            <p:cNvPr id="273" name="Google Shape;273;p4"/>
            <p:cNvSpPr/>
            <p:nvPr/>
          </p:nvSpPr>
          <p:spPr>
            <a:xfrm>
              <a:off x="0" y="0"/>
              <a:ext cx="14630400" cy="577215"/>
            </a:xfrm>
            <a:custGeom>
              <a:rect b="b" l="l" r="r" t="t"/>
              <a:pathLst>
                <a:path extrusionOk="0" h="577215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77215"/>
                  </a:lnTo>
                  <a:lnTo>
                    <a:pt x="0" y="57721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443876" l="0" r="0" t="-44387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4"/>
            <p:cNvSpPr txBox="1"/>
            <p:nvPr/>
          </p:nvSpPr>
          <p:spPr>
            <a:xfrm>
              <a:off x="0" y="-28575"/>
              <a:ext cx="14630400" cy="6057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5B7387"/>
                  </a:solidFill>
                  <a:latin typeface="Calibri"/>
                  <a:ea typeface="Calibri"/>
                  <a:cs typeface="Calibri"/>
                  <a:sym typeface="Calibri"/>
                </a:rPr>
                <a:t>E-Commerce Delivery Performance &amp; Revenue Risk</a:t>
              </a:r>
              <a:endParaRPr/>
            </a:p>
          </p:txBody>
        </p:sp>
      </p:grpSp>
      <p:sp>
        <p:nvSpPr>
          <p:cNvPr id="275" name="Google Shape;275;p4"/>
          <p:cNvSpPr/>
          <p:nvPr/>
        </p:nvSpPr>
        <p:spPr>
          <a:xfrm>
            <a:off x="17186148" y="9765792"/>
            <a:ext cx="548640" cy="411480"/>
          </a:xfrm>
          <a:custGeom>
            <a:rect b="b" l="l" r="r" t="t"/>
            <a:pathLst>
              <a:path extrusionOk="0" h="548640" w="731520">
                <a:moveTo>
                  <a:pt x="0" y="0"/>
                </a:moveTo>
                <a:lnTo>
                  <a:pt x="731520" y="0"/>
                </a:lnTo>
                <a:lnTo>
                  <a:pt x="731520" y="548640"/>
                </a:lnTo>
                <a:lnTo>
                  <a:pt x="0" y="54864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0" l="-46294" r="-46292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4"/>
          <p:cNvSpPr txBox="1"/>
          <p:nvPr/>
        </p:nvSpPr>
        <p:spPr>
          <a:xfrm>
            <a:off x="1028700" y="2855471"/>
            <a:ext cx="2475738" cy="66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50.000</a:t>
            </a:r>
            <a:endParaRPr/>
          </a:p>
        </p:txBody>
      </p:sp>
      <p:sp>
        <p:nvSpPr>
          <p:cNvPr id="277" name="Google Shape;277;p4"/>
          <p:cNvSpPr txBox="1"/>
          <p:nvPr/>
        </p:nvSpPr>
        <p:spPr>
          <a:xfrm>
            <a:off x="6702552" y="2764279"/>
            <a:ext cx="2475738" cy="66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37</a:t>
            </a:r>
            <a:endParaRPr/>
          </a:p>
        </p:txBody>
      </p:sp>
      <p:sp>
        <p:nvSpPr>
          <p:cNvPr id="278" name="Google Shape;278;p4"/>
          <p:cNvSpPr txBox="1"/>
          <p:nvPr/>
        </p:nvSpPr>
        <p:spPr>
          <a:xfrm>
            <a:off x="12376404" y="2673096"/>
            <a:ext cx="2475738" cy="66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10</a:t>
            </a:r>
            <a:endParaRPr/>
          </a:p>
        </p:txBody>
      </p:sp>
      <p:sp>
        <p:nvSpPr>
          <p:cNvPr id="279" name="Google Shape;279;p4"/>
          <p:cNvSpPr txBox="1"/>
          <p:nvPr/>
        </p:nvSpPr>
        <p:spPr>
          <a:xfrm>
            <a:off x="1078992" y="4991100"/>
            <a:ext cx="2475738" cy="66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8</a:t>
            </a:r>
            <a:endParaRPr/>
          </a:p>
        </p:txBody>
      </p:sp>
      <p:sp>
        <p:nvSpPr>
          <p:cNvPr id="280" name="Google Shape;280;p4"/>
          <p:cNvSpPr txBox="1"/>
          <p:nvPr/>
        </p:nvSpPr>
        <p:spPr>
          <a:xfrm>
            <a:off x="6702552" y="4861560"/>
            <a:ext cx="2475738" cy="66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endParaRPr/>
          </a:p>
        </p:txBody>
      </p:sp>
      <p:sp>
        <p:nvSpPr>
          <p:cNvPr id="281" name="Google Shape;281;p4"/>
          <p:cNvSpPr txBox="1"/>
          <p:nvPr/>
        </p:nvSpPr>
        <p:spPr>
          <a:xfrm>
            <a:off x="12326112" y="4732020"/>
            <a:ext cx="4187266" cy="66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Jan-Des 2026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" name="Google Shape;286;p5"/>
          <p:cNvGrpSpPr/>
          <p:nvPr/>
        </p:nvGrpSpPr>
        <p:grpSpPr>
          <a:xfrm>
            <a:off x="822960" y="588645"/>
            <a:ext cx="10972800" cy="508635"/>
            <a:chOff x="0" y="-38100"/>
            <a:chExt cx="14630400" cy="678180"/>
          </a:xfrm>
        </p:grpSpPr>
        <p:sp>
          <p:nvSpPr>
            <p:cNvPr id="287" name="Google Shape;287;p5"/>
            <p:cNvSpPr/>
            <p:nvPr/>
          </p:nvSpPr>
          <p:spPr>
            <a:xfrm>
              <a:off x="0" y="0"/>
              <a:ext cx="14630400" cy="640080"/>
            </a:xfrm>
            <a:custGeom>
              <a:rect b="b" l="l" r="r" t="t"/>
              <a:pathLst>
                <a:path extrusionOk="0"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95395" l="0" r="0" t="-39539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5"/>
            <p:cNvSpPr txBox="1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pc="300" sz="1800">
                  <a:solidFill>
                    <a:srgbClr val="1C7293"/>
                  </a:solidFill>
                  <a:latin typeface="Calibri"/>
                  <a:ea typeface="Calibri"/>
                  <a:cs typeface="Calibri"/>
                  <a:sym typeface="Calibri"/>
                </a:rPr>
                <a:t>EXECUTIVE SUMMARY</a:t>
              </a:r>
              <a:endParaRPr/>
            </a:p>
          </p:txBody>
        </p:sp>
      </p:grpSp>
      <p:grpSp>
        <p:nvGrpSpPr>
          <p:cNvPr id="289" name="Google Shape;289;p5"/>
          <p:cNvGrpSpPr/>
          <p:nvPr/>
        </p:nvGrpSpPr>
        <p:grpSpPr>
          <a:xfrm>
            <a:off x="822960" y="1055561"/>
            <a:ext cx="16184880" cy="1111568"/>
            <a:chOff x="0" y="-19050"/>
            <a:chExt cx="21579840" cy="1482090"/>
          </a:xfrm>
        </p:grpSpPr>
        <p:sp>
          <p:nvSpPr>
            <p:cNvPr id="290" name="Google Shape;290;p5"/>
            <p:cNvSpPr/>
            <p:nvPr/>
          </p:nvSpPr>
          <p:spPr>
            <a:xfrm>
              <a:off x="0" y="0"/>
              <a:ext cx="21579839" cy="1463040"/>
            </a:xfrm>
            <a:custGeom>
              <a:rect b="b" l="l" r="r" t="t"/>
              <a:pathLst>
                <a:path extrusionOk="0" h="146304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37389" l="0" r="0" t="-23738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5"/>
            <p:cNvSpPr txBox="1"/>
            <p:nvPr/>
          </p:nvSpPr>
          <p:spPr>
            <a:xfrm>
              <a:off x="0" y="-19050"/>
              <a:ext cx="21579840" cy="1482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00">
                  <a:solidFill>
                    <a:srgbClr val="0B2545"/>
                  </a:solidFill>
                  <a:latin typeface="Cambria"/>
                  <a:ea typeface="Cambria"/>
                  <a:cs typeface="Cambria"/>
                  <a:sym typeface="Cambria"/>
                </a:rPr>
                <a:t>Ringkasan Kinerja (KPI Snapshot)</a:t>
              </a:r>
              <a:endParaRPr/>
            </a:p>
          </p:txBody>
        </p:sp>
      </p:grpSp>
      <p:grpSp>
        <p:nvGrpSpPr>
          <p:cNvPr id="292" name="Google Shape;292;p5"/>
          <p:cNvGrpSpPr/>
          <p:nvPr/>
        </p:nvGrpSpPr>
        <p:grpSpPr>
          <a:xfrm>
            <a:off x="741473" y="8391833"/>
            <a:ext cx="16596360" cy="714375"/>
            <a:chOff x="0" y="-38100"/>
            <a:chExt cx="22128480" cy="952500"/>
          </a:xfrm>
        </p:grpSpPr>
        <p:sp>
          <p:nvSpPr>
            <p:cNvPr id="293" name="Google Shape;293;p5"/>
            <p:cNvSpPr/>
            <p:nvPr/>
          </p:nvSpPr>
          <p:spPr>
            <a:xfrm>
              <a:off x="0" y="0"/>
              <a:ext cx="22128480" cy="914400"/>
            </a:xfrm>
            <a:custGeom>
              <a:rect b="b" l="l" r="r" t="t"/>
              <a:pathLst>
                <a:path extrusionOk="0" h="91440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21520" l="0" r="0" t="-42152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5"/>
            <p:cNvSpPr txBox="1"/>
            <p:nvPr/>
          </p:nvSpPr>
          <p:spPr>
            <a:xfrm>
              <a:off x="0" y="-38100"/>
              <a:ext cx="2212848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75">
                  <a:solidFill>
                    <a:srgbClr val="0B2545"/>
                  </a:solidFill>
                  <a:latin typeface="Calibri"/>
                  <a:ea typeface="Calibri"/>
                  <a:cs typeface="Calibri"/>
                  <a:sym typeface="Calibri"/>
                </a:rPr>
                <a:t>Lebih dari separuh pesanan (56%) tiba melebihi janji waktu — ini adalah akar masalah yang berdampak berantai ke rating dan retur.</a:t>
              </a:r>
              <a:endParaRPr/>
            </a:p>
          </p:txBody>
        </p:sp>
      </p:grpSp>
      <p:grpSp>
        <p:nvGrpSpPr>
          <p:cNvPr id="295" name="Google Shape;295;p5"/>
          <p:cNvGrpSpPr/>
          <p:nvPr/>
        </p:nvGrpSpPr>
        <p:grpSpPr>
          <a:xfrm>
            <a:off x="685800" y="9744361"/>
            <a:ext cx="10972800" cy="432911"/>
            <a:chOff x="0" y="-28575"/>
            <a:chExt cx="14630400" cy="577215"/>
          </a:xfrm>
        </p:grpSpPr>
        <p:sp>
          <p:nvSpPr>
            <p:cNvPr id="296" name="Google Shape;296;p5"/>
            <p:cNvSpPr/>
            <p:nvPr/>
          </p:nvSpPr>
          <p:spPr>
            <a:xfrm>
              <a:off x="0" y="0"/>
              <a:ext cx="14630400" cy="548640"/>
            </a:xfrm>
            <a:custGeom>
              <a:rect b="b" l="l" r="r" t="t"/>
              <a:pathLst>
                <a:path extrusionOk="0"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69642" l="0" r="0" t="-46964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5"/>
            <p:cNvSpPr txBox="1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5B7387"/>
                  </a:solidFill>
                  <a:latin typeface="Calibri"/>
                  <a:ea typeface="Calibri"/>
                  <a:cs typeface="Calibri"/>
                  <a:sym typeface="Calibri"/>
                </a:rPr>
                <a:t>E-Commerce Delivery Performance &amp; Revenue Risk</a:t>
              </a:r>
              <a:endParaRPr/>
            </a:p>
          </p:txBody>
        </p:sp>
      </p:grpSp>
      <p:grpSp>
        <p:nvGrpSpPr>
          <p:cNvPr id="298" name="Google Shape;298;p5"/>
          <p:cNvGrpSpPr/>
          <p:nvPr/>
        </p:nvGrpSpPr>
        <p:grpSpPr>
          <a:xfrm>
            <a:off x="6496050" y="2509456"/>
            <a:ext cx="5299710" cy="2419350"/>
            <a:chOff x="0" y="0"/>
            <a:chExt cx="7066280" cy="3225800"/>
          </a:xfrm>
        </p:grpSpPr>
        <p:sp>
          <p:nvSpPr>
            <p:cNvPr id="299" name="Google Shape;299;p5"/>
            <p:cNvSpPr/>
            <p:nvPr/>
          </p:nvSpPr>
          <p:spPr>
            <a:xfrm>
              <a:off x="0" y="0"/>
              <a:ext cx="7066280" cy="3225800"/>
            </a:xfrm>
            <a:custGeom>
              <a:rect b="b" l="l" r="r" t="t"/>
              <a:pathLst>
                <a:path extrusionOk="0" h="3225800" w="7066280">
                  <a:moveTo>
                    <a:pt x="0" y="184277"/>
                  </a:moveTo>
                  <a:cubicBezTo>
                    <a:pt x="0" y="82550"/>
                    <a:pt x="82550" y="0"/>
                    <a:pt x="184277" y="0"/>
                  </a:cubicBezTo>
                  <a:lnTo>
                    <a:pt x="6882003" y="0"/>
                  </a:lnTo>
                  <a:cubicBezTo>
                    <a:pt x="6983857" y="0"/>
                    <a:pt x="7066280" y="82550"/>
                    <a:pt x="7066280" y="184277"/>
                  </a:cubicBezTo>
                  <a:lnTo>
                    <a:pt x="7066280" y="3041523"/>
                  </a:lnTo>
                  <a:cubicBezTo>
                    <a:pt x="7066280" y="3143377"/>
                    <a:pt x="6983730" y="3225800"/>
                    <a:pt x="6882003" y="3225800"/>
                  </a:cubicBezTo>
                  <a:lnTo>
                    <a:pt x="184277" y="3225800"/>
                  </a:lnTo>
                  <a:cubicBezTo>
                    <a:pt x="82550" y="3225800"/>
                    <a:pt x="0" y="3143250"/>
                    <a:pt x="0" y="3041523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E3EAF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5"/>
            <p:cNvSpPr/>
            <p:nvPr/>
          </p:nvSpPr>
          <p:spPr>
            <a:xfrm>
              <a:off x="524764" y="451612"/>
              <a:ext cx="292608" cy="292608"/>
            </a:xfrm>
            <a:custGeom>
              <a:rect b="b" l="l" r="r" t="t"/>
              <a:pathLst>
                <a:path extrusionOk="0"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D6454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5"/>
            <p:cNvSpPr txBox="1"/>
            <p:nvPr/>
          </p:nvSpPr>
          <p:spPr>
            <a:xfrm>
              <a:off x="683260" y="1864360"/>
              <a:ext cx="5882640" cy="7188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16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25">
                  <a:solidFill>
                    <a:srgbClr val="5B7387"/>
                  </a:solidFill>
                  <a:latin typeface="Calibri"/>
                  <a:ea typeface="Calibri"/>
                  <a:cs typeface="Calibri"/>
                  <a:sym typeface="Calibri"/>
                </a:rPr>
                <a:t>Late Rate</a:t>
              </a:r>
              <a:endParaRPr/>
            </a:p>
            <a:p>
              <a:pPr indent="0" lvl="0" marL="0" marR="0" rtl="0" algn="l">
                <a:lnSpc>
                  <a:spcPct val="1216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25">
                  <a:solidFill>
                    <a:srgbClr val="5B7387"/>
                  </a:solidFill>
                  <a:latin typeface="Calibri"/>
                  <a:ea typeface="Calibri"/>
                  <a:cs typeface="Calibri"/>
                  <a:sym typeface="Calibri"/>
                </a:rPr>
                <a:t>(pesanan terlambat)</a:t>
              </a:r>
              <a:endParaRPr/>
            </a:p>
          </p:txBody>
        </p:sp>
        <p:sp>
          <p:nvSpPr>
            <p:cNvPr id="302" name="Google Shape;302;p5"/>
            <p:cNvSpPr txBox="1"/>
            <p:nvPr/>
          </p:nvSpPr>
          <p:spPr>
            <a:xfrm>
              <a:off x="1018540" y="452332"/>
              <a:ext cx="3149402" cy="11605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19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56,32%</a:t>
              </a:r>
              <a:endParaRPr/>
            </a:p>
          </p:txBody>
        </p:sp>
      </p:grpSp>
      <p:grpSp>
        <p:nvGrpSpPr>
          <p:cNvPr id="303" name="Google Shape;303;p5"/>
          <p:cNvGrpSpPr/>
          <p:nvPr/>
        </p:nvGrpSpPr>
        <p:grpSpPr>
          <a:xfrm>
            <a:off x="12252960" y="2544626"/>
            <a:ext cx="5299710" cy="2419350"/>
            <a:chOff x="0" y="0"/>
            <a:chExt cx="7066280" cy="3225800"/>
          </a:xfrm>
        </p:grpSpPr>
        <p:sp>
          <p:nvSpPr>
            <p:cNvPr id="304" name="Google Shape;304;p5"/>
            <p:cNvSpPr/>
            <p:nvPr/>
          </p:nvSpPr>
          <p:spPr>
            <a:xfrm>
              <a:off x="0" y="0"/>
              <a:ext cx="7066280" cy="3225800"/>
            </a:xfrm>
            <a:custGeom>
              <a:rect b="b" l="l" r="r" t="t"/>
              <a:pathLst>
                <a:path extrusionOk="0" h="3225800" w="7066280">
                  <a:moveTo>
                    <a:pt x="0" y="184277"/>
                  </a:moveTo>
                  <a:cubicBezTo>
                    <a:pt x="0" y="82550"/>
                    <a:pt x="82550" y="0"/>
                    <a:pt x="184277" y="0"/>
                  </a:cubicBezTo>
                  <a:lnTo>
                    <a:pt x="6882003" y="0"/>
                  </a:lnTo>
                  <a:cubicBezTo>
                    <a:pt x="6983857" y="0"/>
                    <a:pt x="7066280" y="82550"/>
                    <a:pt x="7066280" y="184277"/>
                  </a:cubicBezTo>
                  <a:lnTo>
                    <a:pt x="7066280" y="3041523"/>
                  </a:lnTo>
                  <a:cubicBezTo>
                    <a:pt x="7066280" y="3143377"/>
                    <a:pt x="6983730" y="3225800"/>
                    <a:pt x="6882003" y="3225800"/>
                  </a:cubicBezTo>
                  <a:lnTo>
                    <a:pt x="184277" y="3225800"/>
                  </a:lnTo>
                  <a:cubicBezTo>
                    <a:pt x="82550" y="3225800"/>
                    <a:pt x="0" y="3143250"/>
                    <a:pt x="0" y="3041523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E3EAF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5"/>
            <p:cNvSpPr/>
            <p:nvPr/>
          </p:nvSpPr>
          <p:spPr>
            <a:xfrm>
              <a:off x="524764" y="451612"/>
              <a:ext cx="292608" cy="292608"/>
            </a:xfrm>
            <a:custGeom>
              <a:rect b="b" l="l" r="r" t="t"/>
              <a:pathLst>
                <a:path extrusionOk="0"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E1A83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5"/>
            <p:cNvSpPr txBox="1"/>
            <p:nvPr/>
          </p:nvSpPr>
          <p:spPr>
            <a:xfrm>
              <a:off x="683260" y="1864360"/>
              <a:ext cx="5882640" cy="10134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16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25">
                  <a:solidFill>
                    <a:srgbClr val="5B7387"/>
                  </a:solidFill>
                  <a:latin typeface="Calibri"/>
                  <a:ea typeface="Calibri"/>
                  <a:cs typeface="Calibri"/>
                  <a:sym typeface="Calibri"/>
                </a:rPr>
                <a:t>Rata-rata Keterlambatan</a:t>
              </a:r>
              <a:endParaRPr/>
            </a:p>
          </p:txBody>
        </p:sp>
        <p:sp>
          <p:nvSpPr>
            <p:cNvPr id="307" name="Google Shape;307;p5"/>
            <p:cNvSpPr txBox="1"/>
            <p:nvPr/>
          </p:nvSpPr>
          <p:spPr>
            <a:xfrm>
              <a:off x="1223784" y="533950"/>
              <a:ext cx="3642519" cy="11605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19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1,28 hari</a:t>
              </a:r>
              <a:endParaRPr/>
            </a:p>
          </p:txBody>
        </p:sp>
      </p:grpSp>
      <p:grpSp>
        <p:nvGrpSpPr>
          <p:cNvPr id="308" name="Google Shape;308;p5"/>
          <p:cNvGrpSpPr/>
          <p:nvPr/>
        </p:nvGrpSpPr>
        <p:grpSpPr>
          <a:xfrm>
            <a:off x="741473" y="5341473"/>
            <a:ext cx="5299710" cy="2419350"/>
            <a:chOff x="0" y="0"/>
            <a:chExt cx="7066280" cy="3225800"/>
          </a:xfrm>
        </p:grpSpPr>
        <p:sp>
          <p:nvSpPr>
            <p:cNvPr id="309" name="Google Shape;309;p5"/>
            <p:cNvSpPr/>
            <p:nvPr/>
          </p:nvSpPr>
          <p:spPr>
            <a:xfrm>
              <a:off x="0" y="0"/>
              <a:ext cx="7066280" cy="3225800"/>
            </a:xfrm>
            <a:custGeom>
              <a:rect b="b" l="l" r="r" t="t"/>
              <a:pathLst>
                <a:path extrusionOk="0" h="3225800" w="7066280">
                  <a:moveTo>
                    <a:pt x="0" y="184277"/>
                  </a:moveTo>
                  <a:cubicBezTo>
                    <a:pt x="0" y="82550"/>
                    <a:pt x="82550" y="0"/>
                    <a:pt x="184277" y="0"/>
                  </a:cubicBezTo>
                  <a:lnTo>
                    <a:pt x="6882003" y="0"/>
                  </a:lnTo>
                  <a:cubicBezTo>
                    <a:pt x="6983857" y="0"/>
                    <a:pt x="7066280" y="82550"/>
                    <a:pt x="7066280" y="184277"/>
                  </a:cubicBezTo>
                  <a:lnTo>
                    <a:pt x="7066280" y="3041523"/>
                  </a:lnTo>
                  <a:cubicBezTo>
                    <a:pt x="7066280" y="3143377"/>
                    <a:pt x="6983730" y="3225800"/>
                    <a:pt x="6882003" y="3225800"/>
                  </a:cubicBezTo>
                  <a:lnTo>
                    <a:pt x="184277" y="3225800"/>
                  </a:lnTo>
                  <a:cubicBezTo>
                    <a:pt x="82550" y="3225800"/>
                    <a:pt x="0" y="3143250"/>
                    <a:pt x="0" y="3041523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E3EAF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5"/>
            <p:cNvSpPr/>
            <p:nvPr/>
          </p:nvSpPr>
          <p:spPr>
            <a:xfrm>
              <a:off x="524764" y="451612"/>
              <a:ext cx="292608" cy="292608"/>
            </a:xfrm>
            <a:custGeom>
              <a:rect b="b" l="l" r="r" t="t"/>
              <a:pathLst>
                <a:path extrusionOk="0"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B254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5"/>
            <p:cNvSpPr txBox="1"/>
            <p:nvPr/>
          </p:nvSpPr>
          <p:spPr>
            <a:xfrm>
              <a:off x="683260" y="1864360"/>
              <a:ext cx="5882640" cy="10134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16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25">
                  <a:solidFill>
                    <a:srgbClr val="5B7387"/>
                  </a:solidFill>
                  <a:latin typeface="Calibri"/>
                  <a:ea typeface="Calibri"/>
                  <a:cs typeface="Calibri"/>
                  <a:sym typeface="Calibri"/>
                </a:rPr>
                <a:t>Rata-rata Rating Pelanggan</a:t>
              </a:r>
              <a:endParaRPr/>
            </a:p>
          </p:txBody>
        </p:sp>
        <p:sp>
          <p:nvSpPr>
            <p:cNvPr id="312" name="Google Shape;312;p5"/>
            <p:cNvSpPr txBox="1"/>
            <p:nvPr/>
          </p:nvSpPr>
          <p:spPr>
            <a:xfrm>
              <a:off x="1229674" y="533950"/>
              <a:ext cx="2735262" cy="11605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19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3,37/5</a:t>
              </a:r>
              <a:endParaRPr/>
            </a:p>
          </p:txBody>
        </p:sp>
      </p:grpSp>
      <p:grpSp>
        <p:nvGrpSpPr>
          <p:cNvPr id="313" name="Google Shape;313;p5"/>
          <p:cNvGrpSpPr/>
          <p:nvPr/>
        </p:nvGrpSpPr>
        <p:grpSpPr>
          <a:xfrm>
            <a:off x="6496050" y="5341473"/>
            <a:ext cx="5299710" cy="2419350"/>
            <a:chOff x="0" y="0"/>
            <a:chExt cx="7066280" cy="3225800"/>
          </a:xfrm>
        </p:grpSpPr>
        <p:sp>
          <p:nvSpPr>
            <p:cNvPr id="314" name="Google Shape;314;p5"/>
            <p:cNvSpPr/>
            <p:nvPr/>
          </p:nvSpPr>
          <p:spPr>
            <a:xfrm>
              <a:off x="0" y="0"/>
              <a:ext cx="7066280" cy="3225800"/>
            </a:xfrm>
            <a:custGeom>
              <a:rect b="b" l="l" r="r" t="t"/>
              <a:pathLst>
                <a:path extrusionOk="0" h="3225800" w="7066280">
                  <a:moveTo>
                    <a:pt x="0" y="184277"/>
                  </a:moveTo>
                  <a:cubicBezTo>
                    <a:pt x="0" y="82550"/>
                    <a:pt x="82550" y="0"/>
                    <a:pt x="184277" y="0"/>
                  </a:cubicBezTo>
                  <a:lnTo>
                    <a:pt x="6882003" y="0"/>
                  </a:lnTo>
                  <a:cubicBezTo>
                    <a:pt x="6983857" y="0"/>
                    <a:pt x="7066280" y="82550"/>
                    <a:pt x="7066280" y="184277"/>
                  </a:cubicBezTo>
                  <a:lnTo>
                    <a:pt x="7066280" y="3041523"/>
                  </a:lnTo>
                  <a:cubicBezTo>
                    <a:pt x="7066280" y="3143377"/>
                    <a:pt x="6983730" y="3225800"/>
                    <a:pt x="6882003" y="3225800"/>
                  </a:cubicBezTo>
                  <a:lnTo>
                    <a:pt x="184277" y="3225800"/>
                  </a:lnTo>
                  <a:cubicBezTo>
                    <a:pt x="82550" y="3225800"/>
                    <a:pt x="0" y="3143250"/>
                    <a:pt x="0" y="3041523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E3EAF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5"/>
            <p:cNvSpPr/>
            <p:nvPr/>
          </p:nvSpPr>
          <p:spPr>
            <a:xfrm>
              <a:off x="524764" y="451612"/>
              <a:ext cx="292608" cy="292608"/>
            </a:xfrm>
            <a:custGeom>
              <a:rect b="b" l="l" r="r" t="t"/>
              <a:pathLst>
                <a:path extrusionOk="0"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B23A3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5"/>
            <p:cNvSpPr txBox="1"/>
            <p:nvPr/>
          </p:nvSpPr>
          <p:spPr>
            <a:xfrm>
              <a:off x="683260" y="1864360"/>
              <a:ext cx="5882700" cy="101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16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25">
                  <a:solidFill>
                    <a:srgbClr val="5B7387"/>
                  </a:solidFill>
                  <a:latin typeface="Calibri"/>
                  <a:ea typeface="Calibri"/>
                  <a:cs typeface="Calibri"/>
                  <a:sym typeface="Calibri"/>
                </a:rPr>
                <a:t>Return Rate</a:t>
              </a:r>
              <a:endParaRPr/>
            </a:p>
          </p:txBody>
        </p:sp>
        <p:sp>
          <p:nvSpPr>
            <p:cNvPr id="317" name="Google Shape;317;p5"/>
            <p:cNvSpPr txBox="1"/>
            <p:nvPr/>
          </p:nvSpPr>
          <p:spPr>
            <a:xfrm>
              <a:off x="1018540" y="504825"/>
              <a:ext cx="3149400" cy="116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19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17,25%</a:t>
              </a:r>
              <a:endParaRPr/>
            </a:p>
          </p:txBody>
        </p:sp>
      </p:grpSp>
      <p:grpSp>
        <p:nvGrpSpPr>
          <p:cNvPr id="318" name="Google Shape;318;p5"/>
          <p:cNvGrpSpPr/>
          <p:nvPr/>
        </p:nvGrpSpPr>
        <p:grpSpPr>
          <a:xfrm>
            <a:off x="12252960" y="5341473"/>
            <a:ext cx="5299710" cy="2419350"/>
            <a:chOff x="0" y="0"/>
            <a:chExt cx="7066280" cy="3225800"/>
          </a:xfrm>
        </p:grpSpPr>
        <p:sp>
          <p:nvSpPr>
            <p:cNvPr id="319" name="Google Shape;319;p5"/>
            <p:cNvSpPr/>
            <p:nvPr/>
          </p:nvSpPr>
          <p:spPr>
            <a:xfrm>
              <a:off x="0" y="0"/>
              <a:ext cx="7066280" cy="3225800"/>
            </a:xfrm>
            <a:custGeom>
              <a:rect b="b" l="l" r="r" t="t"/>
              <a:pathLst>
                <a:path extrusionOk="0" h="3225800" w="7066280">
                  <a:moveTo>
                    <a:pt x="0" y="184277"/>
                  </a:moveTo>
                  <a:cubicBezTo>
                    <a:pt x="0" y="82550"/>
                    <a:pt x="82550" y="0"/>
                    <a:pt x="184277" y="0"/>
                  </a:cubicBezTo>
                  <a:lnTo>
                    <a:pt x="6882003" y="0"/>
                  </a:lnTo>
                  <a:cubicBezTo>
                    <a:pt x="6983857" y="0"/>
                    <a:pt x="7066280" y="82550"/>
                    <a:pt x="7066280" y="184277"/>
                  </a:cubicBezTo>
                  <a:lnTo>
                    <a:pt x="7066280" y="3041523"/>
                  </a:lnTo>
                  <a:cubicBezTo>
                    <a:pt x="7066280" y="3143377"/>
                    <a:pt x="6983730" y="3225800"/>
                    <a:pt x="6882003" y="3225800"/>
                  </a:cubicBezTo>
                  <a:lnTo>
                    <a:pt x="184277" y="3225800"/>
                  </a:lnTo>
                  <a:cubicBezTo>
                    <a:pt x="82550" y="3225800"/>
                    <a:pt x="0" y="3143250"/>
                    <a:pt x="0" y="3041523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E3EAF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5"/>
            <p:cNvSpPr/>
            <p:nvPr/>
          </p:nvSpPr>
          <p:spPr>
            <a:xfrm>
              <a:off x="524764" y="451612"/>
              <a:ext cx="292608" cy="292608"/>
            </a:xfrm>
            <a:custGeom>
              <a:rect b="b" l="l" r="r" t="t"/>
              <a:pathLst>
                <a:path extrusionOk="0"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D6454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5"/>
            <p:cNvSpPr txBox="1"/>
            <p:nvPr/>
          </p:nvSpPr>
          <p:spPr>
            <a:xfrm>
              <a:off x="683260" y="1864360"/>
              <a:ext cx="5882640" cy="10134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16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25">
                  <a:solidFill>
                    <a:srgbClr val="5B7387"/>
                  </a:solidFill>
                  <a:latin typeface="Calibri"/>
                  <a:ea typeface="Calibri"/>
                  <a:cs typeface="Calibri"/>
                  <a:sym typeface="Calibri"/>
                </a:rPr>
                <a:t>Nilai Retur Akibat Keterlambatan</a:t>
              </a:r>
              <a:endParaRPr/>
            </a:p>
          </p:txBody>
        </p:sp>
        <p:sp>
          <p:nvSpPr>
            <p:cNvPr id="322" name="Google Shape;322;p5"/>
            <p:cNvSpPr txBox="1"/>
            <p:nvPr/>
          </p:nvSpPr>
          <p:spPr>
            <a:xfrm>
              <a:off x="1549023" y="346837"/>
              <a:ext cx="2992041" cy="11605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19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$1,17M</a:t>
              </a:r>
              <a:endParaRPr/>
            </a:p>
          </p:txBody>
        </p:sp>
      </p:grpSp>
      <p:grpSp>
        <p:nvGrpSpPr>
          <p:cNvPr id="323" name="Google Shape;323;p5"/>
          <p:cNvGrpSpPr/>
          <p:nvPr/>
        </p:nvGrpSpPr>
        <p:grpSpPr>
          <a:xfrm>
            <a:off x="822960" y="2509456"/>
            <a:ext cx="5299710" cy="2419350"/>
            <a:chOff x="0" y="0"/>
            <a:chExt cx="7066280" cy="3225800"/>
          </a:xfrm>
        </p:grpSpPr>
        <p:sp>
          <p:nvSpPr>
            <p:cNvPr id="324" name="Google Shape;324;p5"/>
            <p:cNvSpPr/>
            <p:nvPr/>
          </p:nvSpPr>
          <p:spPr>
            <a:xfrm>
              <a:off x="0" y="0"/>
              <a:ext cx="7066280" cy="3225800"/>
            </a:xfrm>
            <a:custGeom>
              <a:rect b="b" l="l" r="r" t="t"/>
              <a:pathLst>
                <a:path extrusionOk="0" h="3225800" w="7066280">
                  <a:moveTo>
                    <a:pt x="0" y="184277"/>
                  </a:moveTo>
                  <a:cubicBezTo>
                    <a:pt x="0" y="82550"/>
                    <a:pt x="82550" y="0"/>
                    <a:pt x="184277" y="0"/>
                  </a:cubicBezTo>
                  <a:lnTo>
                    <a:pt x="6882003" y="0"/>
                  </a:lnTo>
                  <a:cubicBezTo>
                    <a:pt x="6983857" y="0"/>
                    <a:pt x="7066280" y="82550"/>
                    <a:pt x="7066280" y="184277"/>
                  </a:cubicBezTo>
                  <a:lnTo>
                    <a:pt x="7066280" y="3041523"/>
                  </a:lnTo>
                  <a:cubicBezTo>
                    <a:pt x="7066280" y="3143377"/>
                    <a:pt x="6983730" y="3225800"/>
                    <a:pt x="6882003" y="3225800"/>
                  </a:cubicBezTo>
                  <a:lnTo>
                    <a:pt x="184277" y="3225800"/>
                  </a:lnTo>
                  <a:cubicBezTo>
                    <a:pt x="82550" y="3225800"/>
                    <a:pt x="0" y="3143250"/>
                    <a:pt x="0" y="3041523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E3EAF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5"/>
            <p:cNvSpPr/>
            <p:nvPr/>
          </p:nvSpPr>
          <p:spPr>
            <a:xfrm>
              <a:off x="524764" y="451612"/>
              <a:ext cx="292608" cy="292608"/>
            </a:xfrm>
            <a:custGeom>
              <a:rect b="b" l="l" r="r" t="t"/>
              <a:pathLst>
                <a:path extrusionOk="0"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2E9E6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5"/>
            <p:cNvSpPr txBox="1"/>
            <p:nvPr/>
          </p:nvSpPr>
          <p:spPr>
            <a:xfrm>
              <a:off x="683260" y="1864360"/>
              <a:ext cx="5882640" cy="10134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16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25">
                  <a:solidFill>
                    <a:srgbClr val="5B7387"/>
                  </a:solidFill>
                  <a:latin typeface="Calibri"/>
                  <a:ea typeface="Calibri"/>
                  <a:cs typeface="Calibri"/>
                  <a:sym typeface="Calibri"/>
                </a:rPr>
                <a:t>Total Nilai Order</a:t>
              </a:r>
              <a:endParaRPr/>
            </a:p>
          </p:txBody>
        </p:sp>
        <p:sp>
          <p:nvSpPr>
            <p:cNvPr id="327" name="Google Shape;327;p5"/>
            <p:cNvSpPr txBox="1"/>
            <p:nvPr/>
          </p:nvSpPr>
          <p:spPr>
            <a:xfrm>
              <a:off x="1249172" y="346837"/>
              <a:ext cx="2470547" cy="11605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19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$8,9M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B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6"/>
          <p:cNvSpPr/>
          <p:nvPr/>
        </p:nvSpPr>
        <p:spPr>
          <a:xfrm>
            <a:off x="822960" y="617220"/>
            <a:ext cx="10972800" cy="480060"/>
          </a:xfrm>
          <a:custGeom>
            <a:rect b="b" l="l" r="r" t="t"/>
            <a:pathLst>
              <a:path extrusionOk="0" h="640080" w="14630400">
                <a:moveTo>
                  <a:pt x="0" y="0"/>
                </a:moveTo>
                <a:lnTo>
                  <a:pt x="14630400" y="0"/>
                </a:lnTo>
                <a:lnTo>
                  <a:pt x="14630400" y="640080"/>
                </a:lnTo>
                <a:lnTo>
                  <a:pt x="0" y="64008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395077" l="0" r="0" t="-39507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3" name="Google Shape;333;p6"/>
          <p:cNvGrpSpPr/>
          <p:nvPr/>
        </p:nvGrpSpPr>
        <p:grpSpPr>
          <a:xfrm>
            <a:off x="822960" y="560070"/>
            <a:ext cx="10972800" cy="537210"/>
            <a:chOff x="0" y="-38100"/>
            <a:chExt cx="14630400" cy="716280"/>
          </a:xfrm>
        </p:grpSpPr>
        <p:sp>
          <p:nvSpPr>
            <p:cNvPr id="334" name="Google Shape;334;p6"/>
            <p:cNvSpPr/>
            <p:nvPr/>
          </p:nvSpPr>
          <p:spPr>
            <a:xfrm>
              <a:off x="0" y="0"/>
              <a:ext cx="14630400" cy="678180"/>
            </a:xfrm>
            <a:custGeom>
              <a:rect b="b" l="l" r="r" t="t"/>
              <a:pathLst>
                <a:path extrusionOk="0" h="6781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78180"/>
                  </a:lnTo>
                  <a:lnTo>
                    <a:pt x="0" y="67818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370380" l="0" r="0" t="-37038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6"/>
            <p:cNvSpPr txBox="1"/>
            <p:nvPr/>
          </p:nvSpPr>
          <p:spPr>
            <a:xfrm>
              <a:off x="0" y="-38100"/>
              <a:ext cx="14630400" cy="716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pc="300" sz="1800">
                  <a:solidFill>
                    <a:srgbClr val="1C7293"/>
                  </a:solidFill>
                  <a:latin typeface="Calibri"/>
                  <a:ea typeface="Calibri"/>
                  <a:cs typeface="Calibri"/>
                  <a:sym typeface="Calibri"/>
                </a:rPr>
                <a:t>DATA UNDERSTANDING · EDA</a:t>
              </a:r>
              <a:endParaRPr/>
            </a:p>
          </p:txBody>
        </p:sp>
      </p:grpSp>
      <p:sp>
        <p:nvSpPr>
          <p:cNvPr id="336" name="Google Shape;336;p6"/>
          <p:cNvSpPr/>
          <p:nvPr/>
        </p:nvSpPr>
        <p:spPr>
          <a:xfrm>
            <a:off x="822960" y="1069848"/>
            <a:ext cx="16184879" cy="1097280"/>
          </a:xfrm>
          <a:custGeom>
            <a:rect b="b" l="l" r="r" t="t"/>
            <a:pathLst>
              <a:path extrusionOk="0" h="1463040" w="21579839">
                <a:moveTo>
                  <a:pt x="0" y="0"/>
                </a:moveTo>
                <a:lnTo>
                  <a:pt x="21579839" y="0"/>
                </a:lnTo>
                <a:lnTo>
                  <a:pt x="21579839" y="1463040"/>
                </a:lnTo>
                <a:lnTo>
                  <a:pt x="0" y="146304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37191" l="0" r="0" t="-23719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7" name="Google Shape;337;p6"/>
          <p:cNvGrpSpPr/>
          <p:nvPr/>
        </p:nvGrpSpPr>
        <p:grpSpPr>
          <a:xfrm>
            <a:off x="822960" y="1041272"/>
            <a:ext cx="16184880" cy="1125856"/>
            <a:chOff x="0" y="-19050"/>
            <a:chExt cx="21579840" cy="1501140"/>
          </a:xfrm>
        </p:grpSpPr>
        <p:sp>
          <p:nvSpPr>
            <p:cNvPr id="338" name="Google Shape;338;p6"/>
            <p:cNvSpPr/>
            <p:nvPr/>
          </p:nvSpPr>
          <p:spPr>
            <a:xfrm>
              <a:off x="0" y="0"/>
              <a:ext cx="21579839" cy="1482090"/>
            </a:xfrm>
            <a:custGeom>
              <a:rect b="b" l="l" r="r" t="t"/>
              <a:pathLst>
                <a:path extrusionOk="0" h="148209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482090"/>
                  </a:lnTo>
                  <a:lnTo>
                    <a:pt x="0" y="148209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33704" l="0" r="0" t="-23370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6"/>
            <p:cNvSpPr txBox="1"/>
            <p:nvPr/>
          </p:nvSpPr>
          <p:spPr>
            <a:xfrm>
              <a:off x="0" y="-19050"/>
              <a:ext cx="21579840" cy="15011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00">
                  <a:solidFill>
                    <a:srgbClr val="0B2545"/>
                  </a:solidFill>
                  <a:latin typeface="Cambria"/>
                  <a:ea typeface="Cambria"/>
                  <a:cs typeface="Cambria"/>
                  <a:sym typeface="Cambria"/>
                </a:rPr>
                <a:t>Distribusi Rating Pelanggan (1–5)</a:t>
              </a:r>
              <a:endParaRPr/>
            </a:p>
          </p:txBody>
        </p:sp>
      </p:grpSp>
      <p:sp>
        <p:nvSpPr>
          <p:cNvPr id="340" name="Google Shape;340;p6"/>
          <p:cNvSpPr/>
          <p:nvPr/>
        </p:nvSpPr>
        <p:spPr>
          <a:xfrm>
            <a:off x="11916251" y="2520791"/>
            <a:ext cx="5588318" cy="1884998"/>
          </a:xfrm>
          <a:custGeom>
            <a:rect b="b" l="l" r="r" t="t"/>
            <a:pathLst>
              <a:path extrusionOk="0" h="1884998" w="5588318">
                <a:moveTo>
                  <a:pt x="0" y="0"/>
                </a:moveTo>
                <a:lnTo>
                  <a:pt x="5588318" y="0"/>
                </a:lnTo>
                <a:lnTo>
                  <a:pt x="5588318" y="1884998"/>
                </a:lnTo>
                <a:lnTo>
                  <a:pt x="0" y="188499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6"/>
          <p:cNvSpPr/>
          <p:nvPr/>
        </p:nvSpPr>
        <p:spPr>
          <a:xfrm>
            <a:off x="11916251" y="4509611"/>
            <a:ext cx="5588318" cy="1884998"/>
          </a:xfrm>
          <a:custGeom>
            <a:rect b="b" l="l" r="r" t="t"/>
            <a:pathLst>
              <a:path extrusionOk="0" h="1884998" w="5588318">
                <a:moveTo>
                  <a:pt x="0" y="0"/>
                </a:moveTo>
                <a:lnTo>
                  <a:pt x="5588318" y="0"/>
                </a:lnTo>
                <a:lnTo>
                  <a:pt x="5588318" y="1884998"/>
                </a:lnTo>
                <a:lnTo>
                  <a:pt x="0" y="188499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6"/>
          <p:cNvSpPr/>
          <p:nvPr/>
        </p:nvSpPr>
        <p:spPr>
          <a:xfrm>
            <a:off x="11916251" y="6498431"/>
            <a:ext cx="5588318" cy="1884997"/>
          </a:xfrm>
          <a:custGeom>
            <a:rect b="b" l="l" r="r" t="t"/>
            <a:pathLst>
              <a:path extrusionOk="0" h="1884997" w="5588318">
                <a:moveTo>
                  <a:pt x="0" y="0"/>
                </a:moveTo>
                <a:lnTo>
                  <a:pt x="5588318" y="0"/>
                </a:lnTo>
                <a:lnTo>
                  <a:pt x="5588318" y="1884998"/>
                </a:lnTo>
                <a:lnTo>
                  <a:pt x="0" y="188499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6"/>
          <p:cNvSpPr/>
          <p:nvPr/>
        </p:nvSpPr>
        <p:spPr>
          <a:xfrm>
            <a:off x="708660" y="8915048"/>
            <a:ext cx="16012954" cy="455675"/>
          </a:xfrm>
          <a:custGeom>
            <a:rect b="b" l="l" r="r" t="t"/>
            <a:pathLst>
              <a:path extrusionOk="0" h="607568" w="21350605">
                <a:moveTo>
                  <a:pt x="0" y="0"/>
                </a:moveTo>
                <a:lnTo>
                  <a:pt x="21350605" y="0"/>
                </a:lnTo>
                <a:lnTo>
                  <a:pt x="21350605" y="607568"/>
                </a:lnTo>
                <a:lnTo>
                  <a:pt x="0" y="607568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634181" l="0" r="0" t="-63418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4" name="Google Shape;344;p6"/>
          <p:cNvGrpSpPr/>
          <p:nvPr/>
        </p:nvGrpSpPr>
        <p:grpSpPr>
          <a:xfrm>
            <a:off x="708660" y="8859345"/>
            <a:ext cx="16012916" cy="511349"/>
            <a:chOff x="0" y="-38100"/>
            <a:chExt cx="21350554" cy="681799"/>
          </a:xfrm>
        </p:grpSpPr>
        <p:sp>
          <p:nvSpPr>
            <p:cNvPr id="345" name="Google Shape;345;p6"/>
            <p:cNvSpPr/>
            <p:nvPr/>
          </p:nvSpPr>
          <p:spPr>
            <a:xfrm>
              <a:off x="0" y="0"/>
              <a:ext cx="21350554" cy="643698"/>
            </a:xfrm>
            <a:custGeom>
              <a:rect b="b" l="l" r="r" t="t"/>
              <a:pathLst>
                <a:path extrusionOk="0" h="643698" w="21350554">
                  <a:moveTo>
                    <a:pt x="0" y="0"/>
                  </a:moveTo>
                  <a:lnTo>
                    <a:pt x="21350554" y="0"/>
                  </a:lnTo>
                  <a:lnTo>
                    <a:pt x="21350554" y="643698"/>
                  </a:lnTo>
                  <a:lnTo>
                    <a:pt x="0" y="64369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596329" l="0" r="0" t="-59632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6"/>
            <p:cNvSpPr txBox="1"/>
            <p:nvPr/>
          </p:nvSpPr>
          <p:spPr>
            <a:xfrm>
              <a:off x="0" y="-38100"/>
              <a:ext cx="21350554" cy="6817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25">
                  <a:solidFill>
                    <a:srgbClr val="0B2545"/>
                  </a:solidFill>
                  <a:latin typeface="Calibri"/>
                  <a:ea typeface="Calibri"/>
                  <a:cs typeface="Calibri"/>
                  <a:sym typeface="Calibri"/>
                </a:rPr>
                <a:t>Insight</a:t>
              </a:r>
              <a:r>
                <a:rPr lang="en-US" sz="1725">
                  <a:solidFill>
                    <a:srgbClr val="0B2545"/>
                  </a:solidFill>
                  <a:latin typeface="Calibri"/>
                  <a:ea typeface="Calibri"/>
                  <a:cs typeface="Calibri"/>
                  <a:sym typeface="Calibri"/>
                </a:rPr>
                <a:t>: lebih dari 1 dari 5 pesanan (21,2%) mendapat rating rendah</a:t>
              </a:r>
              <a:endParaRPr/>
            </a:p>
          </p:txBody>
        </p:sp>
      </p:grpSp>
      <p:sp>
        <p:nvSpPr>
          <p:cNvPr id="347" name="Google Shape;347;p6"/>
          <p:cNvSpPr/>
          <p:nvPr/>
        </p:nvSpPr>
        <p:spPr>
          <a:xfrm>
            <a:off x="685800" y="9765792"/>
            <a:ext cx="10972800" cy="411480"/>
          </a:xfrm>
          <a:custGeom>
            <a:rect b="b" l="l" r="r" t="t"/>
            <a:pathLst>
              <a:path extrusionOk="0" h="548640" w="14630400">
                <a:moveTo>
                  <a:pt x="0" y="0"/>
                </a:moveTo>
                <a:lnTo>
                  <a:pt x="14630400" y="0"/>
                </a:lnTo>
                <a:lnTo>
                  <a:pt x="14630400" y="548640"/>
                </a:lnTo>
                <a:lnTo>
                  <a:pt x="0" y="54864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469211" l="0" r="0" t="-46921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8" name="Google Shape;348;p6"/>
          <p:cNvGrpSpPr/>
          <p:nvPr/>
        </p:nvGrpSpPr>
        <p:grpSpPr>
          <a:xfrm>
            <a:off x="685800" y="9722930"/>
            <a:ext cx="10972800" cy="454342"/>
            <a:chOff x="0" y="-28575"/>
            <a:chExt cx="14630400" cy="605790"/>
          </a:xfrm>
        </p:grpSpPr>
        <p:sp>
          <p:nvSpPr>
            <p:cNvPr id="349" name="Google Shape;349;p6"/>
            <p:cNvSpPr/>
            <p:nvPr/>
          </p:nvSpPr>
          <p:spPr>
            <a:xfrm>
              <a:off x="0" y="0"/>
              <a:ext cx="14630400" cy="577215"/>
            </a:xfrm>
            <a:custGeom>
              <a:rect b="b" l="l" r="r" t="t"/>
              <a:pathLst>
                <a:path extrusionOk="0" h="577215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77215"/>
                  </a:lnTo>
                  <a:lnTo>
                    <a:pt x="0" y="57721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443876" l="0" r="0" t="-44387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6"/>
            <p:cNvSpPr txBox="1"/>
            <p:nvPr/>
          </p:nvSpPr>
          <p:spPr>
            <a:xfrm>
              <a:off x="0" y="-28575"/>
              <a:ext cx="14630400" cy="6057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5B7387"/>
                  </a:solidFill>
                  <a:latin typeface="Calibri"/>
                  <a:ea typeface="Calibri"/>
                  <a:cs typeface="Calibri"/>
                  <a:sym typeface="Calibri"/>
                </a:rPr>
                <a:t>E-Commerce Delivery Performance &amp; Revenue Risk</a:t>
              </a:r>
              <a:endParaRPr/>
            </a:p>
          </p:txBody>
        </p:sp>
      </p:grpSp>
      <p:sp>
        <p:nvSpPr>
          <p:cNvPr id="351" name="Google Shape;351;p6"/>
          <p:cNvSpPr/>
          <p:nvPr/>
        </p:nvSpPr>
        <p:spPr>
          <a:xfrm>
            <a:off x="17186148" y="9765792"/>
            <a:ext cx="548640" cy="411480"/>
          </a:xfrm>
          <a:custGeom>
            <a:rect b="b" l="l" r="r" t="t"/>
            <a:pathLst>
              <a:path extrusionOk="0" h="548640" w="731520">
                <a:moveTo>
                  <a:pt x="0" y="0"/>
                </a:moveTo>
                <a:lnTo>
                  <a:pt x="731520" y="0"/>
                </a:lnTo>
                <a:lnTo>
                  <a:pt x="731520" y="548640"/>
                </a:lnTo>
                <a:lnTo>
                  <a:pt x="0" y="54864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0" l="-46294" r="-46292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6"/>
          <p:cNvSpPr/>
          <p:nvPr/>
        </p:nvSpPr>
        <p:spPr>
          <a:xfrm>
            <a:off x="1277512" y="2256187"/>
            <a:ext cx="7866507" cy="5996463"/>
          </a:xfrm>
          <a:custGeom>
            <a:rect b="b" l="l" r="r" t="t"/>
            <a:pathLst>
              <a:path extrusionOk="0" h="7995285" w="10488676">
                <a:moveTo>
                  <a:pt x="0" y="0"/>
                </a:moveTo>
                <a:lnTo>
                  <a:pt x="10488676" y="0"/>
                </a:lnTo>
                <a:lnTo>
                  <a:pt x="10488676" y="7995285"/>
                </a:lnTo>
                <a:lnTo>
                  <a:pt x="0" y="79952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669" l="0" r="0" t="-67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6"/>
          <p:cNvSpPr txBox="1"/>
          <p:nvPr/>
        </p:nvSpPr>
        <p:spPr>
          <a:xfrm>
            <a:off x="12188952" y="3820668"/>
            <a:ext cx="5042916" cy="4404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5B7387"/>
                </a:solidFill>
                <a:latin typeface="Calibri"/>
                <a:ea typeface="Calibri"/>
                <a:cs typeface="Calibri"/>
                <a:sym typeface="Calibri"/>
              </a:rPr>
              <a:t>Rata-rata rating (tertimbang)</a:t>
            </a:r>
            <a:endParaRPr/>
          </a:p>
        </p:txBody>
      </p:sp>
      <p:sp>
        <p:nvSpPr>
          <p:cNvPr id="354" name="Google Shape;354;p6"/>
          <p:cNvSpPr txBox="1"/>
          <p:nvPr/>
        </p:nvSpPr>
        <p:spPr>
          <a:xfrm>
            <a:off x="12188952" y="5809488"/>
            <a:ext cx="5042916" cy="4404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5B7387"/>
                </a:solidFill>
                <a:latin typeface="Calibri"/>
                <a:ea typeface="Calibri"/>
                <a:cs typeface="Calibri"/>
                <a:sym typeface="Calibri"/>
              </a:rPr>
              <a:t>Pesanan diberi rating 3–4 (mayoritas)</a:t>
            </a:r>
            <a:endParaRPr/>
          </a:p>
        </p:txBody>
      </p:sp>
      <p:sp>
        <p:nvSpPr>
          <p:cNvPr id="355" name="Google Shape;355;p6"/>
          <p:cNvSpPr txBox="1"/>
          <p:nvPr/>
        </p:nvSpPr>
        <p:spPr>
          <a:xfrm>
            <a:off x="12188952" y="7798308"/>
            <a:ext cx="5042916" cy="4404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5B7387"/>
                </a:solidFill>
                <a:latin typeface="Calibri"/>
                <a:ea typeface="Calibri"/>
                <a:cs typeface="Calibri"/>
                <a:sym typeface="Calibri"/>
              </a:rPr>
              <a:t>Pesanan diberi rating rendah (1–2)</a:t>
            </a:r>
            <a:endParaRPr/>
          </a:p>
        </p:txBody>
      </p:sp>
      <p:sp>
        <p:nvSpPr>
          <p:cNvPr id="356" name="Google Shape;356;p6"/>
          <p:cNvSpPr txBox="1"/>
          <p:nvPr/>
        </p:nvSpPr>
        <p:spPr>
          <a:xfrm>
            <a:off x="12188952" y="2743076"/>
            <a:ext cx="2342283" cy="1001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98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3,37 / 5</a:t>
            </a:r>
            <a:endParaRPr/>
          </a:p>
        </p:txBody>
      </p:sp>
      <p:sp>
        <p:nvSpPr>
          <p:cNvPr id="357" name="Google Shape;357;p6"/>
          <p:cNvSpPr txBox="1"/>
          <p:nvPr/>
        </p:nvSpPr>
        <p:spPr>
          <a:xfrm>
            <a:off x="12374632" y="4703321"/>
            <a:ext cx="1970913" cy="1001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98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65,6%</a:t>
            </a:r>
            <a:endParaRPr/>
          </a:p>
        </p:txBody>
      </p:sp>
      <p:sp>
        <p:nvSpPr>
          <p:cNvPr id="358" name="Google Shape;358;p6"/>
          <p:cNvSpPr txBox="1"/>
          <p:nvPr/>
        </p:nvSpPr>
        <p:spPr>
          <a:xfrm>
            <a:off x="12560322" y="6663566"/>
            <a:ext cx="1970913" cy="1001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98">
                <a:solidFill>
                  <a:srgbClr val="B23A3A"/>
                </a:solidFill>
                <a:latin typeface="Cambria"/>
                <a:ea typeface="Cambria"/>
                <a:cs typeface="Cambria"/>
                <a:sym typeface="Cambria"/>
              </a:rPr>
              <a:t>21,2%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B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3" name="Google Shape;363;p7"/>
          <p:cNvGrpSpPr/>
          <p:nvPr/>
        </p:nvGrpSpPr>
        <p:grpSpPr>
          <a:xfrm>
            <a:off x="822960" y="-254058"/>
            <a:ext cx="16184880" cy="3317882"/>
            <a:chOff x="0" y="-19050"/>
            <a:chExt cx="21579840" cy="4423842"/>
          </a:xfrm>
        </p:grpSpPr>
        <p:sp>
          <p:nvSpPr>
            <p:cNvPr id="364" name="Google Shape;364;p7"/>
            <p:cNvSpPr/>
            <p:nvPr/>
          </p:nvSpPr>
          <p:spPr>
            <a:xfrm>
              <a:off x="0" y="0"/>
              <a:ext cx="21579839" cy="4404792"/>
            </a:xfrm>
            <a:custGeom>
              <a:rect b="b" l="l" r="r" t="t"/>
              <a:pathLst>
                <a:path extrusionOk="0" h="4404792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4404792"/>
                  </a:lnTo>
                  <a:lnTo>
                    <a:pt x="0" y="44047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2284" l="0" r="0" t="-7863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7"/>
            <p:cNvSpPr txBox="1"/>
            <p:nvPr/>
          </p:nvSpPr>
          <p:spPr>
            <a:xfrm>
              <a:off x="0" y="-19050"/>
              <a:ext cx="21579840" cy="44238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00">
                  <a:solidFill>
                    <a:srgbClr val="0B2545"/>
                  </a:solidFill>
                  <a:latin typeface="Cambria"/>
                  <a:ea typeface="Cambria"/>
                  <a:cs typeface="Cambria"/>
                  <a:sym typeface="Cambria"/>
                </a:rPr>
                <a:t>Siapa di Balik Rating?</a:t>
              </a:r>
              <a:endParaRPr/>
            </a:p>
          </p:txBody>
        </p:sp>
      </p:grpSp>
      <p:sp>
        <p:nvSpPr>
          <p:cNvPr id="366" name="Google Shape;366;p7"/>
          <p:cNvSpPr/>
          <p:nvPr/>
        </p:nvSpPr>
        <p:spPr>
          <a:xfrm>
            <a:off x="6787618" y="1812981"/>
            <a:ext cx="10966043" cy="6661039"/>
          </a:xfrm>
          <a:custGeom>
            <a:rect b="b" l="l" r="r" t="t"/>
            <a:pathLst>
              <a:path extrusionOk="0" h="6661039" w="10966043">
                <a:moveTo>
                  <a:pt x="0" y="0"/>
                </a:moveTo>
                <a:lnTo>
                  <a:pt x="10966043" y="0"/>
                </a:lnTo>
                <a:lnTo>
                  <a:pt x="10966043" y="6661038"/>
                </a:lnTo>
                <a:lnTo>
                  <a:pt x="0" y="66610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7" name="Google Shape;367;p7"/>
          <p:cNvGrpSpPr/>
          <p:nvPr/>
        </p:nvGrpSpPr>
        <p:grpSpPr>
          <a:xfrm>
            <a:off x="822960" y="560070"/>
            <a:ext cx="10972800" cy="537210"/>
            <a:chOff x="0" y="-38100"/>
            <a:chExt cx="14630400" cy="716280"/>
          </a:xfrm>
        </p:grpSpPr>
        <p:sp>
          <p:nvSpPr>
            <p:cNvPr id="368" name="Google Shape;368;p7"/>
            <p:cNvSpPr/>
            <p:nvPr/>
          </p:nvSpPr>
          <p:spPr>
            <a:xfrm>
              <a:off x="0" y="0"/>
              <a:ext cx="14630400" cy="678180"/>
            </a:xfrm>
            <a:custGeom>
              <a:rect b="b" l="l" r="r" t="t"/>
              <a:pathLst>
                <a:path extrusionOk="0" h="6781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78180"/>
                  </a:lnTo>
                  <a:lnTo>
                    <a:pt x="0" y="6781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70380" l="0" r="0" t="-37038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7"/>
            <p:cNvSpPr txBox="1"/>
            <p:nvPr/>
          </p:nvSpPr>
          <p:spPr>
            <a:xfrm>
              <a:off x="0" y="-38100"/>
              <a:ext cx="14630400" cy="716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pc="300" sz="1800">
                  <a:solidFill>
                    <a:srgbClr val="1C7293"/>
                  </a:solidFill>
                  <a:latin typeface="Calibri"/>
                  <a:ea typeface="Calibri"/>
                  <a:cs typeface="Calibri"/>
                  <a:sym typeface="Calibri"/>
                </a:rPr>
                <a:t>DATA UNDERSTANDING · EDA</a:t>
              </a:r>
              <a:endParaRPr/>
            </a:p>
          </p:txBody>
        </p:sp>
      </p:grpSp>
      <p:grpSp>
        <p:nvGrpSpPr>
          <p:cNvPr id="370" name="Google Shape;370;p7"/>
          <p:cNvGrpSpPr/>
          <p:nvPr/>
        </p:nvGrpSpPr>
        <p:grpSpPr>
          <a:xfrm>
            <a:off x="822960" y="2565214"/>
            <a:ext cx="5413177" cy="1769003"/>
            <a:chOff x="0" y="0"/>
            <a:chExt cx="7217570" cy="2358671"/>
          </a:xfrm>
        </p:grpSpPr>
        <p:sp>
          <p:nvSpPr>
            <p:cNvPr id="371" name="Google Shape;371;p7"/>
            <p:cNvSpPr/>
            <p:nvPr/>
          </p:nvSpPr>
          <p:spPr>
            <a:xfrm>
              <a:off x="0" y="0"/>
              <a:ext cx="6992583" cy="2358671"/>
            </a:xfrm>
            <a:custGeom>
              <a:rect b="b" l="l" r="r" t="t"/>
              <a:pathLst>
                <a:path extrusionOk="0" h="2358671" w="6992583">
                  <a:moveTo>
                    <a:pt x="0" y="0"/>
                  </a:moveTo>
                  <a:lnTo>
                    <a:pt x="6992583" y="0"/>
                  </a:lnTo>
                  <a:lnTo>
                    <a:pt x="6992583" y="2358671"/>
                  </a:lnTo>
                  <a:lnTo>
                    <a:pt x="0" y="2358671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7"/>
            <p:cNvSpPr txBox="1"/>
            <p:nvPr/>
          </p:nvSpPr>
          <p:spPr>
            <a:xfrm>
              <a:off x="821652" y="331046"/>
              <a:ext cx="6001178" cy="11810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250">
                  <a:solidFill>
                    <a:srgbClr val="B23A3A"/>
                  </a:solidFill>
                  <a:latin typeface="Cambria"/>
                  <a:ea typeface="Cambria"/>
                  <a:cs typeface="Cambria"/>
                  <a:sym typeface="Cambria"/>
                </a:rPr>
                <a:t>87,7%</a:t>
              </a:r>
              <a:endParaRPr/>
            </a:p>
          </p:txBody>
        </p:sp>
        <p:sp>
          <p:nvSpPr>
            <p:cNvPr id="373" name="Google Shape;373;p7"/>
            <p:cNvSpPr txBox="1"/>
            <p:nvPr/>
          </p:nvSpPr>
          <p:spPr>
            <a:xfrm>
              <a:off x="426913" y="1743973"/>
              <a:ext cx="6790657" cy="3493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3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90">
                  <a:solidFill>
                    <a:srgbClr val="5B7387"/>
                  </a:solidFill>
                  <a:latin typeface="Calibri"/>
                  <a:ea typeface="Calibri"/>
                  <a:cs typeface="Calibri"/>
                  <a:sym typeface="Calibri"/>
                </a:rPr>
                <a:t>Pemberi rating 3 mengalami keterlambatan</a:t>
              </a:r>
              <a:endParaRPr/>
            </a:p>
          </p:txBody>
        </p:sp>
        <p:sp>
          <p:nvSpPr>
            <p:cNvPr id="374" name="Google Shape;374;p7"/>
            <p:cNvSpPr/>
            <p:nvPr/>
          </p:nvSpPr>
          <p:spPr>
            <a:xfrm>
              <a:off x="131399" y="297589"/>
              <a:ext cx="295514" cy="295514"/>
            </a:xfrm>
            <a:custGeom>
              <a:rect b="b" l="l" r="r" t="t"/>
              <a:pathLst>
                <a:path extrusionOk="0"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D6454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5" name="Google Shape;375;p7"/>
          <p:cNvGrpSpPr/>
          <p:nvPr/>
        </p:nvGrpSpPr>
        <p:grpSpPr>
          <a:xfrm>
            <a:off x="822960" y="4724742"/>
            <a:ext cx="5359953" cy="1751609"/>
            <a:chOff x="0" y="0"/>
            <a:chExt cx="7146603" cy="2335479"/>
          </a:xfrm>
        </p:grpSpPr>
        <p:sp>
          <p:nvSpPr>
            <p:cNvPr id="376" name="Google Shape;376;p7"/>
            <p:cNvSpPr/>
            <p:nvPr/>
          </p:nvSpPr>
          <p:spPr>
            <a:xfrm>
              <a:off x="0" y="0"/>
              <a:ext cx="6923829" cy="2335479"/>
            </a:xfrm>
            <a:custGeom>
              <a:rect b="b" l="l" r="r" t="t"/>
              <a:pathLst>
                <a:path extrusionOk="0" h="2335479" w="6923829">
                  <a:moveTo>
                    <a:pt x="0" y="0"/>
                  </a:moveTo>
                  <a:lnTo>
                    <a:pt x="6923829" y="0"/>
                  </a:lnTo>
                  <a:lnTo>
                    <a:pt x="6923829" y="2335479"/>
                  </a:lnTo>
                  <a:lnTo>
                    <a:pt x="0" y="2335479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7"/>
            <p:cNvSpPr txBox="1"/>
            <p:nvPr/>
          </p:nvSpPr>
          <p:spPr>
            <a:xfrm>
              <a:off x="813574" y="482496"/>
              <a:ext cx="5942172" cy="11605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lnSpc>
                  <a:spcPct val="14003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198">
                  <a:solidFill>
                    <a:srgbClr val="006300"/>
                  </a:solidFill>
                  <a:latin typeface="Cambria"/>
                  <a:ea typeface="Cambria"/>
                  <a:cs typeface="Cambria"/>
                  <a:sym typeface="Cambria"/>
                </a:rPr>
                <a:t>78,7%</a:t>
              </a:r>
              <a:endParaRPr/>
            </a:p>
          </p:txBody>
        </p:sp>
        <p:sp>
          <p:nvSpPr>
            <p:cNvPr id="378" name="Google Shape;378;p7"/>
            <p:cNvSpPr txBox="1"/>
            <p:nvPr/>
          </p:nvSpPr>
          <p:spPr>
            <a:xfrm>
              <a:off x="422715" y="1727368"/>
              <a:ext cx="6723888" cy="3367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lnSpc>
                  <a:spcPct val="1199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75">
                  <a:solidFill>
                    <a:srgbClr val="5B7387"/>
                  </a:solidFill>
                  <a:latin typeface="Calibri"/>
                  <a:ea typeface="Calibri"/>
                  <a:cs typeface="Calibri"/>
                  <a:sym typeface="Calibri"/>
                </a:rPr>
                <a:t>Pemberi rating 4 menerima pesanan tepat waktu</a:t>
              </a:r>
              <a:endParaRPr/>
            </a:p>
          </p:txBody>
        </p:sp>
        <p:sp>
          <p:nvSpPr>
            <p:cNvPr id="379" name="Google Shape;379;p7"/>
            <p:cNvSpPr/>
            <p:nvPr/>
          </p:nvSpPr>
          <p:spPr>
            <a:xfrm>
              <a:off x="130107" y="294663"/>
              <a:ext cx="292608" cy="292608"/>
            </a:xfrm>
            <a:custGeom>
              <a:rect b="b" l="l" r="r" t="t"/>
              <a:pathLst>
                <a:path extrusionOk="0"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2E9E6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0" name="Google Shape;380;p7"/>
          <p:cNvGrpSpPr/>
          <p:nvPr/>
        </p:nvGrpSpPr>
        <p:grpSpPr>
          <a:xfrm>
            <a:off x="670378" y="6954894"/>
            <a:ext cx="5782382" cy="1929151"/>
            <a:chOff x="0" y="0"/>
            <a:chExt cx="7709842" cy="2572201"/>
          </a:xfrm>
        </p:grpSpPr>
        <p:sp>
          <p:nvSpPr>
            <p:cNvPr id="381" name="Google Shape;381;p7"/>
            <p:cNvSpPr/>
            <p:nvPr/>
          </p:nvSpPr>
          <p:spPr>
            <a:xfrm>
              <a:off x="0" y="0"/>
              <a:ext cx="7625620" cy="2572201"/>
            </a:xfrm>
            <a:custGeom>
              <a:rect b="b" l="l" r="r" t="t"/>
              <a:pathLst>
                <a:path extrusionOk="0" h="2572201" w="7625620">
                  <a:moveTo>
                    <a:pt x="0" y="0"/>
                  </a:moveTo>
                  <a:lnTo>
                    <a:pt x="7625620" y="0"/>
                  </a:lnTo>
                  <a:lnTo>
                    <a:pt x="7625620" y="2572201"/>
                  </a:lnTo>
                  <a:lnTo>
                    <a:pt x="0" y="2572201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7"/>
            <p:cNvSpPr txBox="1"/>
            <p:nvPr/>
          </p:nvSpPr>
          <p:spPr>
            <a:xfrm>
              <a:off x="976617" y="542021"/>
              <a:ext cx="6649003" cy="11604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199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99,7%</a:t>
              </a:r>
              <a:endParaRPr/>
            </a:p>
          </p:txBody>
        </p:sp>
        <p:sp>
          <p:nvSpPr>
            <p:cNvPr id="383" name="Google Shape;383;p7"/>
            <p:cNvSpPr txBox="1"/>
            <p:nvPr/>
          </p:nvSpPr>
          <p:spPr>
            <a:xfrm>
              <a:off x="304428" y="1914020"/>
              <a:ext cx="7405414" cy="3879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34">
                  <a:solidFill>
                    <a:srgbClr val="5B7387"/>
                  </a:solidFill>
                  <a:latin typeface="Calibri"/>
                  <a:ea typeface="Calibri"/>
                  <a:cs typeface="Calibri"/>
                  <a:sym typeface="Calibri"/>
                </a:rPr>
                <a:t>Pemberi rating 1–2 mengalami keterlambatan</a:t>
              </a:r>
              <a:endParaRPr/>
            </a:p>
          </p:txBody>
        </p:sp>
        <p:sp>
          <p:nvSpPr>
            <p:cNvPr id="384" name="Google Shape;384;p7"/>
            <p:cNvSpPr/>
            <p:nvPr/>
          </p:nvSpPr>
          <p:spPr>
            <a:xfrm>
              <a:off x="143295" y="324530"/>
              <a:ext cx="322266" cy="322266"/>
            </a:xfrm>
            <a:custGeom>
              <a:rect b="b" l="l" r="r" t="t"/>
              <a:pathLst>
                <a:path extrusionOk="0"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E1A83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5" name="Google Shape;385;p7"/>
          <p:cNvGrpSpPr/>
          <p:nvPr/>
        </p:nvGrpSpPr>
        <p:grpSpPr>
          <a:xfrm>
            <a:off x="685800" y="9722930"/>
            <a:ext cx="10972800" cy="454342"/>
            <a:chOff x="0" y="-28575"/>
            <a:chExt cx="14630400" cy="605790"/>
          </a:xfrm>
        </p:grpSpPr>
        <p:sp>
          <p:nvSpPr>
            <p:cNvPr id="386" name="Google Shape;386;p7"/>
            <p:cNvSpPr/>
            <p:nvPr/>
          </p:nvSpPr>
          <p:spPr>
            <a:xfrm>
              <a:off x="0" y="0"/>
              <a:ext cx="14630400" cy="577215"/>
            </a:xfrm>
            <a:custGeom>
              <a:rect b="b" l="l" r="r" t="t"/>
              <a:pathLst>
                <a:path extrusionOk="0" h="577215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77215"/>
                  </a:lnTo>
                  <a:lnTo>
                    <a:pt x="0" y="57721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43876" l="0" r="0" t="-44387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7"/>
            <p:cNvSpPr txBox="1"/>
            <p:nvPr/>
          </p:nvSpPr>
          <p:spPr>
            <a:xfrm>
              <a:off x="0" y="-28575"/>
              <a:ext cx="14630400" cy="6057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5B7387"/>
                  </a:solidFill>
                  <a:latin typeface="Calibri"/>
                  <a:ea typeface="Calibri"/>
                  <a:cs typeface="Calibri"/>
                  <a:sym typeface="Calibri"/>
                </a:rPr>
                <a:t>E-Commerce Delivery Performance &amp; Revenue Risk</a:t>
              </a:r>
              <a:endParaRPr/>
            </a:p>
          </p:txBody>
        </p:sp>
      </p:grpSp>
      <p:grpSp>
        <p:nvGrpSpPr>
          <p:cNvPr id="388" name="Google Shape;388;p7"/>
          <p:cNvGrpSpPr/>
          <p:nvPr/>
        </p:nvGrpSpPr>
        <p:grpSpPr>
          <a:xfrm>
            <a:off x="7368250" y="8858485"/>
            <a:ext cx="10434298" cy="768052"/>
            <a:chOff x="0" y="-47625"/>
            <a:chExt cx="19441699" cy="1431073"/>
          </a:xfrm>
        </p:grpSpPr>
        <p:sp>
          <p:nvSpPr>
            <p:cNvPr id="389" name="Google Shape;389;p7"/>
            <p:cNvSpPr/>
            <p:nvPr/>
          </p:nvSpPr>
          <p:spPr>
            <a:xfrm>
              <a:off x="0" y="0"/>
              <a:ext cx="19441699" cy="1383447"/>
            </a:xfrm>
            <a:custGeom>
              <a:rect b="b" l="l" r="r" t="t"/>
              <a:pathLst>
                <a:path extrusionOk="0" h="1383447" w="19441699">
                  <a:moveTo>
                    <a:pt x="0" y="0"/>
                  </a:moveTo>
                  <a:lnTo>
                    <a:pt x="19441699" y="0"/>
                  </a:lnTo>
                  <a:lnTo>
                    <a:pt x="19441699" y="1383447"/>
                  </a:lnTo>
                  <a:lnTo>
                    <a:pt x="0" y="138344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23979" l="0" r="-9818" t="-27745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7"/>
            <p:cNvSpPr txBox="1"/>
            <p:nvPr/>
          </p:nvSpPr>
          <p:spPr>
            <a:xfrm>
              <a:off x="0" y="-47625"/>
              <a:ext cx="19441699" cy="14310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24">
                  <a:solidFill>
                    <a:srgbClr val="0B2545"/>
                  </a:solidFill>
                  <a:latin typeface="Calibri"/>
                  <a:ea typeface="Calibri"/>
                  <a:cs typeface="Calibri"/>
                  <a:sym typeface="Calibri"/>
                </a:rPr>
                <a:t>Insight: </a:t>
              </a:r>
              <a:r>
                <a:rPr lang="en-US" sz="1924">
                  <a:solidFill>
                    <a:srgbClr val="0B2545"/>
                  </a:solidFill>
                  <a:latin typeface="Calibri"/>
                  <a:ea typeface="Calibri"/>
                  <a:cs typeface="Calibri"/>
                  <a:sym typeface="Calibri"/>
                </a:rPr>
                <a:t>Rating 3 didominasi pelanggan yang terlambat, rating 4 oleh yang tepat waktu. Jadi rata-rata 3,37 bukan tanda pelanggan netral, melainkan campuran dua pengalaman yang berbeda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B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5" name="Google Shape;395;p8"/>
          <p:cNvGrpSpPr/>
          <p:nvPr/>
        </p:nvGrpSpPr>
        <p:grpSpPr>
          <a:xfrm>
            <a:off x="822960" y="588645"/>
            <a:ext cx="10972800" cy="508635"/>
            <a:chOff x="0" y="-38100"/>
            <a:chExt cx="14630400" cy="678180"/>
          </a:xfrm>
        </p:grpSpPr>
        <p:sp>
          <p:nvSpPr>
            <p:cNvPr id="396" name="Google Shape;396;p8"/>
            <p:cNvSpPr/>
            <p:nvPr/>
          </p:nvSpPr>
          <p:spPr>
            <a:xfrm>
              <a:off x="0" y="0"/>
              <a:ext cx="14630400" cy="640080"/>
            </a:xfrm>
            <a:custGeom>
              <a:rect b="b" l="l" r="r" t="t"/>
              <a:pathLst>
                <a:path extrusionOk="0"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95395" l="0" r="0" t="-39539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8"/>
            <p:cNvSpPr txBox="1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pc="300" sz="1800">
                  <a:solidFill>
                    <a:srgbClr val="1C7293"/>
                  </a:solidFill>
                  <a:latin typeface="Calibri"/>
                  <a:ea typeface="Calibri"/>
                  <a:cs typeface="Calibri"/>
                  <a:sym typeface="Calibri"/>
                </a:rPr>
                <a:t>Q1 · KETEPATAN WAKTU PENGIRIMAN</a:t>
              </a:r>
              <a:endParaRPr/>
            </a:p>
          </p:txBody>
        </p:sp>
      </p:grpSp>
      <p:grpSp>
        <p:nvGrpSpPr>
          <p:cNvPr id="398" name="Google Shape;398;p8"/>
          <p:cNvGrpSpPr/>
          <p:nvPr/>
        </p:nvGrpSpPr>
        <p:grpSpPr>
          <a:xfrm>
            <a:off x="822960" y="1055561"/>
            <a:ext cx="16184880" cy="1111568"/>
            <a:chOff x="0" y="-19050"/>
            <a:chExt cx="21579840" cy="1482090"/>
          </a:xfrm>
        </p:grpSpPr>
        <p:sp>
          <p:nvSpPr>
            <p:cNvPr id="399" name="Google Shape;399;p8"/>
            <p:cNvSpPr/>
            <p:nvPr/>
          </p:nvSpPr>
          <p:spPr>
            <a:xfrm>
              <a:off x="0" y="0"/>
              <a:ext cx="21579839" cy="1463040"/>
            </a:xfrm>
            <a:custGeom>
              <a:rect b="b" l="l" r="r" t="t"/>
              <a:pathLst>
                <a:path extrusionOk="0" h="146304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37389" l="0" r="0" t="-23738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8"/>
            <p:cNvSpPr txBox="1"/>
            <p:nvPr/>
          </p:nvSpPr>
          <p:spPr>
            <a:xfrm>
              <a:off x="0" y="-19050"/>
              <a:ext cx="21579840" cy="1482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00">
                  <a:solidFill>
                    <a:srgbClr val="0B2545"/>
                  </a:solidFill>
                  <a:latin typeface="Cambria"/>
                  <a:ea typeface="Cambria"/>
                  <a:cs typeface="Cambria"/>
                  <a:sym typeface="Cambria"/>
                </a:rPr>
                <a:t>Lebih dari Separuh Pengiriman Terlambat</a:t>
              </a:r>
              <a:endParaRPr/>
            </a:p>
          </p:txBody>
        </p:sp>
      </p:grpSp>
      <p:sp>
        <p:nvSpPr>
          <p:cNvPr id="401" name="Google Shape;401;p8"/>
          <p:cNvSpPr/>
          <p:nvPr/>
        </p:nvSpPr>
        <p:spPr>
          <a:xfrm>
            <a:off x="813435" y="2527935"/>
            <a:ext cx="4819650" cy="1870710"/>
          </a:xfrm>
          <a:custGeom>
            <a:rect b="b" l="l" r="r" t="t"/>
            <a:pathLst>
              <a:path extrusionOk="0" h="2494280" w="6426200">
                <a:moveTo>
                  <a:pt x="0" y="147828"/>
                </a:moveTo>
                <a:cubicBezTo>
                  <a:pt x="0" y="66167"/>
                  <a:pt x="66167" y="0"/>
                  <a:pt x="147828" y="0"/>
                </a:cubicBezTo>
                <a:lnTo>
                  <a:pt x="6278372" y="0"/>
                </a:lnTo>
                <a:cubicBezTo>
                  <a:pt x="6360033" y="0"/>
                  <a:pt x="6426200" y="66167"/>
                  <a:pt x="6426200" y="147828"/>
                </a:cubicBezTo>
                <a:lnTo>
                  <a:pt x="6426200" y="2346452"/>
                </a:lnTo>
                <a:cubicBezTo>
                  <a:pt x="6426200" y="2428113"/>
                  <a:pt x="6360033" y="2494280"/>
                  <a:pt x="6278372" y="2494280"/>
                </a:cubicBezTo>
                <a:lnTo>
                  <a:pt x="147828" y="2494280"/>
                </a:lnTo>
                <a:cubicBezTo>
                  <a:pt x="66167" y="2494280"/>
                  <a:pt x="0" y="2428113"/>
                  <a:pt x="0" y="2346452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E3EA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8"/>
          <p:cNvSpPr/>
          <p:nvPr/>
        </p:nvSpPr>
        <p:spPr>
          <a:xfrm>
            <a:off x="813435" y="4516755"/>
            <a:ext cx="4819650" cy="1870710"/>
          </a:xfrm>
          <a:custGeom>
            <a:rect b="b" l="l" r="r" t="t"/>
            <a:pathLst>
              <a:path extrusionOk="0" h="2494280" w="6426200">
                <a:moveTo>
                  <a:pt x="0" y="147828"/>
                </a:moveTo>
                <a:cubicBezTo>
                  <a:pt x="0" y="66167"/>
                  <a:pt x="66167" y="0"/>
                  <a:pt x="147828" y="0"/>
                </a:cubicBezTo>
                <a:lnTo>
                  <a:pt x="6278372" y="0"/>
                </a:lnTo>
                <a:cubicBezTo>
                  <a:pt x="6360033" y="0"/>
                  <a:pt x="6426200" y="66167"/>
                  <a:pt x="6426200" y="147828"/>
                </a:cubicBezTo>
                <a:lnTo>
                  <a:pt x="6426200" y="2346452"/>
                </a:lnTo>
                <a:cubicBezTo>
                  <a:pt x="6426200" y="2428113"/>
                  <a:pt x="6360033" y="2494280"/>
                  <a:pt x="6278372" y="2494280"/>
                </a:cubicBezTo>
                <a:lnTo>
                  <a:pt x="147828" y="2494280"/>
                </a:lnTo>
                <a:cubicBezTo>
                  <a:pt x="66167" y="2494280"/>
                  <a:pt x="0" y="2428113"/>
                  <a:pt x="0" y="2346452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E3EA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3" name="Google Shape;403;p8"/>
          <p:cNvGrpSpPr/>
          <p:nvPr/>
        </p:nvGrpSpPr>
        <p:grpSpPr>
          <a:xfrm>
            <a:off x="6035040" y="6129338"/>
            <a:ext cx="11384280" cy="1002982"/>
            <a:chOff x="0" y="-57150"/>
            <a:chExt cx="15179040" cy="1337310"/>
          </a:xfrm>
        </p:grpSpPr>
        <p:sp>
          <p:nvSpPr>
            <p:cNvPr id="404" name="Google Shape;404;p8"/>
            <p:cNvSpPr/>
            <p:nvPr/>
          </p:nvSpPr>
          <p:spPr>
            <a:xfrm>
              <a:off x="0" y="0"/>
              <a:ext cx="15179039" cy="1280160"/>
            </a:xfrm>
            <a:custGeom>
              <a:rect b="b" l="l" r="r" t="t"/>
              <a:pathLst>
                <a:path extrusionOk="0" h="1280160" w="15179039">
                  <a:moveTo>
                    <a:pt x="0" y="0"/>
                  </a:moveTo>
                  <a:lnTo>
                    <a:pt x="15179039" y="0"/>
                  </a:lnTo>
                  <a:lnTo>
                    <a:pt x="15179039" y="1280160"/>
                  </a:lnTo>
                  <a:lnTo>
                    <a:pt x="0" y="12801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81032" l="0" r="0" t="-18103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8"/>
            <p:cNvSpPr txBox="1"/>
            <p:nvPr/>
          </p:nvSpPr>
          <p:spPr>
            <a:xfrm>
              <a:off x="0" y="-57150"/>
              <a:ext cx="15179040" cy="13373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636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50">
                  <a:solidFill>
                    <a:srgbClr val="5B7387"/>
                  </a:solidFill>
                  <a:latin typeface="Calibri"/>
                  <a:ea typeface="Calibri"/>
                  <a:cs typeface="Calibri"/>
                  <a:sym typeface="Calibri"/>
                </a:rPr>
                <a:t>Nilai dalam % proporsi terhadap total hari aktual + dijanjikan (dashboard operasional). Aktual secara konsisten lebih tinggi — indikasi pengiriman umumnya molor dari estimasi.</a:t>
              </a:r>
              <a:endParaRPr/>
            </a:p>
          </p:txBody>
        </p:sp>
      </p:grpSp>
      <p:sp>
        <p:nvSpPr>
          <p:cNvPr id="406" name="Google Shape;406;p8"/>
          <p:cNvSpPr/>
          <p:nvPr/>
        </p:nvSpPr>
        <p:spPr>
          <a:xfrm>
            <a:off x="813425" y="7338050"/>
            <a:ext cx="16621050" cy="2125980"/>
          </a:xfrm>
          <a:custGeom>
            <a:rect b="b" l="l" r="r" t="t"/>
            <a:pathLst>
              <a:path extrusionOk="0" h="2834640" w="15179041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15032737" y="0"/>
                </a:lnTo>
                <a:cubicBezTo>
                  <a:pt x="15113508" y="0"/>
                  <a:pt x="15179041" y="65532"/>
                  <a:pt x="15179041" y="146304"/>
                </a:cubicBezTo>
                <a:lnTo>
                  <a:pt x="15179041" y="2688336"/>
                </a:lnTo>
                <a:cubicBezTo>
                  <a:pt x="15179041" y="2769108"/>
                  <a:pt x="15113508" y="2834640"/>
                  <a:pt x="15032737" y="2834640"/>
                </a:cubicBezTo>
                <a:lnTo>
                  <a:pt x="146304" y="2834640"/>
                </a:lnTo>
                <a:cubicBezTo>
                  <a:pt x="65532" y="2834640"/>
                  <a:pt x="0" y="2769108"/>
                  <a:pt x="0" y="2688336"/>
                </a:cubicBezTo>
                <a:close/>
              </a:path>
            </a:pathLst>
          </a:custGeom>
          <a:solidFill>
            <a:srgbClr val="0B254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7" name="Google Shape;407;p8"/>
          <p:cNvGrpSpPr/>
          <p:nvPr/>
        </p:nvGrpSpPr>
        <p:grpSpPr>
          <a:xfrm>
            <a:off x="1438100" y="7479500"/>
            <a:ext cx="15707554" cy="1847475"/>
            <a:chOff x="-604819" y="-85725"/>
            <a:chExt cx="14961000" cy="2463300"/>
          </a:xfrm>
        </p:grpSpPr>
        <p:sp>
          <p:nvSpPr>
            <p:cNvPr id="408" name="Google Shape;408;p8"/>
            <p:cNvSpPr/>
            <p:nvPr/>
          </p:nvSpPr>
          <p:spPr>
            <a:xfrm>
              <a:off x="0" y="0"/>
              <a:ext cx="14356080" cy="2377440"/>
            </a:xfrm>
            <a:custGeom>
              <a:rect b="b" l="l" r="r" t="t"/>
              <a:pathLst>
                <a:path extrusionOk="0" h="2377440" w="14356080">
                  <a:moveTo>
                    <a:pt x="0" y="0"/>
                  </a:moveTo>
                  <a:lnTo>
                    <a:pt x="14356080" y="0"/>
                  </a:lnTo>
                  <a:lnTo>
                    <a:pt x="14356080" y="2377440"/>
                  </a:lnTo>
                  <a:lnTo>
                    <a:pt x="0" y="23774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7658" l="0" r="0" t="-67658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p8"/>
            <p:cNvSpPr txBox="1"/>
            <p:nvPr/>
          </p:nvSpPr>
          <p:spPr>
            <a:xfrm>
              <a:off x="-604819" y="-85725"/>
              <a:ext cx="14961000" cy="246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75">
                  <a:solidFill>
                    <a:srgbClr val="FFBD59"/>
                  </a:solidFill>
                  <a:latin typeface="Calibri"/>
                  <a:ea typeface="Calibri"/>
                  <a:cs typeface="Calibri"/>
                  <a:sym typeface="Calibri"/>
                </a:rPr>
                <a:t>Insight:</a:t>
              </a:r>
              <a:r>
                <a:rPr b="1" lang="en-US" sz="1875">
                  <a:solidFill>
                    <a:srgbClr val="1C7293"/>
                  </a:solidFill>
                  <a:latin typeface="Calibri"/>
                  <a:ea typeface="Calibri"/>
                  <a:cs typeface="Calibri"/>
                  <a:sym typeface="Calibri"/>
                </a:rPr>
                <a:t>  </a:t>
              </a:r>
              <a:r>
                <a:rPr lang="en-US" sz="1875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Dengan late rate 56,32%, keterlambatan bukan kasus tepi (edge case) melainkan </a:t>
              </a:r>
              <a:r>
                <a:rPr b="1" lang="en-US" sz="1875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kondisi mayoritas</a:t>
              </a:r>
              <a:r>
                <a:rPr lang="en-US" sz="1875">
                  <a:solidFill>
                    <a:srgbClr val="CFE2F3"/>
                  </a:solidFill>
                  <a:latin typeface="Calibri"/>
                  <a:ea typeface="Calibri"/>
                  <a:cs typeface="Calibri"/>
                  <a:sym typeface="Calibri"/>
                </a:rPr>
                <a:t>. Ini menjadi akar masalah yang mendorong penurunan rating dan kenaikan retur.</a:t>
              </a:r>
              <a:endParaRPr/>
            </a:p>
          </p:txBody>
        </p:sp>
      </p:grpSp>
      <p:grpSp>
        <p:nvGrpSpPr>
          <p:cNvPr id="410" name="Google Shape;410;p8"/>
          <p:cNvGrpSpPr/>
          <p:nvPr/>
        </p:nvGrpSpPr>
        <p:grpSpPr>
          <a:xfrm>
            <a:off x="685800" y="9744361"/>
            <a:ext cx="10972800" cy="432911"/>
            <a:chOff x="0" y="-28575"/>
            <a:chExt cx="14630400" cy="577215"/>
          </a:xfrm>
        </p:grpSpPr>
        <p:sp>
          <p:nvSpPr>
            <p:cNvPr id="411" name="Google Shape;411;p8"/>
            <p:cNvSpPr/>
            <p:nvPr/>
          </p:nvSpPr>
          <p:spPr>
            <a:xfrm>
              <a:off x="0" y="0"/>
              <a:ext cx="14630400" cy="548640"/>
            </a:xfrm>
            <a:custGeom>
              <a:rect b="b" l="l" r="r" t="t"/>
              <a:pathLst>
                <a:path extrusionOk="0"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69642" l="0" r="0" t="-46964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8"/>
            <p:cNvSpPr txBox="1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5B7387"/>
                  </a:solidFill>
                  <a:latin typeface="Calibri"/>
                  <a:ea typeface="Calibri"/>
                  <a:cs typeface="Calibri"/>
                  <a:sym typeface="Calibri"/>
                </a:rPr>
                <a:t>E-Commerce Delivery Performance &amp; Revenue Risk</a:t>
              </a:r>
              <a:endParaRPr/>
            </a:p>
          </p:txBody>
        </p:sp>
      </p:grpSp>
      <p:sp>
        <p:nvSpPr>
          <p:cNvPr id="413" name="Google Shape;413;p8"/>
          <p:cNvSpPr/>
          <p:nvPr/>
        </p:nvSpPr>
        <p:spPr>
          <a:xfrm>
            <a:off x="6035040" y="2244989"/>
            <a:ext cx="9923620" cy="4004935"/>
          </a:xfrm>
          <a:custGeom>
            <a:rect b="b" l="l" r="r" t="t"/>
            <a:pathLst>
              <a:path extrusionOk="0" h="4004935" w="9923620">
                <a:moveTo>
                  <a:pt x="0" y="0"/>
                </a:moveTo>
                <a:lnTo>
                  <a:pt x="9923620" y="0"/>
                </a:lnTo>
                <a:lnTo>
                  <a:pt x="9923620" y="4004935"/>
                </a:lnTo>
                <a:lnTo>
                  <a:pt x="0" y="40049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8"/>
          <p:cNvSpPr txBox="1"/>
          <p:nvPr/>
        </p:nvSpPr>
        <p:spPr>
          <a:xfrm>
            <a:off x="1078992" y="3839718"/>
            <a:ext cx="4288536" cy="421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5B7387"/>
                </a:solidFill>
                <a:latin typeface="Calibri"/>
                <a:ea typeface="Calibri"/>
                <a:cs typeface="Calibri"/>
                <a:sym typeface="Calibri"/>
              </a:rPr>
              <a:t>Late Rate keseluruhan</a:t>
            </a:r>
            <a:endParaRPr/>
          </a:p>
        </p:txBody>
      </p:sp>
      <p:sp>
        <p:nvSpPr>
          <p:cNvPr id="415" name="Google Shape;415;p8"/>
          <p:cNvSpPr txBox="1"/>
          <p:nvPr/>
        </p:nvSpPr>
        <p:spPr>
          <a:xfrm>
            <a:off x="1078992" y="5828538"/>
            <a:ext cx="4288536" cy="421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5B7387"/>
                </a:solidFill>
                <a:latin typeface="Calibri"/>
                <a:ea typeface="Calibri"/>
                <a:cs typeface="Calibri"/>
                <a:sym typeface="Calibri"/>
              </a:rPr>
              <a:t>Rata-rata durasi delay</a:t>
            </a:r>
            <a:endParaRPr/>
          </a:p>
        </p:txBody>
      </p:sp>
      <p:sp>
        <p:nvSpPr>
          <p:cNvPr id="416" name="Google Shape;416;p8"/>
          <p:cNvSpPr txBox="1"/>
          <p:nvPr/>
        </p:nvSpPr>
        <p:spPr>
          <a:xfrm>
            <a:off x="1078992" y="2838323"/>
            <a:ext cx="2608749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99">
                <a:solidFill>
                  <a:srgbClr val="D64545"/>
                </a:solidFill>
                <a:latin typeface="Arial"/>
                <a:ea typeface="Arial"/>
                <a:cs typeface="Arial"/>
                <a:sym typeface="Arial"/>
              </a:rPr>
              <a:t>56,32%</a:t>
            </a:r>
            <a:endParaRPr/>
          </a:p>
        </p:txBody>
      </p:sp>
      <p:sp>
        <p:nvSpPr>
          <p:cNvPr id="417" name="Google Shape;417;p8"/>
          <p:cNvSpPr txBox="1"/>
          <p:nvPr/>
        </p:nvSpPr>
        <p:spPr>
          <a:xfrm>
            <a:off x="1078992" y="4827270"/>
            <a:ext cx="2897127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99">
                <a:solidFill>
                  <a:srgbClr val="FFBD59"/>
                </a:solidFill>
                <a:latin typeface="Arial"/>
                <a:ea typeface="Arial"/>
                <a:cs typeface="Arial"/>
                <a:sym typeface="Arial"/>
              </a:rPr>
              <a:t>1,28 hari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EFE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2" name="Google Shape;422;p9"/>
          <p:cNvGrpSpPr/>
          <p:nvPr/>
        </p:nvGrpSpPr>
        <p:grpSpPr>
          <a:xfrm>
            <a:off x="742028" y="3056674"/>
            <a:ext cx="3620811" cy="649278"/>
            <a:chOff x="0" y="0"/>
            <a:chExt cx="4827748" cy="865704"/>
          </a:xfrm>
        </p:grpSpPr>
        <p:sp>
          <p:nvSpPr>
            <p:cNvPr id="423" name="Google Shape;423;p9"/>
            <p:cNvSpPr/>
            <p:nvPr/>
          </p:nvSpPr>
          <p:spPr>
            <a:xfrm>
              <a:off x="0" y="0"/>
              <a:ext cx="4827748" cy="865704"/>
            </a:xfrm>
            <a:custGeom>
              <a:rect b="b" l="l" r="r" t="t"/>
              <a:pathLst>
                <a:path extrusionOk="0" h="1658422" w="9248476">
                  <a:moveTo>
                    <a:pt x="0" y="98289"/>
                  </a:moveTo>
                  <a:cubicBezTo>
                    <a:pt x="0" y="43994"/>
                    <a:pt x="95226" y="0"/>
                    <a:pt x="212752" y="0"/>
                  </a:cubicBezTo>
                  <a:lnTo>
                    <a:pt x="9035724" y="0"/>
                  </a:lnTo>
                  <a:cubicBezTo>
                    <a:pt x="9153249" y="0"/>
                    <a:pt x="9248476" y="43994"/>
                    <a:pt x="9248476" y="98289"/>
                  </a:cubicBezTo>
                  <a:lnTo>
                    <a:pt x="9248476" y="1560133"/>
                  </a:lnTo>
                  <a:cubicBezTo>
                    <a:pt x="9248476" y="1614428"/>
                    <a:pt x="9153249" y="1658422"/>
                    <a:pt x="9035724" y="1658422"/>
                  </a:cubicBezTo>
                  <a:lnTo>
                    <a:pt x="212752" y="1658422"/>
                  </a:lnTo>
                  <a:cubicBezTo>
                    <a:pt x="95226" y="1658422"/>
                    <a:pt x="0" y="1614428"/>
                    <a:pt x="0" y="1560133"/>
                  </a:cubicBezTo>
                  <a:close/>
                </a:path>
              </a:pathLst>
            </a:custGeom>
            <a:solidFill>
              <a:srgbClr val="D8E1E9"/>
            </a:solidFill>
            <a:ln cap="sq" cmpd="sng" w="19050">
              <a:solidFill>
                <a:srgbClr val="5F799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9"/>
            <p:cNvSpPr txBox="1"/>
            <p:nvPr/>
          </p:nvSpPr>
          <p:spPr>
            <a:xfrm>
              <a:off x="323340" y="159279"/>
              <a:ext cx="4504408" cy="4995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51">
                  <a:solidFill>
                    <a:srgbClr val="0B2545"/>
                  </a:solidFill>
                  <a:latin typeface="Cambria"/>
                  <a:ea typeface="Cambria"/>
                  <a:cs typeface="Cambria"/>
                  <a:sym typeface="Cambria"/>
                </a:rPr>
                <a:t>RATA-RATA 56,32%</a:t>
              </a:r>
              <a:endParaRPr/>
            </a:p>
          </p:txBody>
        </p:sp>
      </p:grpSp>
      <p:grpSp>
        <p:nvGrpSpPr>
          <p:cNvPr id="425" name="Google Shape;425;p9"/>
          <p:cNvGrpSpPr/>
          <p:nvPr/>
        </p:nvGrpSpPr>
        <p:grpSpPr>
          <a:xfrm>
            <a:off x="1130771" y="8698642"/>
            <a:ext cx="16553698" cy="1108522"/>
            <a:chOff x="0" y="0"/>
            <a:chExt cx="22071597" cy="1478029"/>
          </a:xfrm>
        </p:grpSpPr>
        <p:sp>
          <p:nvSpPr>
            <p:cNvPr id="426" name="Google Shape;426;p9"/>
            <p:cNvSpPr/>
            <p:nvPr/>
          </p:nvSpPr>
          <p:spPr>
            <a:xfrm>
              <a:off x="0" y="0"/>
              <a:ext cx="22071597" cy="1478029"/>
            </a:xfrm>
            <a:custGeom>
              <a:rect b="b" l="l" r="r" t="t"/>
              <a:pathLst>
                <a:path extrusionOk="0" h="1560366" w="23301139">
                  <a:moveTo>
                    <a:pt x="0" y="92478"/>
                  </a:moveTo>
                  <a:cubicBezTo>
                    <a:pt x="0" y="41393"/>
                    <a:pt x="239919" y="0"/>
                    <a:pt x="536018" y="0"/>
                  </a:cubicBezTo>
                  <a:lnTo>
                    <a:pt x="22765119" y="0"/>
                  </a:lnTo>
                  <a:cubicBezTo>
                    <a:pt x="23061220" y="0"/>
                    <a:pt x="23301139" y="41393"/>
                    <a:pt x="23301139" y="92478"/>
                  </a:cubicBezTo>
                  <a:lnTo>
                    <a:pt x="23301139" y="1467888"/>
                  </a:lnTo>
                  <a:cubicBezTo>
                    <a:pt x="23301139" y="1518974"/>
                    <a:pt x="23061220" y="1560366"/>
                    <a:pt x="22765119" y="1560366"/>
                  </a:cubicBezTo>
                  <a:lnTo>
                    <a:pt x="536018" y="1560366"/>
                  </a:lnTo>
                  <a:cubicBezTo>
                    <a:pt x="239919" y="1560366"/>
                    <a:pt x="0" y="1518974"/>
                    <a:pt x="0" y="1467888"/>
                  </a:cubicBezTo>
                  <a:close/>
                </a:path>
              </a:pathLst>
            </a:custGeom>
            <a:solidFill>
              <a:srgbClr val="8FA9C2"/>
            </a:solidFill>
            <a:ln cap="sq" cmpd="sng" w="19050">
              <a:solidFill>
                <a:srgbClr val="E3EAF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9"/>
            <p:cNvSpPr txBox="1"/>
            <p:nvPr/>
          </p:nvSpPr>
          <p:spPr>
            <a:xfrm>
              <a:off x="544735" y="238256"/>
              <a:ext cx="20487145" cy="8953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68">
                  <a:solidFill>
                    <a:srgbClr val="0B2545"/>
                  </a:solidFill>
                  <a:latin typeface="Cambria"/>
                  <a:ea typeface="Cambria"/>
                  <a:cs typeface="Cambria"/>
                  <a:sym typeface="Cambria"/>
                </a:rPr>
                <a:t>Insight utama:</a:t>
              </a:r>
              <a:r>
                <a:rPr lang="en-US" sz="1968">
                  <a:solidFill>
                    <a:srgbClr val="0B2545"/>
                  </a:solidFill>
                  <a:latin typeface="Cambria"/>
                  <a:ea typeface="Cambria"/>
                  <a:cs typeface="Cambria"/>
                  <a:sym typeface="Cambria"/>
                </a:rPr>
                <a:t> Late rate tidak pernah turun di bawah 55% sepanjang 12 bulan — menunjukkan ini masalah struktural yang berulang, bukan kejadian musiman atau sesekali.</a:t>
              </a:r>
              <a:endParaRPr/>
            </a:p>
          </p:txBody>
        </p:sp>
      </p:grpSp>
      <p:sp>
        <p:nvSpPr>
          <p:cNvPr id="428" name="Google Shape;428;p9"/>
          <p:cNvSpPr txBox="1"/>
          <p:nvPr/>
        </p:nvSpPr>
        <p:spPr>
          <a:xfrm>
            <a:off x="990341" y="858152"/>
            <a:ext cx="16694126" cy="1390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Analisis </a:t>
            </a:r>
            <a:r>
              <a:rPr b="1" lang="en-US" sz="4500" u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Keterlambatan Operasional: Masalah Sistemik Konsisten di Angka 56,32% Sepanjang Tahun</a:t>
            </a:r>
            <a:endParaRPr/>
          </a:p>
        </p:txBody>
      </p:sp>
      <p:grpSp>
        <p:nvGrpSpPr>
          <p:cNvPr id="429" name="Google Shape;429;p9"/>
          <p:cNvGrpSpPr/>
          <p:nvPr/>
        </p:nvGrpSpPr>
        <p:grpSpPr>
          <a:xfrm>
            <a:off x="3580619" y="3927816"/>
            <a:ext cx="11686711" cy="4459113"/>
            <a:chOff x="0" y="0"/>
            <a:chExt cx="15582281" cy="5945485"/>
          </a:xfrm>
        </p:grpSpPr>
        <p:sp>
          <p:nvSpPr>
            <p:cNvPr id="430" name="Google Shape;430;p9"/>
            <p:cNvSpPr/>
            <p:nvPr/>
          </p:nvSpPr>
          <p:spPr>
            <a:xfrm>
              <a:off x="0" y="0"/>
              <a:ext cx="15582281" cy="5945485"/>
            </a:xfrm>
            <a:custGeom>
              <a:rect b="b" l="l" r="r" t="t"/>
              <a:pathLst>
                <a:path extrusionOk="0" h="5945485" w="15582281">
                  <a:moveTo>
                    <a:pt x="0" y="0"/>
                  </a:moveTo>
                  <a:lnTo>
                    <a:pt x="15582281" y="0"/>
                  </a:lnTo>
                  <a:lnTo>
                    <a:pt x="15582281" y="5945485"/>
                  </a:lnTo>
                  <a:lnTo>
                    <a:pt x="0" y="594548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751" l="0" r="0" t="-751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31" name="Google Shape;431;p9"/>
            <p:cNvCxnSpPr/>
            <p:nvPr/>
          </p:nvCxnSpPr>
          <p:spPr>
            <a:xfrm>
              <a:off x="948856" y="816831"/>
              <a:ext cx="13992516" cy="0"/>
            </a:xfrm>
            <a:prstGeom prst="straightConnector1">
              <a:avLst/>
            </a:prstGeom>
            <a:noFill/>
            <a:ln cap="flat" cmpd="sng" w="50800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grpSp>
        <p:nvGrpSpPr>
          <p:cNvPr id="432" name="Google Shape;432;p9"/>
          <p:cNvGrpSpPr/>
          <p:nvPr/>
        </p:nvGrpSpPr>
        <p:grpSpPr>
          <a:xfrm>
            <a:off x="12913288" y="3042677"/>
            <a:ext cx="4789292" cy="657653"/>
            <a:chOff x="0" y="0"/>
            <a:chExt cx="6385723" cy="876870"/>
          </a:xfrm>
        </p:grpSpPr>
        <p:sp>
          <p:nvSpPr>
            <p:cNvPr id="433" name="Google Shape;433;p9"/>
            <p:cNvSpPr/>
            <p:nvPr/>
          </p:nvSpPr>
          <p:spPr>
            <a:xfrm>
              <a:off x="0" y="0"/>
              <a:ext cx="6385723" cy="876870"/>
            </a:xfrm>
            <a:custGeom>
              <a:rect b="b" l="l" r="r" t="t"/>
              <a:pathLst>
                <a:path extrusionOk="0" h="1840426" w="13402721">
                  <a:moveTo>
                    <a:pt x="0" y="109076"/>
                  </a:moveTo>
                  <a:cubicBezTo>
                    <a:pt x="0" y="48822"/>
                    <a:pt x="138000" y="0"/>
                    <a:pt x="308316" y="0"/>
                  </a:cubicBezTo>
                  <a:lnTo>
                    <a:pt x="13094405" y="0"/>
                  </a:lnTo>
                  <a:cubicBezTo>
                    <a:pt x="13264721" y="0"/>
                    <a:pt x="13402721" y="48822"/>
                    <a:pt x="13402721" y="109076"/>
                  </a:cubicBezTo>
                  <a:lnTo>
                    <a:pt x="13402721" y="1731350"/>
                  </a:lnTo>
                  <a:cubicBezTo>
                    <a:pt x="13402721" y="1791604"/>
                    <a:pt x="13264721" y="1840426"/>
                    <a:pt x="13094405" y="1840426"/>
                  </a:cubicBezTo>
                  <a:lnTo>
                    <a:pt x="308316" y="1840426"/>
                  </a:lnTo>
                  <a:cubicBezTo>
                    <a:pt x="138000" y="1840426"/>
                    <a:pt x="0" y="1791604"/>
                    <a:pt x="0" y="1731350"/>
                  </a:cubicBezTo>
                  <a:close/>
                </a:path>
              </a:pathLst>
            </a:custGeom>
            <a:solidFill>
              <a:srgbClr val="D8E1E9"/>
            </a:solidFill>
            <a:ln cap="sq" cmpd="sng" w="19050">
              <a:solidFill>
                <a:srgbClr val="5F799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9"/>
            <p:cNvSpPr txBox="1"/>
            <p:nvPr/>
          </p:nvSpPr>
          <p:spPr>
            <a:xfrm>
              <a:off x="654998" y="165419"/>
              <a:ext cx="5435510" cy="498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51" u="none" strike="noStrike">
                  <a:solidFill>
                    <a:srgbClr val="0B2545"/>
                  </a:solidFill>
                  <a:latin typeface="Cambria"/>
                  <a:ea typeface="Cambria"/>
                  <a:cs typeface="Cambria"/>
                  <a:sym typeface="Cambria"/>
                </a:rPr>
                <a:t>RENTANG: 2,5 poin presentase</a:t>
              </a:r>
              <a:endParaRPr/>
            </a:p>
          </p:txBody>
        </p:sp>
      </p:grpSp>
      <p:grpSp>
        <p:nvGrpSpPr>
          <p:cNvPr id="435" name="Google Shape;435;p9"/>
          <p:cNvGrpSpPr/>
          <p:nvPr/>
        </p:nvGrpSpPr>
        <p:grpSpPr>
          <a:xfrm>
            <a:off x="4581914" y="3075434"/>
            <a:ext cx="3931158" cy="624896"/>
            <a:chOff x="0" y="0"/>
            <a:chExt cx="5241544" cy="833195"/>
          </a:xfrm>
        </p:grpSpPr>
        <p:sp>
          <p:nvSpPr>
            <p:cNvPr id="436" name="Google Shape;436;p9"/>
            <p:cNvSpPr/>
            <p:nvPr/>
          </p:nvSpPr>
          <p:spPr>
            <a:xfrm>
              <a:off x="0" y="0"/>
              <a:ext cx="5241544" cy="833195"/>
            </a:xfrm>
            <a:custGeom>
              <a:rect b="b" l="l" r="r" t="t"/>
              <a:pathLst>
                <a:path extrusionOk="0" h="1756406" w="11049374">
                  <a:moveTo>
                    <a:pt x="0" y="104097"/>
                  </a:moveTo>
                  <a:cubicBezTo>
                    <a:pt x="0" y="46593"/>
                    <a:pt x="113769" y="0"/>
                    <a:pt x="254179" y="0"/>
                  </a:cubicBezTo>
                  <a:lnTo>
                    <a:pt x="10795195" y="0"/>
                  </a:lnTo>
                  <a:cubicBezTo>
                    <a:pt x="10935605" y="0"/>
                    <a:pt x="11049374" y="46593"/>
                    <a:pt x="11049374" y="104097"/>
                  </a:cubicBezTo>
                  <a:lnTo>
                    <a:pt x="11049374" y="1652310"/>
                  </a:lnTo>
                  <a:cubicBezTo>
                    <a:pt x="11049374" y="1709813"/>
                    <a:pt x="10935605" y="1756406"/>
                    <a:pt x="10795195" y="1756406"/>
                  </a:cubicBezTo>
                  <a:lnTo>
                    <a:pt x="254179" y="1756406"/>
                  </a:lnTo>
                  <a:cubicBezTo>
                    <a:pt x="113769" y="1756406"/>
                    <a:pt x="0" y="1709813"/>
                    <a:pt x="0" y="1652310"/>
                  </a:cubicBezTo>
                  <a:close/>
                </a:path>
              </a:pathLst>
            </a:custGeom>
            <a:solidFill>
              <a:srgbClr val="D8E1E9"/>
            </a:solidFill>
            <a:ln cap="sq" cmpd="sng" w="19050">
              <a:solidFill>
                <a:srgbClr val="5F799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437;p9"/>
            <p:cNvSpPr txBox="1"/>
            <p:nvPr/>
          </p:nvSpPr>
          <p:spPr>
            <a:xfrm>
              <a:off x="351054" y="140400"/>
              <a:ext cx="4890490" cy="5047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51" u="none" strike="noStrike">
                  <a:solidFill>
                    <a:srgbClr val="0B2545"/>
                  </a:solidFill>
                  <a:latin typeface="Cambria"/>
                  <a:ea typeface="Cambria"/>
                  <a:cs typeface="Cambria"/>
                  <a:sym typeface="Cambria"/>
                </a:rPr>
                <a:t>MIN: 55,2% (Februari)</a:t>
              </a:r>
              <a:endParaRPr/>
            </a:p>
          </p:txBody>
        </p:sp>
      </p:grpSp>
      <p:grpSp>
        <p:nvGrpSpPr>
          <p:cNvPr id="438" name="Google Shape;438;p9"/>
          <p:cNvGrpSpPr/>
          <p:nvPr/>
        </p:nvGrpSpPr>
        <p:grpSpPr>
          <a:xfrm>
            <a:off x="8732147" y="3083933"/>
            <a:ext cx="3962066" cy="592752"/>
            <a:chOff x="0" y="0"/>
            <a:chExt cx="5282755" cy="790336"/>
          </a:xfrm>
        </p:grpSpPr>
        <p:sp>
          <p:nvSpPr>
            <p:cNvPr id="439" name="Google Shape;439;p9"/>
            <p:cNvSpPr/>
            <p:nvPr/>
          </p:nvSpPr>
          <p:spPr>
            <a:xfrm>
              <a:off x="0" y="0"/>
              <a:ext cx="5282755" cy="790336"/>
            </a:xfrm>
            <a:custGeom>
              <a:rect b="b" l="l" r="r" t="t"/>
              <a:pathLst>
                <a:path extrusionOk="0" h="1756406" w="11740143">
                  <a:moveTo>
                    <a:pt x="0" y="104097"/>
                  </a:moveTo>
                  <a:cubicBezTo>
                    <a:pt x="0" y="46593"/>
                    <a:pt x="120882" y="0"/>
                    <a:pt x="270070" y="0"/>
                  </a:cubicBezTo>
                  <a:lnTo>
                    <a:pt x="11470074" y="0"/>
                  </a:lnTo>
                  <a:cubicBezTo>
                    <a:pt x="11619262" y="0"/>
                    <a:pt x="11740143" y="46593"/>
                    <a:pt x="11740143" y="104097"/>
                  </a:cubicBezTo>
                  <a:lnTo>
                    <a:pt x="11740143" y="1652310"/>
                  </a:lnTo>
                  <a:cubicBezTo>
                    <a:pt x="11740143" y="1709813"/>
                    <a:pt x="11619262" y="1756406"/>
                    <a:pt x="11470074" y="1756406"/>
                  </a:cubicBezTo>
                  <a:lnTo>
                    <a:pt x="270070" y="1756406"/>
                  </a:lnTo>
                  <a:cubicBezTo>
                    <a:pt x="120882" y="1756406"/>
                    <a:pt x="0" y="1709813"/>
                    <a:pt x="0" y="1652310"/>
                  </a:cubicBezTo>
                  <a:close/>
                </a:path>
              </a:pathLst>
            </a:custGeom>
            <a:solidFill>
              <a:srgbClr val="D8E1E9"/>
            </a:solidFill>
            <a:ln cap="sq" cmpd="sng" w="19050">
              <a:solidFill>
                <a:srgbClr val="5F799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Google Shape;440;p9"/>
            <p:cNvSpPr txBox="1"/>
            <p:nvPr/>
          </p:nvSpPr>
          <p:spPr>
            <a:xfrm>
              <a:off x="86528" y="118971"/>
              <a:ext cx="5196227" cy="5047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51" u="none" strike="noStrike">
                  <a:solidFill>
                    <a:srgbClr val="0B2545"/>
                  </a:solidFill>
                  <a:latin typeface="Cambria"/>
                  <a:ea typeface="Cambria"/>
                  <a:cs typeface="Cambria"/>
                  <a:sym typeface="Cambria"/>
                </a:rPr>
                <a:t>MAX: 57,7% (Maret)</a:t>
              </a:r>
              <a:endParaRPr/>
            </a:p>
          </p:txBody>
        </p:sp>
      </p:grpSp>
      <p:grpSp>
        <p:nvGrpSpPr>
          <p:cNvPr id="441" name="Google Shape;441;p9"/>
          <p:cNvGrpSpPr/>
          <p:nvPr/>
        </p:nvGrpSpPr>
        <p:grpSpPr>
          <a:xfrm>
            <a:off x="1061093" y="368567"/>
            <a:ext cx="10972800" cy="508635"/>
            <a:chOff x="0" y="-38100"/>
            <a:chExt cx="14630400" cy="678180"/>
          </a:xfrm>
        </p:grpSpPr>
        <p:sp>
          <p:nvSpPr>
            <p:cNvPr id="442" name="Google Shape;442;p9"/>
            <p:cNvSpPr/>
            <p:nvPr/>
          </p:nvSpPr>
          <p:spPr>
            <a:xfrm>
              <a:off x="0" y="0"/>
              <a:ext cx="14630400" cy="640080"/>
            </a:xfrm>
            <a:custGeom>
              <a:rect b="b" l="l" r="r" t="t"/>
              <a:pathLst>
                <a:path extrusionOk="0"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395395" l="0" r="0" t="-39539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9"/>
            <p:cNvSpPr txBox="1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pc="300" sz="1800">
                  <a:solidFill>
                    <a:srgbClr val="1C7293"/>
                  </a:solidFill>
                  <a:latin typeface="Calibri"/>
                  <a:ea typeface="Calibri"/>
                  <a:cs typeface="Calibri"/>
                  <a:sym typeface="Calibri"/>
                </a:rPr>
                <a:t>Q1 · KETEPATAN WAKTU PENGIRIMAN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B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0"/>
          <p:cNvSpPr/>
          <p:nvPr/>
        </p:nvSpPr>
        <p:spPr>
          <a:xfrm>
            <a:off x="822960" y="617220"/>
            <a:ext cx="10972800" cy="480060"/>
          </a:xfrm>
          <a:custGeom>
            <a:rect b="b" l="l" r="r" t="t"/>
            <a:pathLst>
              <a:path extrusionOk="0" h="640080" w="14630400">
                <a:moveTo>
                  <a:pt x="0" y="0"/>
                </a:moveTo>
                <a:lnTo>
                  <a:pt x="14630400" y="0"/>
                </a:lnTo>
                <a:lnTo>
                  <a:pt x="14630400" y="640080"/>
                </a:lnTo>
                <a:lnTo>
                  <a:pt x="0" y="64008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395077" l="0" r="0" t="-39507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9" name="Google Shape;449;p10"/>
          <p:cNvGrpSpPr/>
          <p:nvPr/>
        </p:nvGrpSpPr>
        <p:grpSpPr>
          <a:xfrm>
            <a:off x="822960" y="560070"/>
            <a:ext cx="10972800" cy="537210"/>
            <a:chOff x="0" y="-38100"/>
            <a:chExt cx="14630400" cy="716280"/>
          </a:xfrm>
        </p:grpSpPr>
        <p:sp>
          <p:nvSpPr>
            <p:cNvPr id="450" name="Google Shape;450;p10"/>
            <p:cNvSpPr/>
            <p:nvPr/>
          </p:nvSpPr>
          <p:spPr>
            <a:xfrm>
              <a:off x="0" y="0"/>
              <a:ext cx="14630400" cy="678180"/>
            </a:xfrm>
            <a:custGeom>
              <a:rect b="b" l="l" r="r" t="t"/>
              <a:pathLst>
                <a:path extrusionOk="0" h="6781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78180"/>
                  </a:lnTo>
                  <a:lnTo>
                    <a:pt x="0" y="67818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370380" l="0" r="0" t="-37038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p10"/>
            <p:cNvSpPr txBox="1"/>
            <p:nvPr/>
          </p:nvSpPr>
          <p:spPr>
            <a:xfrm>
              <a:off x="0" y="-38100"/>
              <a:ext cx="14630400" cy="716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pc="300" sz="1800">
                  <a:solidFill>
                    <a:srgbClr val="1C7293"/>
                  </a:solidFill>
                  <a:latin typeface="Calibri"/>
                  <a:ea typeface="Calibri"/>
                  <a:cs typeface="Calibri"/>
                  <a:sym typeface="Calibri"/>
                </a:rPr>
                <a:t>METODOLOGI · UJI STATISTIK</a:t>
              </a:r>
              <a:endParaRPr/>
            </a:p>
          </p:txBody>
        </p:sp>
      </p:grpSp>
      <p:sp>
        <p:nvSpPr>
          <p:cNvPr id="452" name="Google Shape;452;p10"/>
          <p:cNvSpPr/>
          <p:nvPr/>
        </p:nvSpPr>
        <p:spPr>
          <a:xfrm>
            <a:off x="822960" y="1069848"/>
            <a:ext cx="16184879" cy="1097280"/>
          </a:xfrm>
          <a:custGeom>
            <a:rect b="b" l="l" r="r" t="t"/>
            <a:pathLst>
              <a:path extrusionOk="0" h="1463040" w="21579839">
                <a:moveTo>
                  <a:pt x="0" y="0"/>
                </a:moveTo>
                <a:lnTo>
                  <a:pt x="21579839" y="0"/>
                </a:lnTo>
                <a:lnTo>
                  <a:pt x="21579839" y="1463040"/>
                </a:lnTo>
                <a:lnTo>
                  <a:pt x="0" y="146304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37191" l="0" r="0" t="-23719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3" name="Google Shape;453;p10"/>
          <p:cNvGrpSpPr/>
          <p:nvPr/>
        </p:nvGrpSpPr>
        <p:grpSpPr>
          <a:xfrm>
            <a:off x="822960" y="1041272"/>
            <a:ext cx="16184880" cy="1125856"/>
            <a:chOff x="0" y="-19050"/>
            <a:chExt cx="21579840" cy="1501140"/>
          </a:xfrm>
        </p:grpSpPr>
        <p:sp>
          <p:nvSpPr>
            <p:cNvPr id="454" name="Google Shape;454;p10"/>
            <p:cNvSpPr/>
            <p:nvPr/>
          </p:nvSpPr>
          <p:spPr>
            <a:xfrm>
              <a:off x="0" y="0"/>
              <a:ext cx="21579839" cy="1482090"/>
            </a:xfrm>
            <a:custGeom>
              <a:rect b="b" l="l" r="r" t="t"/>
              <a:pathLst>
                <a:path extrusionOk="0" h="148209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482090"/>
                  </a:lnTo>
                  <a:lnTo>
                    <a:pt x="0" y="148209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33704" l="0" r="0" t="-23370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" name="Google Shape;455;p10"/>
            <p:cNvSpPr txBox="1"/>
            <p:nvPr/>
          </p:nvSpPr>
          <p:spPr>
            <a:xfrm>
              <a:off x="0" y="-19050"/>
              <a:ext cx="21579840" cy="15011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00">
                  <a:solidFill>
                    <a:srgbClr val="0B2545"/>
                  </a:solidFill>
                  <a:latin typeface="Cambria"/>
                  <a:ea typeface="Cambria"/>
                  <a:cs typeface="Cambria"/>
                  <a:sym typeface="Cambria"/>
                </a:rPr>
                <a:t>Keterlambatan Terbukti Signifikan Menurunkan Rating</a:t>
              </a:r>
              <a:endParaRPr/>
            </a:p>
          </p:txBody>
        </p:sp>
      </p:grpSp>
      <p:sp>
        <p:nvSpPr>
          <p:cNvPr id="456" name="Google Shape;456;p10"/>
          <p:cNvSpPr/>
          <p:nvPr/>
        </p:nvSpPr>
        <p:spPr>
          <a:xfrm>
            <a:off x="806291" y="2520791"/>
            <a:ext cx="8194357" cy="6685597"/>
          </a:xfrm>
          <a:custGeom>
            <a:rect b="b" l="l" r="r" t="t"/>
            <a:pathLst>
              <a:path extrusionOk="0" h="6685597" w="8194357">
                <a:moveTo>
                  <a:pt x="0" y="0"/>
                </a:moveTo>
                <a:lnTo>
                  <a:pt x="8194358" y="0"/>
                </a:lnTo>
                <a:lnTo>
                  <a:pt x="8194358" y="6685598"/>
                </a:lnTo>
                <a:lnTo>
                  <a:pt x="0" y="668559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0"/>
          <p:cNvSpPr/>
          <p:nvPr/>
        </p:nvSpPr>
        <p:spPr>
          <a:xfrm>
            <a:off x="1234440" y="2811780"/>
            <a:ext cx="7406640" cy="548640"/>
          </a:xfrm>
          <a:custGeom>
            <a:rect b="b" l="l" r="r" t="t"/>
            <a:pathLst>
              <a:path extrusionOk="0" h="731520" w="9875520">
                <a:moveTo>
                  <a:pt x="0" y="0"/>
                </a:moveTo>
                <a:lnTo>
                  <a:pt x="9875520" y="0"/>
                </a:lnTo>
                <a:lnTo>
                  <a:pt x="9875520" y="731520"/>
                </a:lnTo>
                <a:lnTo>
                  <a:pt x="0" y="7315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12870" l="0" r="0" t="-21286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8" name="Google Shape;458;p10"/>
          <p:cNvGrpSpPr/>
          <p:nvPr/>
        </p:nvGrpSpPr>
        <p:grpSpPr>
          <a:xfrm>
            <a:off x="1234440" y="2797492"/>
            <a:ext cx="7406640" cy="562928"/>
            <a:chOff x="0" y="-9525"/>
            <a:chExt cx="9875520" cy="750570"/>
          </a:xfrm>
        </p:grpSpPr>
        <p:sp>
          <p:nvSpPr>
            <p:cNvPr id="459" name="Google Shape;459;p10"/>
            <p:cNvSpPr/>
            <p:nvPr/>
          </p:nvSpPr>
          <p:spPr>
            <a:xfrm>
              <a:off x="0" y="0"/>
              <a:ext cx="9875520" cy="741045"/>
            </a:xfrm>
            <a:custGeom>
              <a:rect b="b" l="l" r="r" t="t"/>
              <a:pathLst>
                <a:path extrusionOk="0" h="741045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741045"/>
                  </a:lnTo>
                  <a:lnTo>
                    <a:pt x="0" y="74104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09659" l="0" r="0" t="-20965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p10"/>
            <p:cNvSpPr txBox="1"/>
            <p:nvPr/>
          </p:nvSpPr>
          <p:spPr>
            <a:xfrm>
              <a:off x="0" y="-9525"/>
              <a:ext cx="9875520" cy="7505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B2545"/>
                  </a:solidFill>
                  <a:latin typeface="Cambria"/>
                  <a:ea typeface="Cambria"/>
                  <a:cs typeface="Cambria"/>
                  <a:sym typeface="Cambria"/>
                </a:rPr>
                <a:t>1 · Korelasi Pearson</a:t>
              </a:r>
              <a:endParaRPr/>
            </a:p>
          </p:txBody>
        </p:sp>
      </p:grpSp>
      <p:sp>
        <p:nvSpPr>
          <p:cNvPr id="461" name="Google Shape;461;p10"/>
          <p:cNvSpPr/>
          <p:nvPr/>
        </p:nvSpPr>
        <p:spPr>
          <a:xfrm>
            <a:off x="1234440" y="3401568"/>
            <a:ext cx="7406640" cy="411480"/>
          </a:xfrm>
          <a:custGeom>
            <a:rect b="b" l="l" r="r" t="t"/>
            <a:pathLst>
              <a:path extrusionOk="0" h="548640" w="9875520">
                <a:moveTo>
                  <a:pt x="0" y="0"/>
                </a:moveTo>
                <a:lnTo>
                  <a:pt x="9875520" y="0"/>
                </a:lnTo>
                <a:lnTo>
                  <a:pt x="9875520" y="548640"/>
                </a:lnTo>
                <a:lnTo>
                  <a:pt x="0" y="54864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300484" l="0" r="0" t="-30048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2" name="Google Shape;462;p10"/>
          <p:cNvGrpSpPr/>
          <p:nvPr/>
        </p:nvGrpSpPr>
        <p:grpSpPr>
          <a:xfrm>
            <a:off x="1234440" y="3358706"/>
            <a:ext cx="7406640" cy="454342"/>
            <a:chOff x="0" y="-28575"/>
            <a:chExt cx="9875520" cy="605790"/>
          </a:xfrm>
        </p:grpSpPr>
        <p:sp>
          <p:nvSpPr>
            <p:cNvPr id="463" name="Google Shape;463;p10"/>
            <p:cNvSpPr/>
            <p:nvPr/>
          </p:nvSpPr>
          <p:spPr>
            <a:xfrm>
              <a:off x="0" y="0"/>
              <a:ext cx="9875520" cy="577215"/>
            </a:xfrm>
            <a:custGeom>
              <a:rect b="b" l="l" r="r" t="t"/>
              <a:pathLst>
                <a:path extrusionOk="0" h="577215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577215"/>
                  </a:lnTo>
                  <a:lnTo>
                    <a:pt x="0" y="57721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83378" l="0" r="0" t="-283378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10"/>
            <p:cNvSpPr txBox="1"/>
            <p:nvPr/>
          </p:nvSpPr>
          <p:spPr>
            <a:xfrm>
              <a:off x="0" y="-28575"/>
              <a:ext cx="9875520" cy="6057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50">
                  <a:solidFill>
                    <a:srgbClr val="5B7387"/>
                  </a:solidFill>
                  <a:latin typeface="Calibri"/>
                  <a:ea typeface="Calibri"/>
                  <a:cs typeface="Calibri"/>
                  <a:sym typeface="Calibri"/>
                </a:rPr>
                <a:t>delivery_delay_days  vs  customer_rating</a:t>
              </a:r>
              <a:endParaRPr/>
            </a:p>
          </p:txBody>
        </p:sp>
      </p:grpSp>
      <p:sp>
        <p:nvSpPr>
          <p:cNvPr id="465" name="Google Shape;465;p10"/>
          <p:cNvSpPr/>
          <p:nvPr/>
        </p:nvSpPr>
        <p:spPr>
          <a:xfrm>
            <a:off x="1234440" y="3909060"/>
            <a:ext cx="7406640" cy="1165860"/>
          </a:xfrm>
          <a:custGeom>
            <a:rect b="b" l="l" r="r" t="t"/>
            <a:pathLst>
              <a:path extrusionOk="0" h="1554480" w="9875520">
                <a:moveTo>
                  <a:pt x="0" y="0"/>
                </a:moveTo>
                <a:lnTo>
                  <a:pt x="9875520" y="0"/>
                </a:lnTo>
                <a:lnTo>
                  <a:pt x="9875520" y="1554480"/>
                </a:lnTo>
                <a:lnTo>
                  <a:pt x="0" y="155448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73701" l="0" r="0" t="-7370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6" name="Google Shape;466;p10"/>
          <p:cNvGrpSpPr/>
          <p:nvPr/>
        </p:nvGrpSpPr>
        <p:grpSpPr>
          <a:xfrm>
            <a:off x="1234440" y="3823335"/>
            <a:ext cx="7406640" cy="1251584"/>
            <a:chOff x="0" y="-57150"/>
            <a:chExt cx="9875520" cy="1668780"/>
          </a:xfrm>
        </p:grpSpPr>
        <p:sp>
          <p:nvSpPr>
            <p:cNvPr id="467" name="Google Shape;467;p10"/>
            <p:cNvSpPr/>
            <p:nvPr/>
          </p:nvSpPr>
          <p:spPr>
            <a:xfrm>
              <a:off x="0" y="0"/>
              <a:ext cx="9875520" cy="1611630"/>
            </a:xfrm>
            <a:custGeom>
              <a:rect b="b" l="l" r="r" t="t"/>
              <a:pathLst>
                <a:path extrusionOk="0" h="161163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611630"/>
                  </a:lnTo>
                  <a:lnTo>
                    <a:pt x="0" y="161163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69394" l="0" r="0" t="-6939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" name="Google Shape;468;p10"/>
            <p:cNvSpPr txBox="1"/>
            <p:nvPr/>
          </p:nvSpPr>
          <p:spPr>
            <a:xfrm>
              <a:off x="0" y="-57150"/>
              <a:ext cx="9875520" cy="16687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636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13293D"/>
                  </a:solidFill>
                  <a:latin typeface="Calibri"/>
                  <a:ea typeface="Calibri"/>
                  <a:cs typeface="Calibri"/>
                  <a:sym typeface="Calibri"/>
                </a:rPr>
                <a:t>H₀: </a:t>
              </a:r>
              <a:r>
                <a:rPr lang="en-US" sz="1650">
                  <a:solidFill>
                    <a:srgbClr val="13293D"/>
                  </a:solidFill>
                  <a:latin typeface="Calibri"/>
                  <a:ea typeface="Calibri"/>
                  <a:cs typeface="Calibri"/>
                  <a:sym typeface="Calibri"/>
                </a:rPr>
                <a:t>tidak ada hubungan linear antara lama delay dan rating (ρ = 0)</a:t>
              </a:r>
              <a:endParaRPr/>
            </a:p>
            <a:p>
              <a:pPr indent="0" lvl="0" marL="0" marR="0" rtl="0" algn="l">
                <a:lnSpc>
                  <a:spcPct val="13636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13293D"/>
                  </a:solidFill>
                  <a:latin typeface="Calibri"/>
                  <a:ea typeface="Calibri"/>
                  <a:cs typeface="Calibri"/>
                  <a:sym typeface="Calibri"/>
                </a:rPr>
                <a:t>H₁: </a:t>
              </a:r>
              <a:r>
                <a:rPr lang="en-US" sz="1650">
                  <a:solidFill>
                    <a:srgbClr val="13293D"/>
                  </a:solidFill>
                  <a:latin typeface="Calibri"/>
                  <a:ea typeface="Calibri"/>
                  <a:cs typeface="Calibri"/>
                  <a:sym typeface="Calibri"/>
                </a:rPr>
                <a:t>ada hubungan linear negatif antara delay dan rating (ρ &lt; 0)</a:t>
              </a:r>
              <a:endParaRPr/>
            </a:p>
          </p:txBody>
        </p:sp>
      </p:grpSp>
      <p:cxnSp>
        <p:nvCxnSpPr>
          <p:cNvPr id="469" name="Google Shape;469;p10"/>
          <p:cNvCxnSpPr/>
          <p:nvPr/>
        </p:nvCxnSpPr>
        <p:spPr>
          <a:xfrm rot="4380">
            <a:off x="1220143" y="5271135"/>
            <a:ext cx="7435253" cy="0"/>
          </a:xfrm>
          <a:prstGeom prst="straightConnector1">
            <a:avLst/>
          </a:prstGeom>
          <a:noFill/>
          <a:ln cap="rnd" cmpd="sng" w="9525">
            <a:solidFill>
              <a:srgbClr val="EEF2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0" name="Google Shape;470;p10"/>
          <p:cNvSpPr/>
          <p:nvPr/>
        </p:nvSpPr>
        <p:spPr>
          <a:xfrm>
            <a:off x="1234440" y="5362956"/>
            <a:ext cx="3566160" cy="617220"/>
          </a:xfrm>
          <a:custGeom>
            <a:rect b="b" l="l" r="r" t="t"/>
            <a:pathLst>
              <a:path extrusionOk="0" h="822960" w="4754880">
                <a:moveTo>
                  <a:pt x="0" y="0"/>
                </a:moveTo>
                <a:lnTo>
                  <a:pt x="4754880" y="0"/>
                </a:lnTo>
                <a:lnTo>
                  <a:pt x="4754880" y="822960"/>
                </a:lnTo>
                <a:lnTo>
                  <a:pt x="0" y="82296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62505" l="0" r="0" t="-6250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1" name="Google Shape;471;p10"/>
          <p:cNvGrpSpPr/>
          <p:nvPr/>
        </p:nvGrpSpPr>
        <p:grpSpPr>
          <a:xfrm>
            <a:off x="1234440" y="5305806"/>
            <a:ext cx="3566160" cy="674370"/>
            <a:chOff x="0" y="-38100"/>
            <a:chExt cx="4754880" cy="899160"/>
          </a:xfrm>
        </p:grpSpPr>
        <p:sp>
          <p:nvSpPr>
            <p:cNvPr id="472" name="Google Shape;472;p10"/>
            <p:cNvSpPr/>
            <p:nvPr/>
          </p:nvSpPr>
          <p:spPr>
            <a:xfrm>
              <a:off x="0" y="0"/>
              <a:ext cx="4754880" cy="861060"/>
            </a:xfrm>
            <a:custGeom>
              <a:rect b="b" l="l" r="r" t="t"/>
              <a:pathLst>
                <a:path extrusionOk="0" h="86106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861060"/>
                  </a:lnTo>
                  <a:lnTo>
                    <a:pt x="0" y="8610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57596" l="0" r="0" t="-5759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10"/>
            <p:cNvSpPr txBox="1"/>
            <p:nvPr/>
          </p:nvSpPr>
          <p:spPr>
            <a:xfrm>
              <a:off x="0" y="-38100"/>
              <a:ext cx="4754880" cy="8991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75">
                  <a:solidFill>
                    <a:srgbClr val="5B7387"/>
                  </a:solidFill>
                  <a:latin typeface="Calibri"/>
                  <a:ea typeface="Calibri"/>
                  <a:cs typeface="Calibri"/>
                  <a:sym typeface="Calibri"/>
                </a:rPr>
                <a:t>Koefisien (r)</a:t>
              </a:r>
              <a:endParaRPr/>
            </a:p>
          </p:txBody>
        </p:sp>
      </p:grpSp>
      <p:sp>
        <p:nvSpPr>
          <p:cNvPr id="474" name="Google Shape;474;p10"/>
          <p:cNvSpPr/>
          <p:nvPr/>
        </p:nvSpPr>
        <p:spPr>
          <a:xfrm>
            <a:off x="4869180" y="5362956"/>
            <a:ext cx="3771900" cy="617220"/>
          </a:xfrm>
          <a:custGeom>
            <a:rect b="b" l="l" r="r" t="t"/>
            <a:pathLst>
              <a:path extrusionOk="0" h="822960" w="5029200">
                <a:moveTo>
                  <a:pt x="0" y="0"/>
                </a:moveTo>
                <a:lnTo>
                  <a:pt x="5029200" y="0"/>
                </a:lnTo>
                <a:lnTo>
                  <a:pt x="5029200" y="822960"/>
                </a:lnTo>
                <a:lnTo>
                  <a:pt x="0" y="82296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68991" l="0" r="0" t="-6899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5" name="Google Shape;475;p10"/>
          <p:cNvGrpSpPr/>
          <p:nvPr/>
        </p:nvGrpSpPr>
        <p:grpSpPr>
          <a:xfrm>
            <a:off x="4869180" y="5334381"/>
            <a:ext cx="3771900" cy="645794"/>
            <a:chOff x="0" y="-19050"/>
            <a:chExt cx="5029200" cy="861060"/>
          </a:xfrm>
        </p:grpSpPr>
        <p:sp>
          <p:nvSpPr>
            <p:cNvPr id="476" name="Google Shape;476;p10"/>
            <p:cNvSpPr/>
            <p:nvPr/>
          </p:nvSpPr>
          <p:spPr>
            <a:xfrm>
              <a:off x="0" y="0"/>
              <a:ext cx="5029200" cy="842010"/>
            </a:xfrm>
            <a:custGeom>
              <a:rect b="b" l="l" r="r" t="t"/>
              <a:pathLst>
                <a:path extrusionOk="0" h="84201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842010"/>
                  </a:lnTo>
                  <a:lnTo>
                    <a:pt x="0" y="84201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66382" l="0" r="0" t="-6638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" name="Google Shape;477;p10"/>
            <p:cNvSpPr txBox="1"/>
            <p:nvPr/>
          </p:nvSpPr>
          <p:spPr>
            <a:xfrm>
              <a:off x="0" y="-19050"/>
              <a:ext cx="5029200" cy="8610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100">
                  <a:solidFill>
                    <a:srgbClr val="D64545"/>
                  </a:solidFill>
                  <a:latin typeface="Cambria"/>
                  <a:ea typeface="Cambria"/>
                  <a:cs typeface="Cambria"/>
                  <a:sym typeface="Cambria"/>
                </a:rPr>
                <a:t>-0,5080</a:t>
              </a:r>
              <a:endParaRPr/>
            </a:p>
          </p:txBody>
        </p:sp>
      </p:grpSp>
      <p:cxnSp>
        <p:nvCxnSpPr>
          <p:cNvPr id="478" name="Google Shape;478;p10"/>
          <p:cNvCxnSpPr/>
          <p:nvPr/>
        </p:nvCxnSpPr>
        <p:spPr>
          <a:xfrm rot="4380">
            <a:off x="1220143" y="5984367"/>
            <a:ext cx="7435253" cy="0"/>
          </a:xfrm>
          <a:prstGeom prst="straightConnector1">
            <a:avLst/>
          </a:prstGeom>
          <a:noFill/>
          <a:ln cap="rnd" cmpd="sng" w="9525">
            <a:solidFill>
              <a:srgbClr val="EEF2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9" name="Google Shape;479;p10"/>
          <p:cNvSpPr/>
          <p:nvPr/>
        </p:nvSpPr>
        <p:spPr>
          <a:xfrm>
            <a:off x="1234440" y="6076188"/>
            <a:ext cx="3566160" cy="617220"/>
          </a:xfrm>
          <a:custGeom>
            <a:rect b="b" l="l" r="r" t="t"/>
            <a:pathLst>
              <a:path extrusionOk="0" h="822960" w="4754880">
                <a:moveTo>
                  <a:pt x="0" y="0"/>
                </a:moveTo>
                <a:lnTo>
                  <a:pt x="4754880" y="0"/>
                </a:lnTo>
                <a:lnTo>
                  <a:pt x="4754880" y="822960"/>
                </a:lnTo>
                <a:lnTo>
                  <a:pt x="0" y="82296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62505" l="0" r="0" t="-6250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80" name="Google Shape;480;p10"/>
          <p:cNvGrpSpPr/>
          <p:nvPr/>
        </p:nvGrpSpPr>
        <p:grpSpPr>
          <a:xfrm>
            <a:off x="1234440" y="6019038"/>
            <a:ext cx="3566160" cy="674370"/>
            <a:chOff x="0" y="-38100"/>
            <a:chExt cx="4754880" cy="899160"/>
          </a:xfrm>
        </p:grpSpPr>
        <p:sp>
          <p:nvSpPr>
            <p:cNvPr id="481" name="Google Shape;481;p10"/>
            <p:cNvSpPr/>
            <p:nvPr/>
          </p:nvSpPr>
          <p:spPr>
            <a:xfrm>
              <a:off x="0" y="0"/>
              <a:ext cx="4754880" cy="861060"/>
            </a:xfrm>
            <a:custGeom>
              <a:rect b="b" l="l" r="r" t="t"/>
              <a:pathLst>
                <a:path extrusionOk="0" h="86106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861060"/>
                  </a:lnTo>
                  <a:lnTo>
                    <a:pt x="0" y="8610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57596" l="0" r="0" t="-5759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10"/>
            <p:cNvSpPr txBox="1"/>
            <p:nvPr/>
          </p:nvSpPr>
          <p:spPr>
            <a:xfrm>
              <a:off x="0" y="-38100"/>
              <a:ext cx="4754880" cy="8991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75">
                  <a:solidFill>
                    <a:srgbClr val="5B7387"/>
                  </a:solidFill>
                  <a:latin typeface="Calibri"/>
                  <a:ea typeface="Calibri"/>
                  <a:cs typeface="Calibri"/>
                  <a:sym typeface="Calibri"/>
                </a:rPr>
                <a:t>p-value</a:t>
              </a:r>
              <a:endParaRPr/>
            </a:p>
          </p:txBody>
        </p:sp>
      </p:grpSp>
      <p:sp>
        <p:nvSpPr>
          <p:cNvPr id="483" name="Google Shape;483;p10"/>
          <p:cNvSpPr/>
          <p:nvPr/>
        </p:nvSpPr>
        <p:spPr>
          <a:xfrm>
            <a:off x="4869180" y="6076188"/>
            <a:ext cx="3771900" cy="617220"/>
          </a:xfrm>
          <a:custGeom>
            <a:rect b="b" l="l" r="r" t="t"/>
            <a:pathLst>
              <a:path extrusionOk="0" h="822960" w="5029200">
                <a:moveTo>
                  <a:pt x="0" y="0"/>
                </a:moveTo>
                <a:lnTo>
                  <a:pt x="5029200" y="0"/>
                </a:lnTo>
                <a:lnTo>
                  <a:pt x="5029200" y="822960"/>
                </a:lnTo>
                <a:lnTo>
                  <a:pt x="0" y="82296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68991" l="0" r="0" t="-6899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84" name="Google Shape;484;p10"/>
          <p:cNvGrpSpPr/>
          <p:nvPr/>
        </p:nvGrpSpPr>
        <p:grpSpPr>
          <a:xfrm>
            <a:off x="4869180" y="6047613"/>
            <a:ext cx="3771900" cy="645794"/>
            <a:chOff x="0" y="-19050"/>
            <a:chExt cx="5029200" cy="861060"/>
          </a:xfrm>
        </p:grpSpPr>
        <p:sp>
          <p:nvSpPr>
            <p:cNvPr id="485" name="Google Shape;485;p10"/>
            <p:cNvSpPr/>
            <p:nvPr/>
          </p:nvSpPr>
          <p:spPr>
            <a:xfrm>
              <a:off x="0" y="0"/>
              <a:ext cx="5029200" cy="842010"/>
            </a:xfrm>
            <a:custGeom>
              <a:rect b="b" l="l" r="r" t="t"/>
              <a:pathLst>
                <a:path extrusionOk="0" h="84201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842010"/>
                  </a:lnTo>
                  <a:lnTo>
                    <a:pt x="0" y="84201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66382" l="0" r="0" t="-6638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10"/>
            <p:cNvSpPr txBox="1"/>
            <p:nvPr/>
          </p:nvSpPr>
          <p:spPr>
            <a:xfrm>
              <a:off x="0" y="-19050"/>
              <a:ext cx="5029200" cy="8610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100">
                  <a:solidFill>
                    <a:srgbClr val="D64545"/>
                  </a:solidFill>
                  <a:latin typeface="Cambria"/>
                  <a:ea typeface="Cambria"/>
                  <a:cs typeface="Cambria"/>
                  <a:sym typeface="Cambria"/>
                </a:rPr>
                <a:t>&lt; 0,001</a:t>
              </a:r>
              <a:endParaRPr/>
            </a:p>
          </p:txBody>
        </p:sp>
      </p:grpSp>
      <p:cxnSp>
        <p:nvCxnSpPr>
          <p:cNvPr id="487" name="Google Shape;487;p10"/>
          <p:cNvCxnSpPr/>
          <p:nvPr/>
        </p:nvCxnSpPr>
        <p:spPr>
          <a:xfrm rot="4380">
            <a:off x="1220143" y="6697599"/>
            <a:ext cx="7435253" cy="0"/>
          </a:xfrm>
          <a:prstGeom prst="straightConnector1">
            <a:avLst/>
          </a:prstGeom>
          <a:noFill/>
          <a:ln cap="rnd" cmpd="sng" w="9525">
            <a:solidFill>
              <a:srgbClr val="EEF2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8" name="Google Shape;488;p10"/>
          <p:cNvSpPr/>
          <p:nvPr/>
        </p:nvSpPr>
        <p:spPr>
          <a:xfrm>
            <a:off x="1234440" y="6789420"/>
            <a:ext cx="3566160" cy="617220"/>
          </a:xfrm>
          <a:custGeom>
            <a:rect b="b" l="l" r="r" t="t"/>
            <a:pathLst>
              <a:path extrusionOk="0" h="822960" w="4754880">
                <a:moveTo>
                  <a:pt x="0" y="0"/>
                </a:moveTo>
                <a:lnTo>
                  <a:pt x="4754880" y="0"/>
                </a:lnTo>
                <a:lnTo>
                  <a:pt x="4754880" y="822960"/>
                </a:lnTo>
                <a:lnTo>
                  <a:pt x="0" y="82296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62505" l="0" r="0" t="-6250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89" name="Google Shape;489;p10"/>
          <p:cNvGrpSpPr/>
          <p:nvPr/>
        </p:nvGrpSpPr>
        <p:grpSpPr>
          <a:xfrm>
            <a:off x="1234440" y="6732270"/>
            <a:ext cx="3566160" cy="674370"/>
            <a:chOff x="0" y="-38100"/>
            <a:chExt cx="4754880" cy="899160"/>
          </a:xfrm>
        </p:grpSpPr>
        <p:sp>
          <p:nvSpPr>
            <p:cNvPr id="490" name="Google Shape;490;p10"/>
            <p:cNvSpPr/>
            <p:nvPr/>
          </p:nvSpPr>
          <p:spPr>
            <a:xfrm>
              <a:off x="0" y="0"/>
              <a:ext cx="4754880" cy="861060"/>
            </a:xfrm>
            <a:custGeom>
              <a:rect b="b" l="l" r="r" t="t"/>
              <a:pathLst>
                <a:path extrusionOk="0" h="86106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861060"/>
                  </a:lnTo>
                  <a:lnTo>
                    <a:pt x="0" y="86106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57596" l="0" r="0" t="-5759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1" name="Google Shape;491;p10"/>
            <p:cNvSpPr txBox="1"/>
            <p:nvPr/>
          </p:nvSpPr>
          <p:spPr>
            <a:xfrm>
              <a:off x="0" y="-38100"/>
              <a:ext cx="4754880" cy="8991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75">
                  <a:solidFill>
                    <a:srgbClr val="5B7387"/>
                  </a:solidFill>
                  <a:latin typeface="Calibri"/>
                  <a:ea typeface="Calibri"/>
                  <a:cs typeface="Calibri"/>
                  <a:sym typeface="Calibri"/>
                </a:rPr>
                <a:t>Kesimpulan</a:t>
              </a:r>
              <a:endParaRPr/>
            </a:p>
          </p:txBody>
        </p:sp>
      </p:grpSp>
      <p:sp>
        <p:nvSpPr>
          <p:cNvPr id="492" name="Google Shape;492;p10"/>
          <p:cNvSpPr/>
          <p:nvPr/>
        </p:nvSpPr>
        <p:spPr>
          <a:xfrm>
            <a:off x="4869180" y="6789420"/>
            <a:ext cx="3771900" cy="617220"/>
          </a:xfrm>
          <a:custGeom>
            <a:rect b="b" l="l" r="r" t="t"/>
            <a:pathLst>
              <a:path extrusionOk="0" h="822960" w="5029200">
                <a:moveTo>
                  <a:pt x="0" y="0"/>
                </a:moveTo>
                <a:lnTo>
                  <a:pt x="5029200" y="0"/>
                </a:lnTo>
                <a:lnTo>
                  <a:pt x="5029200" y="822960"/>
                </a:lnTo>
                <a:lnTo>
                  <a:pt x="0" y="82296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68991" l="0" r="0" t="-6899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3" name="Google Shape;493;p10"/>
          <p:cNvGrpSpPr/>
          <p:nvPr/>
        </p:nvGrpSpPr>
        <p:grpSpPr>
          <a:xfrm>
            <a:off x="4869180" y="6760845"/>
            <a:ext cx="3771900" cy="645794"/>
            <a:chOff x="0" y="-19050"/>
            <a:chExt cx="5029200" cy="861060"/>
          </a:xfrm>
        </p:grpSpPr>
        <p:sp>
          <p:nvSpPr>
            <p:cNvPr id="494" name="Google Shape;494;p10"/>
            <p:cNvSpPr/>
            <p:nvPr/>
          </p:nvSpPr>
          <p:spPr>
            <a:xfrm>
              <a:off x="0" y="0"/>
              <a:ext cx="5029200" cy="842010"/>
            </a:xfrm>
            <a:custGeom>
              <a:rect b="b" l="l" r="r" t="t"/>
              <a:pathLst>
                <a:path extrusionOk="0" h="84201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842010"/>
                  </a:lnTo>
                  <a:lnTo>
                    <a:pt x="0" y="84201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66382" l="0" r="0" t="-6638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p10"/>
            <p:cNvSpPr txBox="1"/>
            <p:nvPr/>
          </p:nvSpPr>
          <p:spPr>
            <a:xfrm>
              <a:off x="0" y="-19050"/>
              <a:ext cx="5029200" cy="8610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100">
                  <a:solidFill>
                    <a:srgbClr val="D64545"/>
                  </a:solidFill>
                  <a:latin typeface="Cambria"/>
                  <a:ea typeface="Cambria"/>
                  <a:cs typeface="Cambria"/>
                  <a:sym typeface="Cambria"/>
                </a:rPr>
                <a:t>Korelasi negatif signifikan</a:t>
              </a:r>
              <a:endParaRPr/>
            </a:p>
          </p:txBody>
        </p:sp>
      </p:grpSp>
      <p:sp>
        <p:nvSpPr>
          <p:cNvPr id="496" name="Google Shape;496;p10"/>
          <p:cNvSpPr/>
          <p:nvPr/>
        </p:nvSpPr>
        <p:spPr>
          <a:xfrm>
            <a:off x="1234440" y="7626096"/>
            <a:ext cx="7338060" cy="1303020"/>
          </a:xfrm>
          <a:custGeom>
            <a:rect b="b" l="l" r="r" t="t"/>
            <a:pathLst>
              <a:path extrusionOk="0" h="1737360" w="9784080">
                <a:moveTo>
                  <a:pt x="0" y="128016"/>
                </a:moveTo>
                <a:cubicBezTo>
                  <a:pt x="0" y="57277"/>
                  <a:pt x="57277" y="0"/>
                  <a:pt x="128016" y="0"/>
                </a:cubicBezTo>
                <a:lnTo>
                  <a:pt x="9656064" y="0"/>
                </a:lnTo>
                <a:cubicBezTo>
                  <a:pt x="9726803" y="0"/>
                  <a:pt x="9784080" y="57277"/>
                  <a:pt x="9784080" y="128016"/>
                </a:cubicBezTo>
                <a:lnTo>
                  <a:pt x="9784080" y="1609344"/>
                </a:lnTo>
                <a:cubicBezTo>
                  <a:pt x="9784080" y="1680083"/>
                  <a:pt x="9726803" y="1737360"/>
                  <a:pt x="9656064" y="1737360"/>
                </a:cubicBezTo>
                <a:lnTo>
                  <a:pt x="128016" y="1737360"/>
                </a:lnTo>
                <a:cubicBezTo>
                  <a:pt x="57277" y="1737360"/>
                  <a:pt x="0" y="1680083"/>
                  <a:pt x="0" y="1609344"/>
                </a:cubicBezTo>
                <a:close/>
              </a:path>
            </a:pathLst>
          </a:custGeom>
          <a:solidFill>
            <a:srgbClr val="FCEF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0"/>
          <p:cNvSpPr/>
          <p:nvPr/>
        </p:nvSpPr>
        <p:spPr>
          <a:xfrm>
            <a:off x="1508760" y="7722108"/>
            <a:ext cx="6789420" cy="1097280"/>
          </a:xfrm>
          <a:custGeom>
            <a:rect b="b" l="l" r="r" t="t"/>
            <a:pathLst>
              <a:path extrusionOk="0" h="1463040" w="9052560">
                <a:moveTo>
                  <a:pt x="0" y="0"/>
                </a:moveTo>
                <a:lnTo>
                  <a:pt x="9052560" y="0"/>
                </a:lnTo>
                <a:lnTo>
                  <a:pt x="9052560" y="1463040"/>
                </a:lnTo>
                <a:lnTo>
                  <a:pt x="0" y="146304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70482" l="0" r="0" t="-7048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8" name="Google Shape;498;p10"/>
          <p:cNvGrpSpPr/>
          <p:nvPr/>
        </p:nvGrpSpPr>
        <p:grpSpPr>
          <a:xfrm>
            <a:off x="533400" y="7412328"/>
            <a:ext cx="7764780" cy="1407060"/>
            <a:chOff x="-1300480" y="-374940"/>
            <a:chExt cx="10353040" cy="1876080"/>
          </a:xfrm>
        </p:grpSpPr>
        <p:sp>
          <p:nvSpPr>
            <p:cNvPr id="499" name="Google Shape;499;p10"/>
            <p:cNvSpPr/>
            <p:nvPr/>
          </p:nvSpPr>
          <p:spPr>
            <a:xfrm>
              <a:off x="-1300480" y="-374940"/>
              <a:ext cx="9052560" cy="1501140"/>
            </a:xfrm>
            <a:custGeom>
              <a:rect b="b" l="l" r="r" t="t"/>
              <a:pathLst>
                <a:path extrusionOk="0" h="1501140" w="9052560">
                  <a:moveTo>
                    <a:pt x="0" y="0"/>
                  </a:moveTo>
                  <a:lnTo>
                    <a:pt x="9052560" y="0"/>
                  </a:lnTo>
                  <a:lnTo>
                    <a:pt x="9052560" y="1501140"/>
                  </a:lnTo>
                  <a:lnTo>
                    <a:pt x="0" y="150114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67503" l="0" r="0" t="-67503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10"/>
            <p:cNvSpPr txBox="1"/>
            <p:nvPr/>
          </p:nvSpPr>
          <p:spPr>
            <a:xfrm>
              <a:off x="0" y="-38100"/>
              <a:ext cx="9052560" cy="1539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Begitu keterlambatan terjadi, tambahan hari hampir tidak mengubah rating. </a:t>
              </a:r>
              <a:r>
                <a:rPr b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Mencegah keterlambatan jauh lebih berdampak daripada sekadar memperpendek durasi delay.</a:t>
              </a:r>
              <a:endParaRPr sz="1575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1" name="Google Shape;501;p10"/>
          <p:cNvSpPr/>
          <p:nvPr/>
        </p:nvSpPr>
        <p:spPr>
          <a:xfrm>
            <a:off x="9258300" y="2537460"/>
            <a:ext cx="8229600" cy="6652260"/>
          </a:xfrm>
          <a:custGeom>
            <a:rect b="b" l="l" r="r" t="t"/>
            <a:pathLst>
              <a:path extrusionOk="0" h="8869680" w="10972800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10826496" y="0"/>
                </a:lnTo>
                <a:cubicBezTo>
                  <a:pt x="10907268" y="0"/>
                  <a:pt x="10972800" y="65532"/>
                  <a:pt x="10972800" y="146304"/>
                </a:cubicBezTo>
                <a:lnTo>
                  <a:pt x="10972800" y="8723376"/>
                </a:lnTo>
                <a:cubicBezTo>
                  <a:pt x="10972800" y="8804148"/>
                  <a:pt x="10907268" y="8869680"/>
                  <a:pt x="10826496" y="8869680"/>
                </a:cubicBezTo>
                <a:lnTo>
                  <a:pt x="146304" y="8869680"/>
                </a:lnTo>
                <a:cubicBezTo>
                  <a:pt x="65532" y="8869680"/>
                  <a:pt x="0" y="8804148"/>
                  <a:pt x="0" y="8723376"/>
                </a:cubicBezTo>
                <a:close/>
              </a:path>
            </a:pathLst>
          </a:custGeom>
          <a:solidFill>
            <a:srgbClr val="0B254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0"/>
          <p:cNvSpPr/>
          <p:nvPr/>
        </p:nvSpPr>
        <p:spPr>
          <a:xfrm>
            <a:off x="9669780" y="2811780"/>
            <a:ext cx="7406640" cy="548640"/>
          </a:xfrm>
          <a:custGeom>
            <a:rect b="b" l="l" r="r" t="t"/>
            <a:pathLst>
              <a:path extrusionOk="0" h="731520" w="9875520">
                <a:moveTo>
                  <a:pt x="0" y="0"/>
                </a:moveTo>
                <a:lnTo>
                  <a:pt x="9875520" y="0"/>
                </a:lnTo>
                <a:lnTo>
                  <a:pt x="9875520" y="731520"/>
                </a:lnTo>
                <a:lnTo>
                  <a:pt x="0" y="7315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12870" l="0" r="0" t="-21286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03" name="Google Shape;503;p10"/>
          <p:cNvGrpSpPr/>
          <p:nvPr/>
        </p:nvGrpSpPr>
        <p:grpSpPr>
          <a:xfrm>
            <a:off x="9669780" y="2797492"/>
            <a:ext cx="7406640" cy="562928"/>
            <a:chOff x="0" y="-9525"/>
            <a:chExt cx="9875520" cy="750570"/>
          </a:xfrm>
        </p:grpSpPr>
        <p:sp>
          <p:nvSpPr>
            <p:cNvPr id="504" name="Google Shape;504;p10"/>
            <p:cNvSpPr/>
            <p:nvPr/>
          </p:nvSpPr>
          <p:spPr>
            <a:xfrm>
              <a:off x="0" y="0"/>
              <a:ext cx="9875520" cy="741045"/>
            </a:xfrm>
            <a:custGeom>
              <a:rect b="b" l="l" r="r" t="t"/>
              <a:pathLst>
                <a:path extrusionOk="0" h="741045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741045"/>
                  </a:lnTo>
                  <a:lnTo>
                    <a:pt x="0" y="74104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09659" l="0" r="0" t="-20965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p10"/>
            <p:cNvSpPr txBox="1"/>
            <p:nvPr/>
          </p:nvSpPr>
          <p:spPr>
            <a:xfrm>
              <a:off x="0" y="-9525"/>
              <a:ext cx="9875520" cy="7505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2 · Independent T-Test (Welch)</a:t>
              </a:r>
              <a:endParaRPr/>
            </a:p>
          </p:txBody>
        </p:sp>
      </p:grpSp>
      <p:sp>
        <p:nvSpPr>
          <p:cNvPr id="506" name="Google Shape;506;p10"/>
          <p:cNvSpPr/>
          <p:nvPr/>
        </p:nvSpPr>
        <p:spPr>
          <a:xfrm>
            <a:off x="9669780" y="3401568"/>
            <a:ext cx="7406640" cy="411480"/>
          </a:xfrm>
          <a:custGeom>
            <a:rect b="b" l="l" r="r" t="t"/>
            <a:pathLst>
              <a:path extrusionOk="0" h="548640" w="9875520">
                <a:moveTo>
                  <a:pt x="0" y="0"/>
                </a:moveTo>
                <a:lnTo>
                  <a:pt x="9875520" y="0"/>
                </a:lnTo>
                <a:lnTo>
                  <a:pt x="9875520" y="548640"/>
                </a:lnTo>
                <a:lnTo>
                  <a:pt x="0" y="54864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300484" l="0" r="0" t="-30048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07" name="Google Shape;507;p10"/>
          <p:cNvGrpSpPr/>
          <p:nvPr/>
        </p:nvGrpSpPr>
        <p:grpSpPr>
          <a:xfrm>
            <a:off x="9669780" y="3358706"/>
            <a:ext cx="7406640" cy="454342"/>
            <a:chOff x="0" y="-28575"/>
            <a:chExt cx="9875520" cy="605790"/>
          </a:xfrm>
        </p:grpSpPr>
        <p:sp>
          <p:nvSpPr>
            <p:cNvPr id="508" name="Google Shape;508;p10"/>
            <p:cNvSpPr/>
            <p:nvPr/>
          </p:nvSpPr>
          <p:spPr>
            <a:xfrm>
              <a:off x="0" y="0"/>
              <a:ext cx="9875520" cy="577215"/>
            </a:xfrm>
            <a:custGeom>
              <a:rect b="b" l="l" r="r" t="t"/>
              <a:pathLst>
                <a:path extrusionOk="0" h="577215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577215"/>
                  </a:lnTo>
                  <a:lnTo>
                    <a:pt x="0" y="57721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83378" l="0" r="0" t="-283378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" name="Google Shape;509;p10"/>
            <p:cNvSpPr txBox="1"/>
            <p:nvPr/>
          </p:nvSpPr>
          <p:spPr>
            <a:xfrm>
              <a:off x="0" y="-28575"/>
              <a:ext cx="9875520" cy="6057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50">
                  <a:solidFill>
                    <a:srgbClr val="CFE2F3"/>
                  </a:solidFill>
                  <a:latin typeface="Calibri"/>
                  <a:ea typeface="Calibri"/>
                  <a:cs typeface="Calibri"/>
                  <a:sym typeface="Calibri"/>
                </a:rPr>
                <a:t>customer_rating:  Terlambat  vs  Tepat Waktu</a:t>
              </a:r>
              <a:endParaRPr/>
            </a:p>
          </p:txBody>
        </p:sp>
      </p:grpSp>
      <p:sp>
        <p:nvSpPr>
          <p:cNvPr id="510" name="Google Shape;510;p10"/>
          <p:cNvSpPr/>
          <p:nvPr/>
        </p:nvSpPr>
        <p:spPr>
          <a:xfrm>
            <a:off x="9669780" y="3909060"/>
            <a:ext cx="7406640" cy="1165860"/>
          </a:xfrm>
          <a:custGeom>
            <a:rect b="b" l="l" r="r" t="t"/>
            <a:pathLst>
              <a:path extrusionOk="0" h="1554480" w="9875520">
                <a:moveTo>
                  <a:pt x="0" y="0"/>
                </a:moveTo>
                <a:lnTo>
                  <a:pt x="9875520" y="0"/>
                </a:lnTo>
                <a:lnTo>
                  <a:pt x="9875520" y="1554480"/>
                </a:lnTo>
                <a:lnTo>
                  <a:pt x="0" y="155448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73701" l="0" r="0" t="-7370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11" name="Google Shape;511;p10"/>
          <p:cNvGrpSpPr/>
          <p:nvPr/>
        </p:nvGrpSpPr>
        <p:grpSpPr>
          <a:xfrm>
            <a:off x="9669780" y="3823334"/>
            <a:ext cx="7406640" cy="1251586"/>
            <a:chOff x="0" y="-57150"/>
            <a:chExt cx="9875520" cy="1668780"/>
          </a:xfrm>
        </p:grpSpPr>
        <p:sp>
          <p:nvSpPr>
            <p:cNvPr id="512" name="Google Shape;512;p10"/>
            <p:cNvSpPr/>
            <p:nvPr/>
          </p:nvSpPr>
          <p:spPr>
            <a:xfrm>
              <a:off x="0" y="0"/>
              <a:ext cx="9875520" cy="1611630"/>
            </a:xfrm>
            <a:custGeom>
              <a:rect b="b" l="l" r="r" t="t"/>
              <a:pathLst>
                <a:path extrusionOk="0" h="161163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611630"/>
                  </a:lnTo>
                  <a:lnTo>
                    <a:pt x="0" y="161163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69394" l="0" r="0" t="-6939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Google Shape;513;p10"/>
            <p:cNvSpPr txBox="1"/>
            <p:nvPr/>
          </p:nvSpPr>
          <p:spPr>
            <a:xfrm>
              <a:off x="0" y="-57150"/>
              <a:ext cx="9875520" cy="16687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636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H₀: </a:t>
              </a:r>
              <a:r>
                <a:rPr lang="en-US" sz="1650">
                  <a:solidFill>
                    <a:srgbClr val="CFE2F3"/>
                  </a:solidFill>
                  <a:latin typeface="Calibri"/>
                  <a:ea typeface="Calibri"/>
                  <a:cs typeface="Calibri"/>
                  <a:sym typeface="Calibri"/>
                </a:rPr>
                <a:t>rata-rata rating kedua kelompok sama</a:t>
              </a:r>
              <a:endParaRPr/>
            </a:p>
            <a:p>
              <a:pPr indent="0" lvl="0" marL="0" marR="0" rtl="0" algn="l">
                <a:lnSpc>
                  <a:spcPct val="13636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H₁: </a:t>
              </a:r>
              <a:r>
                <a:rPr lang="en-US" sz="1650">
                  <a:solidFill>
                    <a:srgbClr val="CFE2F3"/>
                  </a:solidFill>
                  <a:latin typeface="Calibri"/>
                  <a:ea typeface="Calibri"/>
                  <a:cs typeface="Calibri"/>
                  <a:sym typeface="Calibri"/>
                </a:rPr>
                <a:t>rata-rata rating kedua kelompok berbeda</a:t>
              </a:r>
              <a:endParaRPr/>
            </a:p>
          </p:txBody>
        </p:sp>
      </p:grpSp>
      <p:cxnSp>
        <p:nvCxnSpPr>
          <p:cNvPr id="514" name="Google Shape;514;p10"/>
          <p:cNvCxnSpPr/>
          <p:nvPr/>
        </p:nvCxnSpPr>
        <p:spPr>
          <a:xfrm rot="4380">
            <a:off x="9655483" y="5271135"/>
            <a:ext cx="7435253" cy="0"/>
          </a:xfrm>
          <a:prstGeom prst="straightConnector1">
            <a:avLst/>
          </a:prstGeom>
          <a:noFill/>
          <a:ln cap="rnd" cmpd="sng" w="9525">
            <a:solidFill>
              <a:srgbClr val="2A4B7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5" name="Google Shape;515;p10"/>
          <p:cNvSpPr/>
          <p:nvPr/>
        </p:nvSpPr>
        <p:spPr>
          <a:xfrm>
            <a:off x="9669780" y="5321808"/>
            <a:ext cx="4389120" cy="548640"/>
          </a:xfrm>
          <a:custGeom>
            <a:rect b="b" l="l" r="r" t="t"/>
            <a:pathLst>
              <a:path extrusionOk="0" h="731520" w="585216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105767" l="0" r="0" t="-10577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16" name="Google Shape;516;p10"/>
          <p:cNvGrpSpPr/>
          <p:nvPr/>
        </p:nvGrpSpPr>
        <p:grpSpPr>
          <a:xfrm>
            <a:off x="9669780" y="5264658"/>
            <a:ext cx="4389120" cy="605790"/>
            <a:chOff x="0" y="-38100"/>
            <a:chExt cx="5852160" cy="807720"/>
          </a:xfrm>
        </p:grpSpPr>
        <p:sp>
          <p:nvSpPr>
            <p:cNvPr id="517" name="Google Shape;517;p10"/>
            <p:cNvSpPr/>
            <p:nvPr/>
          </p:nvSpPr>
          <p:spPr>
            <a:xfrm>
              <a:off x="0" y="0"/>
              <a:ext cx="5852160" cy="769620"/>
            </a:xfrm>
            <a:custGeom>
              <a:rect b="b" l="l" r="r" t="t"/>
              <a:pathLst>
                <a:path extrusionOk="0" h="7696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69620"/>
                  </a:lnTo>
                  <a:lnTo>
                    <a:pt x="0" y="7696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98166" l="0" r="0" t="-9816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10"/>
            <p:cNvSpPr txBox="1"/>
            <p:nvPr/>
          </p:nvSpPr>
          <p:spPr>
            <a:xfrm>
              <a:off x="0" y="-38100"/>
              <a:ext cx="5852160" cy="8077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FE2F3"/>
                  </a:solidFill>
                  <a:latin typeface="Calibri"/>
                  <a:ea typeface="Calibri"/>
                  <a:cs typeface="Calibri"/>
                  <a:sym typeface="Calibri"/>
                </a:rPr>
                <a:t>Mean Rating – Terlambat</a:t>
              </a:r>
              <a:endParaRPr/>
            </a:p>
          </p:txBody>
        </p:sp>
      </p:grpSp>
      <p:sp>
        <p:nvSpPr>
          <p:cNvPr id="519" name="Google Shape;519;p10"/>
          <p:cNvSpPr/>
          <p:nvPr/>
        </p:nvSpPr>
        <p:spPr>
          <a:xfrm>
            <a:off x="13990320" y="5321808"/>
            <a:ext cx="2811780" cy="548640"/>
          </a:xfrm>
          <a:custGeom>
            <a:rect b="b" l="l" r="r" t="t"/>
            <a:pathLst>
              <a:path extrusionOk="0" h="731520" w="3749040">
                <a:moveTo>
                  <a:pt x="0" y="0"/>
                </a:moveTo>
                <a:lnTo>
                  <a:pt x="3749040" y="0"/>
                </a:lnTo>
                <a:lnTo>
                  <a:pt x="3749040" y="731520"/>
                </a:lnTo>
                <a:lnTo>
                  <a:pt x="0" y="7315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49792" l="0" r="0" t="-4979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0" name="Google Shape;520;p10"/>
          <p:cNvGrpSpPr/>
          <p:nvPr/>
        </p:nvGrpSpPr>
        <p:grpSpPr>
          <a:xfrm>
            <a:off x="13990320" y="5307520"/>
            <a:ext cx="2811780" cy="562928"/>
            <a:chOff x="0" y="-9525"/>
            <a:chExt cx="3749040" cy="750570"/>
          </a:xfrm>
        </p:grpSpPr>
        <p:sp>
          <p:nvSpPr>
            <p:cNvPr id="521" name="Google Shape;521;p10"/>
            <p:cNvSpPr/>
            <p:nvPr/>
          </p:nvSpPr>
          <p:spPr>
            <a:xfrm>
              <a:off x="0" y="0"/>
              <a:ext cx="3749040" cy="741045"/>
            </a:xfrm>
            <a:custGeom>
              <a:rect b="b" l="l" r="r" t="t"/>
              <a:pathLst>
                <a:path extrusionOk="0" h="741045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741045"/>
                  </a:lnTo>
                  <a:lnTo>
                    <a:pt x="0" y="74104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48577" l="0" r="0" t="-48577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10"/>
            <p:cNvSpPr txBox="1"/>
            <p:nvPr/>
          </p:nvSpPr>
          <p:spPr>
            <a:xfrm>
              <a:off x="0" y="-9525"/>
              <a:ext cx="3749040" cy="7505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25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2,725</a:t>
              </a:r>
              <a:endParaRPr/>
            </a:p>
          </p:txBody>
        </p:sp>
      </p:grpSp>
      <p:cxnSp>
        <p:nvCxnSpPr>
          <p:cNvPr id="523" name="Google Shape;523;p10"/>
          <p:cNvCxnSpPr/>
          <p:nvPr/>
        </p:nvCxnSpPr>
        <p:spPr>
          <a:xfrm rot="4380">
            <a:off x="9655483" y="5915787"/>
            <a:ext cx="7435253" cy="0"/>
          </a:xfrm>
          <a:prstGeom prst="straightConnector1">
            <a:avLst/>
          </a:prstGeom>
          <a:noFill/>
          <a:ln cap="rnd" cmpd="sng" w="9525">
            <a:solidFill>
              <a:srgbClr val="2A4B7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4" name="Google Shape;524;p10"/>
          <p:cNvSpPr/>
          <p:nvPr/>
        </p:nvSpPr>
        <p:spPr>
          <a:xfrm>
            <a:off x="9669780" y="5966460"/>
            <a:ext cx="4389120" cy="548640"/>
          </a:xfrm>
          <a:custGeom>
            <a:rect b="b" l="l" r="r" t="t"/>
            <a:pathLst>
              <a:path extrusionOk="0" h="731520" w="585216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105767" l="0" r="0" t="-10577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5" name="Google Shape;525;p10"/>
          <p:cNvGrpSpPr/>
          <p:nvPr/>
        </p:nvGrpSpPr>
        <p:grpSpPr>
          <a:xfrm>
            <a:off x="9669780" y="5909310"/>
            <a:ext cx="4389120" cy="605790"/>
            <a:chOff x="0" y="-38100"/>
            <a:chExt cx="5852160" cy="807720"/>
          </a:xfrm>
        </p:grpSpPr>
        <p:sp>
          <p:nvSpPr>
            <p:cNvPr id="526" name="Google Shape;526;p10"/>
            <p:cNvSpPr/>
            <p:nvPr/>
          </p:nvSpPr>
          <p:spPr>
            <a:xfrm>
              <a:off x="0" y="0"/>
              <a:ext cx="5852160" cy="769620"/>
            </a:xfrm>
            <a:custGeom>
              <a:rect b="b" l="l" r="r" t="t"/>
              <a:pathLst>
                <a:path extrusionOk="0" h="7696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69620"/>
                  </a:lnTo>
                  <a:lnTo>
                    <a:pt x="0" y="7696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98166" l="0" r="0" t="-9816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" name="Google Shape;527;p10"/>
            <p:cNvSpPr txBox="1"/>
            <p:nvPr/>
          </p:nvSpPr>
          <p:spPr>
            <a:xfrm>
              <a:off x="0" y="-38100"/>
              <a:ext cx="5852160" cy="8077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FE2F3"/>
                  </a:solidFill>
                  <a:latin typeface="Calibri"/>
                  <a:ea typeface="Calibri"/>
                  <a:cs typeface="Calibri"/>
                  <a:sym typeface="Calibri"/>
                </a:rPr>
                <a:t>Mean Rating – Tepat Waktu</a:t>
              </a:r>
              <a:endParaRPr/>
            </a:p>
          </p:txBody>
        </p:sp>
      </p:grpSp>
      <p:sp>
        <p:nvSpPr>
          <p:cNvPr id="528" name="Google Shape;528;p10"/>
          <p:cNvSpPr/>
          <p:nvPr/>
        </p:nvSpPr>
        <p:spPr>
          <a:xfrm>
            <a:off x="13990320" y="5966460"/>
            <a:ext cx="2811780" cy="548640"/>
          </a:xfrm>
          <a:custGeom>
            <a:rect b="b" l="l" r="r" t="t"/>
            <a:pathLst>
              <a:path extrusionOk="0" h="731520" w="3749040">
                <a:moveTo>
                  <a:pt x="0" y="0"/>
                </a:moveTo>
                <a:lnTo>
                  <a:pt x="3749040" y="0"/>
                </a:lnTo>
                <a:lnTo>
                  <a:pt x="3749040" y="731520"/>
                </a:lnTo>
                <a:lnTo>
                  <a:pt x="0" y="7315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49792" l="0" r="0" t="-4979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9" name="Google Shape;529;p10"/>
          <p:cNvGrpSpPr/>
          <p:nvPr/>
        </p:nvGrpSpPr>
        <p:grpSpPr>
          <a:xfrm>
            <a:off x="13990320" y="5952172"/>
            <a:ext cx="2811780" cy="562928"/>
            <a:chOff x="0" y="-9525"/>
            <a:chExt cx="3749040" cy="750570"/>
          </a:xfrm>
        </p:grpSpPr>
        <p:sp>
          <p:nvSpPr>
            <p:cNvPr id="530" name="Google Shape;530;p10"/>
            <p:cNvSpPr/>
            <p:nvPr/>
          </p:nvSpPr>
          <p:spPr>
            <a:xfrm>
              <a:off x="0" y="0"/>
              <a:ext cx="3749040" cy="741045"/>
            </a:xfrm>
            <a:custGeom>
              <a:rect b="b" l="l" r="r" t="t"/>
              <a:pathLst>
                <a:path extrusionOk="0" h="741045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741045"/>
                  </a:lnTo>
                  <a:lnTo>
                    <a:pt x="0" y="74104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48577" l="0" r="0" t="-48577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" name="Google Shape;531;p10"/>
            <p:cNvSpPr txBox="1"/>
            <p:nvPr/>
          </p:nvSpPr>
          <p:spPr>
            <a:xfrm>
              <a:off x="0" y="-9525"/>
              <a:ext cx="3749040" cy="7505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25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4,206</a:t>
              </a:r>
              <a:endParaRPr/>
            </a:p>
          </p:txBody>
        </p:sp>
      </p:grpSp>
      <p:cxnSp>
        <p:nvCxnSpPr>
          <p:cNvPr id="532" name="Google Shape;532;p10"/>
          <p:cNvCxnSpPr/>
          <p:nvPr/>
        </p:nvCxnSpPr>
        <p:spPr>
          <a:xfrm rot="4380">
            <a:off x="9655483" y="6560439"/>
            <a:ext cx="7435253" cy="0"/>
          </a:xfrm>
          <a:prstGeom prst="straightConnector1">
            <a:avLst/>
          </a:prstGeom>
          <a:noFill/>
          <a:ln cap="rnd" cmpd="sng" w="9525">
            <a:solidFill>
              <a:srgbClr val="2A4B7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3" name="Google Shape;533;p10"/>
          <p:cNvSpPr/>
          <p:nvPr/>
        </p:nvSpPr>
        <p:spPr>
          <a:xfrm>
            <a:off x="9669780" y="6611112"/>
            <a:ext cx="4389120" cy="548640"/>
          </a:xfrm>
          <a:custGeom>
            <a:rect b="b" l="l" r="r" t="t"/>
            <a:pathLst>
              <a:path extrusionOk="0" h="731520" w="585216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105767" l="0" r="0" t="-10577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4" name="Google Shape;534;p10"/>
          <p:cNvGrpSpPr/>
          <p:nvPr/>
        </p:nvGrpSpPr>
        <p:grpSpPr>
          <a:xfrm>
            <a:off x="9669780" y="6553962"/>
            <a:ext cx="4389120" cy="605790"/>
            <a:chOff x="0" y="-38100"/>
            <a:chExt cx="5852160" cy="807720"/>
          </a:xfrm>
        </p:grpSpPr>
        <p:sp>
          <p:nvSpPr>
            <p:cNvPr id="535" name="Google Shape;535;p10"/>
            <p:cNvSpPr/>
            <p:nvPr/>
          </p:nvSpPr>
          <p:spPr>
            <a:xfrm>
              <a:off x="0" y="0"/>
              <a:ext cx="5852160" cy="769620"/>
            </a:xfrm>
            <a:custGeom>
              <a:rect b="b" l="l" r="r" t="t"/>
              <a:pathLst>
                <a:path extrusionOk="0" h="7696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69620"/>
                  </a:lnTo>
                  <a:lnTo>
                    <a:pt x="0" y="7696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98166" l="0" r="0" t="-9816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10"/>
            <p:cNvSpPr txBox="1"/>
            <p:nvPr/>
          </p:nvSpPr>
          <p:spPr>
            <a:xfrm>
              <a:off x="0" y="-38100"/>
              <a:ext cx="5852160" cy="8077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FE2F3"/>
                  </a:solidFill>
                  <a:latin typeface="Calibri"/>
                  <a:ea typeface="Calibri"/>
                  <a:cs typeface="Calibri"/>
                  <a:sym typeface="Calibri"/>
                </a:rPr>
                <a:t>T-statistic</a:t>
              </a:r>
              <a:endParaRPr/>
            </a:p>
          </p:txBody>
        </p:sp>
      </p:grpSp>
      <p:sp>
        <p:nvSpPr>
          <p:cNvPr id="537" name="Google Shape;537;p10"/>
          <p:cNvSpPr/>
          <p:nvPr/>
        </p:nvSpPr>
        <p:spPr>
          <a:xfrm>
            <a:off x="13990320" y="6611112"/>
            <a:ext cx="2811780" cy="548640"/>
          </a:xfrm>
          <a:custGeom>
            <a:rect b="b" l="l" r="r" t="t"/>
            <a:pathLst>
              <a:path extrusionOk="0" h="731520" w="3749040">
                <a:moveTo>
                  <a:pt x="0" y="0"/>
                </a:moveTo>
                <a:lnTo>
                  <a:pt x="3749040" y="0"/>
                </a:lnTo>
                <a:lnTo>
                  <a:pt x="3749040" y="731520"/>
                </a:lnTo>
                <a:lnTo>
                  <a:pt x="0" y="7315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49792" l="0" r="0" t="-4979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8" name="Google Shape;538;p10"/>
          <p:cNvGrpSpPr/>
          <p:nvPr/>
        </p:nvGrpSpPr>
        <p:grpSpPr>
          <a:xfrm>
            <a:off x="13990320" y="6596824"/>
            <a:ext cx="2811780" cy="562928"/>
            <a:chOff x="0" y="-9525"/>
            <a:chExt cx="3749040" cy="750570"/>
          </a:xfrm>
        </p:grpSpPr>
        <p:sp>
          <p:nvSpPr>
            <p:cNvPr id="539" name="Google Shape;539;p10"/>
            <p:cNvSpPr/>
            <p:nvPr/>
          </p:nvSpPr>
          <p:spPr>
            <a:xfrm>
              <a:off x="0" y="0"/>
              <a:ext cx="3749040" cy="741045"/>
            </a:xfrm>
            <a:custGeom>
              <a:rect b="b" l="l" r="r" t="t"/>
              <a:pathLst>
                <a:path extrusionOk="0" h="741045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741045"/>
                  </a:lnTo>
                  <a:lnTo>
                    <a:pt x="0" y="74104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48577" l="0" r="0" t="-48577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p10"/>
            <p:cNvSpPr txBox="1"/>
            <p:nvPr/>
          </p:nvSpPr>
          <p:spPr>
            <a:xfrm>
              <a:off x="0" y="-9525"/>
              <a:ext cx="3749040" cy="7505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25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-249,05</a:t>
              </a:r>
              <a:endParaRPr/>
            </a:p>
          </p:txBody>
        </p:sp>
      </p:grpSp>
      <p:cxnSp>
        <p:nvCxnSpPr>
          <p:cNvPr id="541" name="Google Shape;541;p10"/>
          <p:cNvCxnSpPr/>
          <p:nvPr/>
        </p:nvCxnSpPr>
        <p:spPr>
          <a:xfrm rot="4380">
            <a:off x="9655483" y="7205091"/>
            <a:ext cx="7435253" cy="0"/>
          </a:xfrm>
          <a:prstGeom prst="straightConnector1">
            <a:avLst/>
          </a:prstGeom>
          <a:noFill/>
          <a:ln cap="rnd" cmpd="sng" w="9525">
            <a:solidFill>
              <a:srgbClr val="2A4B7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2" name="Google Shape;542;p10"/>
          <p:cNvSpPr/>
          <p:nvPr/>
        </p:nvSpPr>
        <p:spPr>
          <a:xfrm>
            <a:off x="9669780" y="7255764"/>
            <a:ext cx="4389120" cy="548640"/>
          </a:xfrm>
          <a:custGeom>
            <a:rect b="b" l="l" r="r" t="t"/>
            <a:pathLst>
              <a:path extrusionOk="0" h="731520" w="585216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105767" l="0" r="0" t="-10577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43" name="Google Shape;543;p10"/>
          <p:cNvGrpSpPr/>
          <p:nvPr/>
        </p:nvGrpSpPr>
        <p:grpSpPr>
          <a:xfrm>
            <a:off x="9669780" y="7198614"/>
            <a:ext cx="4389120" cy="605790"/>
            <a:chOff x="0" y="-38100"/>
            <a:chExt cx="5852160" cy="807720"/>
          </a:xfrm>
        </p:grpSpPr>
        <p:sp>
          <p:nvSpPr>
            <p:cNvPr id="544" name="Google Shape;544;p10"/>
            <p:cNvSpPr/>
            <p:nvPr/>
          </p:nvSpPr>
          <p:spPr>
            <a:xfrm>
              <a:off x="0" y="0"/>
              <a:ext cx="5852160" cy="769620"/>
            </a:xfrm>
            <a:custGeom>
              <a:rect b="b" l="l" r="r" t="t"/>
              <a:pathLst>
                <a:path extrusionOk="0" h="7696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69620"/>
                  </a:lnTo>
                  <a:lnTo>
                    <a:pt x="0" y="7696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98166" l="0" r="0" t="-9816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" name="Google Shape;545;p10"/>
            <p:cNvSpPr txBox="1"/>
            <p:nvPr/>
          </p:nvSpPr>
          <p:spPr>
            <a:xfrm>
              <a:off x="0" y="-38100"/>
              <a:ext cx="5852160" cy="8077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FE2F3"/>
                  </a:solidFill>
                  <a:latin typeface="Calibri"/>
                  <a:ea typeface="Calibri"/>
                  <a:cs typeface="Calibri"/>
                  <a:sym typeface="Calibri"/>
                </a:rPr>
                <a:t>p-value</a:t>
              </a:r>
              <a:endParaRPr/>
            </a:p>
          </p:txBody>
        </p:sp>
      </p:grpSp>
      <p:sp>
        <p:nvSpPr>
          <p:cNvPr id="546" name="Google Shape;546;p10"/>
          <p:cNvSpPr/>
          <p:nvPr/>
        </p:nvSpPr>
        <p:spPr>
          <a:xfrm>
            <a:off x="13990320" y="7255764"/>
            <a:ext cx="2811780" cy="548640"/>
          </a:xfrm>
          <a:custGeom>
            <a:rect b="b" l="l" r="r" t="t"/>
            <a:pathLst>
              <a:path extrusionOk="0" h="731520" w="3749040">
                <a:moveTo>
                  <a:pt x="0" y="0"/>
                </a:moveTo>
                <a:lnTo>
                  <a:pt x="3749040" y="0"/>
                </a:lnTo>
                <a:lnTo>
                  <a:pt x="3749040" y="731520"/>
                </a:lnTo>
                <a:lnTo>
                  <a:pt x="0" y="7315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49792" l="0" r="0" t="-4979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47" name="Google Shape;547;p10"/>
          <p:cNvGrpSpPr/>
          <p:nvPr/>
        </p:nvGrpSpPr>
        <p:grpSpPr>
          <a:xfrm>
            <a:off x="13990320" y="7241476"/>
            <a:ext cx="2811780" cy="562928"/>
            <a:chOff x="0" y="-9525"/>
            <a:chExt cx="3749040" cy="750570"/>
          </a:xfrm>
        </p:grpSpPr>
        <p:sp>
          <p:nvSpPr>
            <p:cNvPr id="548" name="Google Shape;548;p10"/>
            <p:cNvSpPr/>
            <p:nvPr/>
          </p:nvSpPr>
          <p:spPr>
            <a:xfrm>
              <a:off x="0" y="0"/>
              <a:ext cx="3749040" cy="741045"/>
            </a:xfrm>
            <a:custGeom>
              <a:rect b="b" l="l" r="r" t="t"/>
              <a:pathLst>
                <a:path extrusionOk="0" h="741045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741045"/>
                  </a:lnTo>
                  <a:lnTo>
                    <a:pt x="0" y="74104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48577" l="0" r="0" t="-48577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" name="Google Shape;549;p10"/>
            <p:cNvSpPr txBox="1"/>
            <p:nvPr/>
          </p:nvSpPr>
          <p:spPr>
            <a:xfrm>
              <a:off x="0" y="-9525"/>
              <a:ext cx="3749040" cy="7505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25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&lt; 0,001</a:t>
              </a:r>
              <a:endParaRPr/>
            </a:p>
          </p:txBody>
        </p:sp>
      </p:grpSp>
      <p:sp>
        <p:nvSpPr>
          <p:cNvPr id="550" name="Google Shape;550;p10"/>
          <p:cNvSpPr/>
          <p:nvPr/>
        </p:nvSpPr>
        <p:spPr>
          <a:xfrm>
            <a:off x="9669780" y="8023860"/>
            <a:ext cx="7406640" cy="932688"/>
          </a:xfrm>
          <a:custGeom>
            <a:rect b="b" l="l" r="r" t="t"/>
            <a:pathLst>
              <a:path extrusionOk="0" h="1243584" w="9875520">
                <a:moveTo>
                  <a:pt x="0" y="128016"/>
                </a:moveTo>
                <a:cubicBezTo>
                  <a:pt x="0" y="57277"/>
                  <a:pt x="57277" y="0"/>
                  <a:pt x="128016" y="0"/>
                </a:cubicBezTo>
                <a:lnTo>
                  <a:pt x="9747504" y="0"/>
                </a:lnTo>
                <a:cubicBezTo>
                  <a:pt x="9818243" y="0"/>
                  <a:pt x="9875520" y="57277"/>
                  <a:pt x="9875520" y="128016"/>
                </a:cubicBezTo>
                <a:lnTo>
                  <a:pt x="9875520" y="1115568"/>
                </a:lnTo>
                <a:cubicBezTo>
                  <a:pt x="9875520" y="1186307"/>
                  <a:pt x="9818243" y="1243584"/>
                  <a:pt x="9747504" y="1243584"/>
                </a:cubicBezTo>
                <a:lnTo>
                  <a:pt x="128016" y="1243584"/>
                </a:lnTo>
                <a:cubicBezTo>
                  <a:pt x="57277" y="1243584"/>
                  <a:pt x="0" y="1186307"/>
                  <a:pt x="0" y="1115568"/>
                </a:cubicBezTo>
                <a:close/>
              </a:path>
            </a:pathLst>
          </a:custGeom>
          <a:solidFill>
            <a:srgbClr val="13355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0"/>
          <p:cNvSpPr/>
          <p:nvPr/>
        </p:nvSpPr>
        <p:spPr>
          <a:xfrm>
            <a:off x="9944100" y="8023860"/>
            <a:ext cx="6858000" cy="932688"/>
          </a:xfrm>
          <a:custGeom>
            <a:rect b="b" l="l" r="r" t="t"/>
            <a:pathLst>
              <a:path extrusionOk="0" h="1243584" w="9144000">
                <a:moveTo>
                  <a:pt x="0" y="0"/>
                </a:moveTo>
                <a:lnTo>
                  <a:pt x="9144000" y="0"/>
                </a:lnTo>
                <a:lnTo>
                  <a:pt x="9144000" y="1243584"/>
                </a:lnTo>
                <a:lnTo>
                  <a:pt x="0" y="1243584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93171" l="0" r="0" t="-9317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52" name="Google Shape;552;p10"/>
          <p:cNvGrpSpPr/>
          <p:nvPr/>
        </p:nvGrpSpPr>
        <p:grpSpPr>
          <a:xfrm>
            <a:off x="9944100" y="7980998"/>
            <a:ext cx="6858000" cy="975550"/>
            <a:chOff x="0" y="-28575"/>
            <a:chExt cx="9144000" cy="1300734"/>
          </a:xfrm>
        </p:grpSpPr>
        <p:sp>
          <p:nvSpPr>
            <p:cNvPr id="553" name="Google Shape;553;p10"/>
            <p:cNvSpPr/>
            <p:nvPr/>
          </p:nvSpPr>
          <p:spPr>
            <a:xfrm>
              <a:off x="0" y="0"/>
              <a:ext cx="9144000" cy="1272159"/>
            </a:xfrm>
            <a:custGeom>
              <a:rect b="b" l="l" r="r" t="t"/>
              <a:pathLst>
                <a:path extrusionOk="0" h="1272159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272159"/>
                  </a:lnTo>
                  <a:lnTo>
                    <a:pt x="0" y="1272159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90056" l="0" r="0" t="-9005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" name="Google Shape;554;p10"/>
            <p:cNvSpPr txBox="1"/>
            <p:nvPr/>
          </p:nvSpPr>
          <p:spPr>
            <a:xfrm>
              <a:off x="0" y="-28575"/>
              <a:ext cx="9144000" cy="13007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E1A83B"/>
                  </a:solidFill>
                  <a:latin typeface="Calibri"/>
                  <a:ea typeface="Calibri"/>
                  <a:cs typeface="Calibri"/>
                  <a:sym typeface="Calibri"/>
                </a:rPr>
                <a:t>Kesimpulan: Perbedaan rata-rata rating sangat signifikan (p &lt; 0,001).</a:t>
              </a:r>
              <a:endParaRPr/>
            </a:p>
          </p:txBody>
        </p:sp>
      </p:grpSp>
      <p:sp>
        <p:nvSpPr>
          <p:cNvPr id="555" name="Google Shape;555;p10"/>
          <p:cNvSpPr/>
          <p:nvPr/>
        </p:nvSpPr>
        <p:spPr>
          <a:xfrm>
            <a:off x="822960" y="9395460"/>
            <a:ext cx="16596360" cy="411480"/>
          </a:xfrm>
          <a:custGeom>
            <a:rect b="b" l="l" r="r" t="t"/>
            <a:pathLst>
              <a:path extrusionOk="0" h="548640" w="22128480">
                <a:moveTo>
                  <a:pt x="0" y="0"/>
                </a:moveTo>
                <a:lnTo>
                  <a:pt x="22128480" y="0"/>
                </a:lnTo>
                <a:lnTo>
                  <a:pt x="22128480" y="548640"/>
                </a:lnTo>
                <a:lnTo>
                  <a:pt x="0" y="54864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735423" l="0" r="0" t="-73542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56" name="Google Shape;556;p10"/>
          <p:cNvGrpSpPr/>
          <p:nvPr/>
        </p:nvGrpSpPr>
        <p:grpSpPr>
          <a:xfrm>
            <a:off x="929640" y="9338310"/>
            <a:ext cx="16596360" cy="468630"/>
            <a:chOff x="0" y="-38100"/>
            <a:chExt cx="22128480" cy="624840"/>
          </a:xfrm>
        </p:grpSpPr>
        <p:sp>
          <p:nvSpPr>
            <p:cNvPr id="557" name="Google Shape;557;p10"/>
            <p:cNvSpPr/>
            <p:nvPr/>
          </p:nvSpPr>
          <p:spPr>
            <a:xfrm>
              <a:off x="0" y="0"/>
              <a:ext cx="22128480" cy="586740"/>
            </a:xfrm>
            <a:custGeom>
              <a:rect b="b" l="l" r="r" t="t"/>
              <a:pathLst>
                <a:path extrusionOk="0" h="58674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586740"/>
                  </a:lnTo>
                  <a:lnTo>
                    <a:pt x="0" y="58674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684862" l="0" r="0" t="-68486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" name="Google Shape;558;p10"/>
            <p:cNvSpPr txBox="1"/>
            <p:nvPr/>
          </p:nvSpPr>
          <p:spPr>
            <a:xfrm>
              <a:off x="0" y="-38100"/>
              <a:ext cx="22128480" cy="624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500">
                  <a:solidFill>
                    <a:srgbClr val="5B7387"/>
                  </a:solidFill>
                  <a:latin typeface="Calibri"/>
                  <a:ea typeface="Calibri"/>
                  <a:cs typeface="Calibri"/>
                  <a:sym typeface="Calibri"/>
                </a:rPr>
                <a:t>α = 0,05 untuk kedua uji</a:t>
              </a:r>
              <a:endParaRPr/>
            </a:p>
          </p:txBody>
        </p:sp>
      </p:grpSp>
      <p:sp>
        <p:nvSpPr>
          <p:cNvPr id="559" name="Google Shape;559;p10"/>
          <p:cNvSpPr/>
          <p:nvPr/>
        </p:nvSpPr>
        <p:spPr>
          <a:xfrm>
            <a:off x="685800" y="9765792"/>
            <a:ext cx="10972800" cy="411480"/>
          </a:xfrm>
          <a:custGeom>
            <a:rect b="b" l="l" r="r" t="t"/>
            <a:pathLst>
              <a:path extrusionOk="0" h="548640" w="14630400">
                <a:moveTo>
                  <a:pt x="0" y="0"/>
                </a:moveTo>
                <a:lnTo>
                  <a:pt x="14630400" y="0"/>
                </a:lnTo>
                <a:lnTo>
                  <a:pt x="14630400" y="548640"/>
                </a:lnTo>
                <a:lnTo>
                  <a:pt x="0" y="54864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469211" l="0" r="0" t="-46921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0" name="Google Shape;560;p10"/>
          <p:cNvGrpSpPr/>
          <p:nvPr/>
        </p:nvGrpSpPr>
        <p:grpSpPr>
          <a:xfrm>
            <a:off x="685800" y="9722930"/>
            <a:ext cx="10972800" cy="454342"/>
            <a:chOff x="0" y="-28575"/>
            <a:chExt cx="14630400" cy="605790"/>
          </a:xfrm>
        </p:grpSpPr>
        <p:sp>
          <p:nvSpPr>
            <p:cNvPr id="561" name="Google Shape;561;p10"/>
            <p:cNvSpPr/>
            <p:nvPr/>
          </p:nvSpPr>
          <p:spPr>
            <a:xfrm>
              <a:off x="0" y="0"/>
              <a:ext cx="14630400" cy="577215"/>
            </a:xfrm>
            <a:custGeom>
              <a:rect b="b" l="l" r="r" t="t"/>
              <a:pathLst>
                <a:path extrusionOk="0" h="577215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77215"/>
                  </a:lnTo>
                  <a:lnTo>
                    <a:pt x="0" y="57721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443876" l="0" r="0" t="-44387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" name="Google Shape;562;p10"/>
            <p:cNvSpPr txBox="1"/>
            <p:nvPr/>
          </p:nvSpPr>
          <p:spPr>
            <a:xfrm>
              <a:off x="0" y="-28575"/>
              <a:ext cx="14630400" cy="6057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5B7387"/>
                  </a:solidFill>
                  <a:latin typeface="Calibri"/>
                  <a:ea typeface="Calibri"/>
                  <a:cs typeface="Calibri"/>
                  <a:sym typeface="Calibri"/>
                </a:rPr>
                <a:t>E-Commerce Delivery Performance &amp; Revenue Risk</a:t>
              </a:r>
              <a:endParaRPr/>
            </a:p>
          </p:txBody>
        </p:sp>
      </p:grpSp>
      <p:sp>
        <p:nvSpPr>
          <p:cNvPr id="563" name="Google Shape;563;p10"/>
          <p:cNvSpPr/>
          <p:nvPr/>
        </p:nvSpPr>
        <p:spPr>
          <a:xfrm>
            <a:off x="17186148" y="9765792"/>
            <a:ext cx="548640" cy="411480"/>
          </a:xfrm>
          <a:custGeom>
            <a:rect b="b" l="l" r="r" t="t"/>
            <a:pathLst>
              <a:path extrusionOk="0" h="548640" w="731520">
                <a:moveTo>
                  <a:pt x="0" y="0"/>
                </a:moveTo>
                <a:lnTo>
                  <a:pt x="731520" y="0"/>
                </a:lnTo>
                <a:lnTo>
                  <a:pt x="731520" y="548640"/>
                </a:lnTo>
                <a:lnTo>
                  <a:pt x="0" y="54864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0" l="-46294" r="-46292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B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11"/>
          <p:cNvSpPr/>
          <p:nvPr/>
        </p:nvSpPr>
        <p:spPr>
          <a:xfrm>
            <a:off x="822960" y="617220"/>
            <a:ext cx="10972800" cy="480060"/>
          </a:xfrm>
          <a:custGeom>
            <a:rect b="b" l="l" r="r" t="t"/>
            <a:pathLst>
              <a:path extrusionOk="0" h="640080" w="14630400">
                <a:moveTo>
                  <a:pt x="0" y="0"/>
                </a:moveTo>
                <a:lnTo>
                  <a:pt x="14630400" y="0"/>
                </a:lnTo>
                <a:lnTo>
                  <a:pt x="14630400" y="640080"/>
                </a:lnTo>
                <a:lnTo>
                  <a:pt x="0" y="64008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395077" l="0" r="0" t="-39507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9" name="Google Shape;569;p11"/>
          <p:cNvGrpSpPr/>
          <p:nvPr/>
        </p:nvGrpSpPr>
        <p:grpSpPr>
          <a:xfrm>
            <a:off x="822960" y="560070"/>
            <a:ext cx="10972800" cy="537210"/>
            <a:chOff x="0" y="-38100"/>
            <a:chExt cx="14630400" cy="716280"/>
          </a:xfrm>
        </p:grpSpPr>
        <p:sp>
          <p:nvSpPr>
            <p:cNvPr id="570" name="Google Shape;570;p11"/>
            <p:cNvSpPr/>
            <p:nvPr/>
          </p:nvSpPr>
          <p:spPr>
            <a:xfrm>
              <a:off x="0" y="0"/>
              <a:ext cx="14630400" cy="678180"/>
            </a:xfrm>
            <a:custGeom>
              <a:rect b="b" l="l" r="r" t="t"/>
              <a:pathLst>
                <a:path extrusionOk="0" h="6781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78180"/>
                  </a:lnTo>
                  <a:lnTo>
                    <a:pt x="0" y="67818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370380" l="0" r="0" t="-37038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1" name="Google Shape;571;p11"/>
            <p:cNvSpPr txBox="1"/>
            <p:nvPr/>
          </p:nvSpPr>
          <p:spPr>
            <a:xfrm>
              <a:off x="0" y="-38100"/>
              <a:ext cx="14630400" cy="716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pc="300" sz="1800">
                  <a:solidFill>
                    <a:srgbClr val="1C7293"/>
                  </a:solidFill>
                  <a:latin typeface="Calibri"/>
                  <a:ea typeface="Calibri"/>
                  <a:cs typeface="Calibri"/>
                  <a:sym typeface="Calibri"/>
                </a:rPr>
                <a:t>METODOLOGI · UJI STATISTIK</a:t>
              </a:r>
              <a:endParaRPr/>
            </a:p>
          </p:txBody>
        </p:sp>
      </p:grpSp>
      <p:sp>
        <p:nvSpPr>
          <p:cNvPr id="572" name="Google Shape;572;p11"/>
          <p:cNvSpPr/>
          <p:nvPr/>
        </p:nvSpPr>
        <p:spPr>
          <a:xfrm>
            <a:off x="822960" y="2468880"/>
            <a:ext cx="10972800" cy="480060"/>
          </a:xfrm>
          <a:custGeom>
            <a:rect b="b" l="l" r="r" t="t"/>
            <a:pathLst>
              <a:path extrusionOk="0" h="640080" w="14630400">
                <a:moveTo>
                  <a:pt x="0" y="0"/>
                </a:moveTo>
                <a:lnTo>
                  <a:pt x="14630400" y="0"/>
                </a:lnTo>
                <a:lnTo>
                  <a:pt x="14630400" y="640080"/>
                </a:lnTo>
                <a:lnTo>
                  <a:pt x="0" y="64008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395077" l="0" r="0" t="-39507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3" name="Google Shape;573;p11"/>
          <p:cNvGrpSpPr/>
          <p:nvPr/>
        </p:nvGrpSpPr>
        <p:grpSpPr>
          <a:xfrm>
            <a:off x="822960" y="2397442"/>
            <a:ext cx="10972800" cy="551498"/>
            <a:chOff x="0" y="-47625"/>
            <a:chExt cx="14630400" cy="735330"/>
          </a:xfrm>
        </p:grpSpPr>
        <p:sp>
          <p:nvSpPr>
            <p:cNvPr id="574" name="Google Shape;574;p11"/>
            <p:cNvSpPr/>
            <p:nvPr/>
          </p:nvSpPr>
          <p:spPr>
            <a:xfrm>
              <a:off x="0" y="0"/>
              <a:ext cx="14630400" cy="687705"/>
            </a:xfrm>
            <a:custGeom>
              <a:rect b="b" l="l" r="r" t="t"/>
              <a:pathLst>
                <a:path extrusionOk="0" h="687705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87705"/>
                  </a:lnTo>
                  <a:lnTo>
                    <a:pt x="0" y="68770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364525" l="0" r="0" t="-36452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5" name="Google Shape;575;p11"/>
            <p:cNvSpPr txBox="1"/>
            <p:nvPr/>
          </p:nvSpPr>
          <p:spPr>
            <a:xfrm>
              <a:off x="0" y="-47625"/>
              <a:ext cx="14630400" cy="735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50">
                  <a:solidFill>
                    <a:srgbClr val="0B2545"/>
                  </a:solidFill>
                  <a:latin typeface="Calibri"/>
                  <a:ea typeface="Calibri"/>
                  <a:cs typeface="Calibri"/>
                  <a:sym typeface="Calibri"/>
                </a:rPr>
                <a:t>3 · Chi-Square Test — late_delivery × return_requested</a:t>
              </a:r>
              <a:endParaRPr/>
            </a:p>
          </p:txBody>
        </p:sp>
      </p:grpSp>
      <p:grpSp>
        <p:nvGrpSpPr>
          <p:cNvPr id="576" name="Google Shape;576;p11"/>
          <p:cNvGrpSpPr/>
          <p:nvPr/>
        </p:nvGrpSpPr>
        <p:grpSpPr>
          <a:xfrm>
            <a:off x="806291" y="3028950"/>
            <a:ext cx="8526148" cy="3385729"/>
            <a:chOff x="0" y="-38100"/>
            <a:chExt cx="11368197" cy="4514305"/>
          </a:xfrm>
        </p:grpSpPr>
        <p:sp>
          <p:nvSpPr>
            <p:cNvPr id="577" name="Google Shape;577;p11"/>
            <p:cNvSpPr/>
            <p:nvPr/>
          </p:nvSpPr>
          <p:spPr>
            <a:xfrm>
              <a:off x="0" y="15875"/>
              <a:ext cx="2869230" cy="1050290"/>
            </a:xfrm>
            <a:custGeom>
              <a:rect b="b" l="l" r="r" t="t"/>
              <a:pathLst>
                <a:path extrusionOk="0" h="1050290" w="2869230">
                  <a:moveTo>
                    <a:pt x="0" y="0"/>
                  </a:moveTo>
                  <a:lnTo>
                    <a:pt x="2869230" y="0"/>
                  </a:lnTo>
                  <a:lnTo>
                    <a:pt x="2869230" y="1050290"/>
                  </a:lnTo>
                  <a:lnTo>
                    <a:pt x="0" y="1050290"/>
                  </a:lnTo>
                  <a:close/>
                </a:path>
              </a:pathLst>
            </a:custGeom>
            <a:solidFill>
              <a:srgbClr val="0B2545"/>
            </a:solidFill>
            <a:ln cap="sq" cmpd="sng" w="1905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11"/>
            <p:cNvSpPr/>
            <p:nvPr/>
          </p:nvSpPr>
          <p:spPr>
            <a:xfrm>
              <a:off x="2832989" y="15875"/>
              <a:ext cx="2869230" cy="1050290"/>
            </a:xfrm>
            <a:custGeom>
              <a:rect b="b" l="l" r="r" t="t"/>
              <a:pathLst>
                <a:path extrusionOk="0" h="1050290" w="2869230">
                  <a:moveTo>
                    <a:pt x="0" y="0"/>
                  </a:moveTo>
                  <a:lnTo>
                    <a:pt x="2869230" y="0"/>
                  </a:lnTo>
                  <a:lnTo>
                    <a:pt x="2869230" y="1050290"/>
                  </a:lnTo>
                  <a:lnTo>
                    <a:pt x="0" y="1050290"/>
                  </a:lnTo>
                  <a:close/>
                </a:path>
              </a:pathLst>
            </a:custGeom>
            <a:solidFill>
              <a:srgbClr val="0B2545"/>
            </a:solidFill>
            <a:ln cap="sq" cmpd="sng" w="1905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9" name="Google Shape;579;p11"/>
            <p:cNvSpPr/>
            <p:nvPr/>
          </p:nvSpPr>
          <p:spPr>
            <a:xfrm>
              <a:off x="2851110" y="38100"/>
              <a:ext cx="2832989" cy="1005840"/>
            </a:xfrm>
            <a:custGeom>
              <a:rect b="b" l="l" r="r" t="t"/>
              <a:pathLst>
                <a:path extrusionOk="0" h="1005840" w="2832989">
                  <a:moveTo>
                    <a:pt x="0" y="0"/>
                  </a:moveTo>
                  <a:lnTo>
                    <a:pt x="2832989" y="0"/>
                  </a:lnTo>
                  <a:lnTo>
                    <a:pt x="2832989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843" l="0" r="0" t="-4843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80" name="Google Shape;580;p11"/>
            <p:cNvGrpSpPr/>
            <p:nvPr/>
          </p:nvGrpSpPr>
          <p:grpSpPr>
            <a:xfrm>
              <a:off x="2851110" y="-38100"/>
              <a:ext cx="2832989" cy="1082040"/>
              <a:chOff x="0" y="-38100"/>
              <a:chExt cx="2832989" cy="1082040"/>
            </a:xfrm>
          </p:grpSpPr>
          <p:sp>
            <p:nvSpPr>
              <p:cNvPr id="581" name="Google Shape;581;p11"/>
              <p:cNvSpPr/>
              <p:nvPr/>
            </p:nvSpPr>
            <p:spPr>
              <a:xfrm>
                <a:off x="0" y="0"/>
                <a:ext cx="2832989" cy="1043940"/>
              </a:xfrm>
              <a:custGeom>
                <a:rect b="b" l="l" r="r" t="t"/>
                <a:pathLst>
                  <a:path extrusionOk="0" h="1043940" w="2832989">
                    <a:moveTo>
                      <a:pt x="0" y="0"/>
                    </a:moveTo>
                    <a:lnTo>
                      <a:pt x="2832989" y="0"/>
                    </a:lnTo>
                    <a:lnTo>
                      <a:pt x="2832989" y="1043940"/>
                    </a:lnTo>
                    <a:lnTo>
                      <a:pt x="0" y="1043940"/>
                    </a:lnTo>
                    <a:close/>
                  </a:path>
                </a:pathLst>
              </a:custGeom>
              <a:blipFill rotWithShape="1">
                <a:blip r:embed="rId4">
                  <a:alphaModFix amt="0"/>
                </a:blip>
                <a:stretch>
                  <a:fillRect b="-14854" l="0" r="-22653" t="-1485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" name="Google Shape;582;p11"/>
              <p:cNvSpPr txBox="1"/>
              <p:nvPr/>
            </p:nvSpPr>
            <p:spPr>
              <a:xfrm>
                <a:off x="0" y="-38100"/>
                <a:ext cx="2832989" cy="1082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Tidak Retur</a:t>
                </a:r>
                <a:endParaRPr/>
              </a:p>
            </p:txBody>
          </p:sp>
        </p:grpSp>
        <p:sp>
          <p:nvSpPr>
            <p:cNvPr id="583" name="Google Shape;583;p11"/>
            <p:cNvSpPr/>
            <p:nvPr/>
          </p:nvSpPr>
          <p:spPr>
            <a:xfrm>
              <a:off x="5665978" y="15875"/>
              <a:ext cx="2869230" cy="1050290"/>
            </a:xfrm>
            <a:custGeom>
              <a:rect b="b" l="l" r="r" t="t"/>
              <a:pathLst>
                <a:path extrusionOk="0" h="1050290" w="2869230">
                  <a:moveTo>
                    <a:pt x="0" y="0"/>
                  </a:moveTo>
                  <a:lnTo>
                    <a:pt x="2869230" y="0"/>
                  </a:lnTo>
                  <a:lnTo>
                    <a:pt x="2869230" y="1050290"/>
                  </a:lnTo>
                  <a:lnTo>
                    <a:pt x="0" y="1050290"/>
                  </a:lnTo>
                  <a:close/>
                </a:path>
              </a:pathLst>
            </a:custGeom>
            <a:solidFill>
              <a:srgbClr val="0B2545"/>
            </a:solidFill>
            <a:ln cap="sq" cmpd="sng" w="1905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11"/>
            <p:cNvSpPr/>
            <p:nvPr/>
          </p:nvSpPr>
          <p:spPr>
            <a:xfrm>
              <a:off x="5684099" y="38100"/>
              <a:ext cx="2832989" cy="1005840"/>
            </a:xfrm>
            <a:custGeom>
              <a:rect b="b" l="l" r="r" t="t"/>
              <a:pathLst>
                <a:path extrusionOk="0" h="1005840" w="2832989">
                  <a:moveTo>
                    <a:pt x="0" y="0"/>
                  </a:moveTo>
                  <a:lnTo>
                    <a:pt x="2832989" y="0"/>
                  </a:lnTo>
                  <a:lnTo>
                    <a:pt x="2832989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843" l="0" r="0" t="-4843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85" name="Google Shape;585;p11"/>
            <p:cNvGrpSpPr/>
            <p:nvPr/>
          </p:nvGrpSpPr>
          <p:grpSpPr>
            <a:xfrm>
              <a:off x="5684099" y="-38100"/>
              <a:ext cx="2832989" cy="1082040"/>
              <a:chOff x="0" y="-38100"/>
              <a:chExt cx="2832989" cy="1082040"/>
            </a:xfrm>
          </p:grpSpPr>
          <p:sp>
            <p:nvSpPr>
              <p:cNvPr id="586" name="Google Shape;586;p11"/>
              <p:cNvSpPr/>
              <p:nvPr/>
            </p:nvSpPr>
            <p:spPr>
              <a:xfrm>
                <a:off x="0" y="0"/>
                <a:ext cx="2832989" cy="1043940"/>
              </a:xfrm>
              <a:custGeom>
                <a:rect b="b" l="l" r="r" t="t"/>
                <a:pathLst>
                  <a:path extrusionOk="0" h="1043940" w="2832989">
                    <a:moveTo>
                      <a:pt x="0" y="0"/>
                    </a:moveTo>
                    <a:lnTo>
                      <a:pt x="2832989" y="0"/>
                    </a:lnTo>
                    <a:lnTo>
                      <a:pt x="2832989" y="1043940"/>
                    </a:lnTo>
                    <a:lnTo>
                      <a:pt x="0" y="1043940"/>
                    </a:lnTo>
                    <a:close/>
                  </a:path>
                </a:pathLst>
              </a:custGeom>
              <a:blipFill rotWithShape="1">
                <a:blip r:embed="rId4">
                  <a:alphaModFix amt="0"/>
                </a:blip>
                <a:stretch>
                  <a:fillRect b="-14854" l="0" r="-22653" t="-1485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" name="Google Shape;587;p11"/>
              <p:cNvSpPr txBox="1"/>
              <p:nvPr/>
            </p:nvSpPr>
            <p:spPr>
              <a:xfrm>
                <a:off x="0" y="-38100"/>
                <a:ext cx="2832989" cy="1082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Retur</a:t>
                </a:r>
                <a:endParaRPr/>
              </a:p>
            </p:txBody>
          </p:sp>
        </p:grpSp>
        <p:sp>
          <p:nvSpPr>
            <p:cNvPr id="588" name="Google Shape;588;p11"/>
            <p:cNvSpPr/>
            <p:nvPr/>
          </p:nvSpPr>
          <p:spPr>
            <a:xfrm>
              <a:off x="8498967" y="15875"/>
              <a:ext cx="2869230" cy="1050290"/>
            </a:xfrm>
            <a:custGeom>
              <a:rect b="b" l="l" r="r" t="t"/>
              <a:pathLst>
                <a:path extrusionOk="0" h="1050290" w="2869230">
                  <a:moveTo>
                    <a:pt x="0" y="0"/>
                  </a:moveTo>
                  <a:lnTo>
                    <a:pt x="2869230" y="0"/>
                  </a:lnTo>
                  <a:lnTo>
                    <a:pt x="2869230" y="1050290"/>
                  </a:lnTo>
                  <a:lnTo>
                    <a:pt x="0" y="1050290"/>
                  </a:lnTo>
                  <a:close/>
                </a:path>
              </a:pathLst>
            </a:custGeom>
            <a:solidFill>
              <a:srgbClr val="0B2545"/>
            </a:solidFill>
            <a:ln cap="sq" cmpd="sng" w="1905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11"/>
            <p:cNvSpPr/>
            <p:nvPr/>
          </p:nvSpPr>
          <p:spPr>
            <a:xfrm>
              <a:off x="8517088" y="38100"/>
              <a:ext cx="2832989" cy="1005840"/>
            </a:xfrm>
            <a:custGeom>
              <a:rect b="b" l="l" r="r" t="t"/>
              <a:pathLst>
                <a:path extrusionOk="0" h="1005840" w="2832989">
                  <a:moveTo>
                    <a:pt x="0" y="0"/>
                  </a:moveTo>
                  <a:lnTo>
                    <a:pt x="2832989" y="0"/>
                  </a:lnTo>
                  <a:lnTo>
                    <a:pt x="2832989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843" l="0" r="0" t="-4843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90" name="Google Shape;590;p11"/>
            <p:cNvGrpSpPr/>
            <p:nvPr/>
          </p:nvGrpSpPr>
          <p:grpSpPr>
            <a:xfrm>
              <a:off x="8517088" y="-38100"/>
              <a:ext cx="2832989" cy="1082040"/>
              <a:chOff x="0" y="-38100"/>
              <a:chExt cx="2832989" cy="1082040"/>
            </a:xfrm>
          </p:grpSpPr>
          <p:sp>
            <p:nvSpPr>
              <p:cNvPr id="591" name="Google Shape;591;p11"/>
              <p:cNvSpPr/>
              <p:nvPr/>
            </p:nvSpPr>
            <p:spPr>
              <a:xfrm>
                <a:off x="0" y="0"/>
                <a:ext cx="2832989" cy="1043940"/>
              </a:xfrm>
              <a:custGeom>
                <a:rect b="b" l="l" r="r" t="t"/>
                <a:pathLst>
                  <a:path extrusionOk="0" h="1043940" w="2832989">
                    <a:moveTo>
                      <a:pt x="0" y="0"/>
                    </a:moveTo>
                    <a:lnTo>
                      <a:pt x="2832989" y="0"/>
                    </a:lnTo>
                    <a:lnTo>
                      <a:pt x="2832989" y="1043940"/>
                    </a:lnTo>
                    <a:lnTo>
                      <a:pt x="0" y="1043940"/>
                    </a:lnTo>
                    <a:close/>
                  </a:path>
                </a:pathLst>
              </a:custGeom>
              <a:blipFill rotWithShape="1">
                <a:blip r:embed="rId4">
                  <a:alphaModFix amt="0"/>
                </a:blip>
                <a:stretch>
                  <a:fillRect b="-14854" l="0" r="-22653" t="-1485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" name="Google Shape;592;p11"/>
              <p:cNvSpPr txBox="1"/>
              <p:nvPr/>
            </p:nvSpPr>
            <p:spPr>
              <a:xfrm>
                <a:off x="0" y="-38100"/>
                <a:ext cx="2832989" cy="1082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Total</a:t>
                </a:r>
                <a:endParaRPr/>
              </a:p>
            </p:txBody>
          </p:sp>
        </p:grpSp>
        <p:sp>
          <p:nvSpPr>
            <p:cNvPr id="593" name="Google Shape;593;p11"/>
            <p:cNvSpPr/>
            <p:nvPr/>
          </p:nvSpPr>
          <p:spPr>
            <a:xfrm>
              <a:off x="0" y="1021715"/>
              <a:ext cx="2869230" cy="1050290"/>
            </a:xfrm>
            <a:custGeom>
              <a:rect b="b" l="l" r="r" t="t"/>
              <a:pathLst>
                <a:path extrusionOk="0" h="1050290" w="2869230">
                  <a:moveTo>
                    <a:pt x="0" y="0"/>
                  </a:moveTo>
                  <a:lnTo>
                    <a:pt x="2869230" y="0"/>
                  </a:lnTo>
                  <a:lnTo>
                    <a:pt x="2869230" y="1050290"/>
                  </a:lnTo>
                  <a:lnTo>
                    <a:pt x="0" y="1050290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4" name="Google Shape;594;p11"/>
            <p:cNvSpPr/>
            <p:nvPr/>
          </p:nvSpPr>
          <p:spPr>
            <a:xfrm>
              <a:off x="18120" y="1043940"/>
              <a:ext cx="2832989" cy="1005840"/>
            </a:xfrm>
            <a:custGeom>
              <a:rect b="b" l="l" r="r" t="t"/>
              <a:pathLst>
                <a:path extrusionOk="0" h="1005840" w="2832989">
                  <a:moveTo>
                    <a:pt x="0" y="0"/>
                  </a:moveTo>
                  <a:lnTo>
                    <a:pt x="2832989" y="0"/>
                  </a:lnTo>
                  <a:lnTo>
                    <a:pt x="2832989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843" l="0" r="0" t="-4843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95" name="Google Shape;595;p11"/>
            <p:cNvGrpSpPr/>
            <p:nvPr/>
          </p:nvGrpSpPr>
          <p:grpSpPr>
            <a:xfrm>
              <a:off x="18120" y="967740"/>
              <a:ext cx="2832989" cy="1082040"/>
              <a:chOff x="0" y="-38100"/>
              <a:chExt cx="2832989" cy="1082040"/>
            </a:xfrm>
          </p:grpSpPr>
          <p:sp>
            <p:nvSpPr>
              <p:cNvPr id="596" name="Google Shape;596;p11"/>
              <p:cNvSpPr/>
              <p:nvPr/>
            </p:nvSpPr>
            <p:spPr>
              <a:xfrm>
                <a:off x="0" y="0"/>
                <a:ext cx="2832989" cy="1043940"/>
              </a:xfrm>
              <a:custGeom>
                <a:rect b="b" l="l" r="r" t="t"/>
                <a:pathLst>
                  <a:path extrusionOk="0" h="1043940" w="2832989">
                    <a:moveTo>
                      <a:pt x="0" y="0"/>
                    </a:moveTo>
                    <a:lnTo>
                      <a:pt x="2832989" y="0"/>
                    </a:lnTo>
                    <a:lnTo>
                      <a:pt x="2832989" y="1043940"/>
                    </a:lnTo>
                    <a:lnTo>
                      <a:pt x="0" y="1043940"/>
                    </a:lnTo>
                    <a:close/>
                  </a:path>
                </a:pathLst>
              </a:custGeom>
              <a:blipFill rotWithShape="1">
                <a:blip r:embed="rId4">
                  <a:alphaModFix amt="0"/>
                </a:blip>
                <a:stretch>
                  <a:fillRect b="-14854" l="0" r="-22653" t="-1485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7" name="Google Shape;597;p11"/>
              <p:cNvSpPr txBox="1"/>
              <p:nvPr/>
            </p:nvSpPr>
            <p:spPr>
              <a:xfrm>
                <a:off x="0" y="-38100"/>
                <a:ext cx="2832989" cy="1082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75">
                    <a:solidFill>
                      <a:srgbClr val="1329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Tepat Waktu</a:t>
                </a:r>
                <a:endParaRPr/>
              </a:p>
            </p:txBody>
          </p:sp>
        </p:grpSp>
        <p:sp>
          <p:nvSpPr>
            <p:cNvPr id="598" name="Google Shape;598;p11"/>
            <p:cNvSpPr/>
            <p:nvPr/>
          </p:nvSpPr>
          <p:spPr>
            <a:xfrm>
              <a:off x="2832989" y="1021715"/>
              <a:ext cx="2869230" cy="1050290"/>
            </a:xfrm>
            <a:custGeom>
              <a:rect b="b" l="l" r="r" t="t"/>
              <a:pathLst>
                <a:path extrusionOk="0" h="1050290" w="2869230">
                  <a:moveTo>
                    <a:pt x="0" y="0"/>
                  </a:moveTo>
                  <a:lnTo>
                    <a:pt x="2869230" y="0"/>
                  </a:lnTo>
                  <a:lnTo>
                    <a:pt x="2869230" y="1050290"/>
                  </a:lnTo>
                  <a:lnTo>
                    <a:pt x="0" y="1050290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p11"/>
            <p:cNvSpPr/>
            <p:nvPr/>
          </p:nvSpPr>
          <p:spPr>
            <a:xfrm>
              <a:off x="2851110" y="1043940"/>
              <a:ext cx="2832989" cy="1005840"/>
            </a:xfrm>
            <a:custGeom>
              <a:rect b="b" l="l" r="r" t="t"/>
              <a:pathLst>
                <a:path extrusionOk="0" h="1005840" w="2832989">
                  <a:moveTo>
                    <a:pt x="0" y="0"/>
                  </a:moveTo>
                  <a:lnTo>
                    <a:pt x="2832989" y="0"/>
                  </a:lnTo>
                  <a:lnTo>
                    <a:pt x="2832989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843" l="0" r="0" t="-4843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00" name="Google Shape;600;p11"/>
            <p:cNvGrpSpPr/>
            <p:nvPr/>
          </p:nvGrpSpPr>
          <p:grpSpPr>
            <a:xfrm>
              <a:off x="2851110" y="629195"/>
              <a:ext cx="2832989" cy="1835330"/>
              <a:chOff x="0" y="0"/>
              <a:chExt cx="2832989" cy="1835330"/>
            </a:xfrm>
          </p:grpSpPr>
          <p:sp>
            <p:nvSpPr>
              <p:cNvPr id="601" name="Google Shape;601;p11"/>
              <p:cNvSpPr/>
              <p:nvPr/>
            </p:nvSpPr>
            <p:spPr>
              <a:xfrm>
                <a:off x="0" y="0"/>
                <a:ext cx="2832989" cy="1835330"/>
              </a:xfrm>
              <a:custGeom>
                <a:rect b="b" l="l" r="r" t="t"/>
                <a:pathLst>
                  <a:path extrusionOk="0" h="1835330" w="2832989">
                    <a:moveTo>
                      <a:pt x="0" y="0"/>
                    </a:moveTo>
                    <a:lnTo>
                      <a:pt x="2832989" y="0"/>
                    </a:lnTo>
                    <a:lnTo>
                      <a:pt x="2832989" y="1835330"/>
                    </a:lnTo>
                    <a:lnTo>
                      <a:pt x="0" y="1835330"/>
                    </a:lnTo>
                    <a:close/>
                  </a:path>
                </a:pathLst>
              </a:custGeom>
              <a:blipFill rotWithShape="1">
                <a:blip r:embed="rId4">
                  <a:alphaModFix amt="0"/>
                </a:blip>
                <a:stretch>
                  <a:fillRect b="35707" l="0" r="-22653" t="-9487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" name="Google Shape;602;p11"/>
              <p:cNvSpPr txBox="1"/>
              <p:nvPr/>
            </p:nvSpPr>
            <p:spPr>
              <a:xfrm>
                <a:off x="0" y="0"/>
                <a:ext cx="2832989" cy="1835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75">
                    <a:solidFill>
                      <a:srgbClr val="13293D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19.787</a:t>
                </a:r>
                <a:endParaRPr/>
              </a:p>
            </p:txBody>
          </p:sp>
        </p:grpSp>
        <p:sp>
          <p:nvSpPr>
            <p:cNvPr id="603" name="Google Shape;603;p11"/>
            <p:cNvSpPr/>
            <p:nvPr/>
          </p:nvSpPr>
          <p:spPr>
            <a:xfrm>
              <a:off x="5665978" y="1021715"/>
              <a:ext cx="2869230" cy="1050290"/>
            </a:xfrm>
            <a:custGeom>
              <a:rect b="b" l="l" r="r" t="t"/>
              <a:pathLst>
                <a:path extrusionOk="0" h="1050290" w="2869230">
                  <a:moveTo>
                    <a:pt x="0" y="0"/>
                  </a:moveTo>
                  <a:lnTo>
                    <a:pt x="2869230" y="0"/>
                  </a:lnTo>
                  <a:lnTo>
                    <a:pt x="2869230" y="1050290"/>
                  </a:lnTo>
                  <a:lnTo>
                    <a:pt x="0" y="1050290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11"/>
            <p:cNvSpPr/>
            <p:nvPr/>
          </p:nvSpPr>
          <p:spPr>
            <a:xfrm>
              <a:off x="5684099" y="1043940"/>
              <a:ext cx="2832989" cy="1005840"/>
            </a:xfrm>
            <a:custGeom>
              <a:rect b="b" l="l" r="r" t="t"/>
              <a:pathLst>
                <a:path extrusionOk="0" h="1005840" w="2832989">
                  <a:moveTo>
                    <a:pt x="0" y="0"/>
                  </a:moveTo>
                  <a:lnTo>
                    <a:pt x="2832989" y="0"/>
                  </a:lnTo>
                  <a:lnTo>
                    <a:pt x="2832989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843" l="0" r="0" t="-4843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05" name="Google Shape;605;p11"/>
            <p:cNvGrpSpPr/>
            <p:nvPr/>
          </p:nvGrpSpPr>
          <p:grpSpPr>
            <a:xfrm>
              <a:off x="5684099" y="629195"/>
              <a:ext cx="2832989" cy="1835330"/>
              <a:chOff x="0" y="0"/>
              <a:chExt cx="2832989" cy="1835330"/>
            </a:xfrm>
          </p:grpSpPr>
          <p:sp>
            <p:nvSpPr>
              <p:cNvPr id="606" name="Google Shape;606;p11"/>
              <p:cNvSpPr/>
              <p:nvPr/>
            </p:nvSpPr>
            <p:spPr>
              <a:xfrm>
                <a:off x="0" y="0"/>
                <a:ext cx="2832989" cy="1835330"/>
              </a:xfrm>
              <a:custGeom>
                <a:rect b="b" l="l" r="r" t="t"/>
                <a:pathLst>
                  <a:path extrusionOk="0" h="1835330" w="2832989">
                    <a:moveTo>
                      <a:pt x="0" y="0"/>
                    </a:moveTo>
                    <a:lnTo>
                      <a:pt x="2832989" y="0"/>
                    </a:lnTo>
                    <a:lnTo>
                      <a:pt x="2832989" y="1835330"/>
                    </a:lnTo>
                    <a:lnTo>
                      <a:pt x="0" y="1835330"/>
                    </a:lnTo>
                    <a:close/>
                  </a:path>
                </a:pathLst>
              </a:custGeom>
              <a:blipFill rotWithShape="1">
                <a:blip r:embed="rId4">
                  <a:alphaModFix amt="0"/>
                </a:blip>
                <a:stretch>
                  <a:fillRect b="35707" l="0" r="-22653" t="-9487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" name="Google Shape;607;p11"/>
              <p:cNvSpPr txBox="1"/>
              <p:nvPr/>
            </p:nvSpPr>
            <p:spPr>
              <a:xfrm>
                <a:off x="0" y="0"/>
                <a:ext cx="2832989" cy="1835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75">
                    <a:solidFill>
                      <a:srgbClr val="D64545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2.051</a:t>
                </a:r>
                <a:endParaRPr/>
              </a:p>
            </p:txBody>
          </p:sp>
        </p:grpSp>
        <p:sp>
          <p:nvSpPr>
            <p:cNvPr id="608" name="Google Shape;608;p11"/>
            <p:cNvSpPr/>
            <p:nvPr/>
          </p:nvSpPr>
          <p:spPr>
            <a:xfrm>
              <a:off x="8498967" y="1021715"/>
              <a:ext cx="2869230" cy="1050290"/>
            </a:xfrm>
            <a:custGeom>
              <a:rect b="b" l="l" r="r" t="t"/>
              <a:pathLst>
                <a:path extrusionOk="0" h="1050290" w="2869230">
                  <a:moveTo>
                    <a:pt x="0" y="0"/>
                  </a:moveTo>
                  <a:lnTo>
                    <a:pt x="2869230" y="0"/>
                  </a:lnTo>
                  <a:lnTo>
                    <a:pt x="2869230" y="1050290"/>
                  </a:lnTo>
                  <a:lnTo>
                    <a:pt x="0" y="1050290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11"/>
            <p:cNvSpPr/>
            <p:nvPr/>
          </p:nvSpPr>
          <p:spPr>
            <a:xfrm>
              <a:off x="8517088" y="1043940"/>
              <a:ext cx="2832989" cy="1005840"/>
            </a:xfrm>
            <a:custGeom>
              <a:rect b="b" l="l" r="r" t="t"/>
              <a:pathLst>
                <a:path extrusionOk="0" h="1005840" w="2832989">
                  <a:moveTo>
                    <a:pt x="0" y="0"/>
                  </a:moveTo>
                  <a:lnTo>
                    <a:pt x="2832989" y="0"/>
                  </a:lnTo>
                  <a:lnTo>
                    <a:pt x="2832989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843" l="0" r="0" t="-4843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10" name="Google Shape;610;p11"/>
            <p:cNvGrpSpPr/>
            <p:nvPr/>
          </p:nvGrpSpPr>
          <p:grpSpPr>
            <a:xfrm>
              <a:off x="8517088" y="629195"/>
              <a:ext cx="2832989" cy="1835330"/>
              <a:chOff x="0" y="0"/>
              <a:chExt cx="2832989" cy="1835330"/>
            </a:xfrm>
          </p:grpSpPr>
          <p:sp>
            <p:nvSpPr>
              <p:cNvPr id="611" name="Google Shape;611;p11"/>
              <p:cNvSpPr/>
              <p:nvPr/>
            </p:nvSpPr>
            <p:spPr>
              <a:xfrm>
                <a:off x="0" y="0"/>
                <a:ext cx="2832989" cy="1835330"/>
              </a:xfrm>
              <a:custGeom>
                <a:rect b="b" l="l" r="r" t="t"/>
                <a:pathLst>
                  <a:path extrusionOk="0" h="1835330" w="2832989">
                    <a:moveTo>
                      <a:pt x="0" y="0"/>
                    </a:moveTo>
                    <a:lnTo>
                      <a:pt x="2832989" y="0"/>
                    </a:lnTo>
                    <a:lnTo>
                      <a:pt x="2832989" y="1835330"/>
                    </a:lnTo>
                    <a:lnTo>
                      <a:pt x="0" y="1835330"/>
                    </a:lnTo>
                    <a:close/>
                  </a:path>
                </a:pathLst>
              </a:custGeom>
              <a:blipFill rotWithShape="1">
                <a:blip r:embed="rId4">
                  <a:alphaModFix amt="0"/>
                </a:blip>
                <a:stretch>
                  <a:fillRect b="35707" l="0" r="-22653" t="-9487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2" name="Google Shape;612;p11"/>
              <p:cNvSpPr txBox="1"/>
              <p:nvPr/>
            </p:nvSpPr>
            <p:spPr>
              <a:xfrm>
                <a:off x="0" y="0"/>
                <a:ext cx="2832989" cy="1835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75">
                    <a:solidFill>
                      <a:srgbClr val="13293D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21.838</a:t>
                </a:r>
                <a:endParaRPr/>
              </a:p>
            </p:txBody>
          </p:sp>
        </p:grpSp>
        <p:sp>
          <p:nvSpPr>
            <p:cNvPr id="613" name="Google Shape;613;p11"/>
            <p:cNvSpPr/>
            <p:nvPr/>
          </p:nvSpPr>
          <p:spPr>
            <a:xfrm>
              <a:off x="0" y="2027555"/>
              <a:ext cx="2869230" cy="1050290"/>
            </a:xfrm>
            <a:custGeom>
              <a:rect b="b" l="l" r="r" t="t"/>
              <a:pathLst>
                <a:path extrusionOk="0" h="1050290" w="2869230">
                  <a:moveTo>
                    <a:pt x="0" y="0"/>
                  </a:moveTo>
                  <a:lnTo>
                    <a:pt x="2869230" y="0"/>
                  </a:lnTo>
                  <a:lnTo>
                    <a:pt x="2869230" y="1050290"/>
                  </a:lnTo>
                  <a:lnTo>
                    <a:pt x="0" y="1050290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11"/>
            <p:cNvSpPr/>
            <p:nvPr/>
          </p:nvSpPr>
          <p:spPr>
            <a:xfrm>
              <a:off x="18120" y="2049780"/>
              <a:ext cx="2832989" cy="1005840"/>
            </a:xfrm>
            <a:custGeom>
              <a:rect b="b" l="l" r="r" t="t"/>
              <a:pathLst>
                <a:path extrusionOk="0" h="1005840" w="2832989">
                  <a:moveTo>
                    <a:pt x="0" y="0"/>
                  </a:moveTo>
                  <a:lnTo>
                    <a:pt x="2832989" y="0"/>
                  </a:lnTo>
                  <a:lnTo>
                    <a:pt x="2832989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843" l="0" r="0" t="-4843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15" name="Google Shape;615;p11"/>
            <p:cNvGrpSpPr/>
            <p:nvPr/>
          </p:nvGrpSpPr>
          <p:grpSpPr>
            <a:xfrm>
              <a:off x="18120" y="1973580"/>
              <a:ext cx="2832989" cy="1082040"/>
              <a:chOff x="0" y="-38100"/>
              <a:chExt cx="2832989" cy="1082040"/>
            </a:xfrm>
          </p:grpSpPr>
          <p:sp>
            <p:nvSpPr>
              <p:cNvPr id="616" name="Google Shape;616;p11"/>
              <p:cNvSpPr/>
              <p:nvPr/>
            </p:nvSpPr>
            <p:spPr>
              <a:xfrm>
                <a:off x="0" y="0"/>
                <a:ext cx="2832989" cy="1043940"/>
              </a:xfrm>
              <a:custGeom>
                <a:rect b="b" l="l" r="r" t="t"/>
                <a:pathLst>
                  <a:path extrusionOk="0" h="1043940" w="2832989">
                    <a:moveTo>
                      <a:pt x="0" y="0"/>
                    </a:moveTo>
                    <a:lnTo>
                      <a:pt x="2832989" y="0"/>
                    </a:lnTo>
                    <a:lnTo>
                      <a:pt x="2832989" y="1043940"/>
                    </a:lnTo>
                    <a:lnTo>
                      <a:pt x="0" y="1043940"/>
                    </a:lnTo>
                    <a:close/>
                  </a:path>
                </a:pathLst>
              </a:custGeom>
              <a:blipFill rotWithShape="1">
                <a:blip r:embed="rId4">
                  <a:alphaModFix amt="0"/>
                </a:blip>
                <a:stretch>
                  <a:fillRect b="-14854" l="0" r="-22653" t="-1485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7" name="Google Shape;617;p11"/>
              <p:cNvSpPr txBox="1"/>
              <p:nvPr/>
            </p:nvSpPr>
            <p:spPr>
              <a:xfrm>
                <a:off x="0" y="-38100"/>
                <a:ext cx="2832989" cy="1082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75">
                    <a:solidFill>
                      <a:srgbClr val="1329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Terlambat</a:t>
                </a:r>
                <a:endParaRPr/>
              </a:p>
            </p:txBody>
          </p:sp>
        </p:grpSp>
        <p:sp>
          <p:nvSpPr>
            <p:cNvPr id="618" name="Google Shape;618;p11"/>
            <p:cNvSpPr/>
            <p:nvPr/>
          </p:nvSpPr>
          <p:spPr>
            <a:xfrm>
              <a:off x="2832989" y="2027555"/>
              <a:ext cx="2869230" cy="1050290"/>
            </a:xfrm>
            <a:custGeom>
              <a:rect b="b" l="l" r="r" t="t"/>
              <a:pathLst>
                <a:path extrusionOk="0" h="1050290" w="2869230">
                  <a:moveTo>
                    <a:pt x="0" y="0"/>
                  </a:moveTo>
                  <a:lnTo>
                    <a:pt x="2869230" y="0"/>
                  </a:lnTo>
                  <a:lnTo>
                    <a:pt x="2869230" y="1050290"/>
                  </a:lnTo>
                  <a:lnTo>
                    <a:pt x="0" y="1050290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9" name="Google Shape;619;p11"/>
            <p:cNvSpPr/>
            <p:nvPr/>
          </p:nvSpPr>
          <p:spPr>
            <a:xfrm>
              <a:off x="2851110" y="2049780"/>
              <a:ext cx="2832989" cy="1005840"/>
            </a:xfrm>
            <a:custGeom>
              <a:rect b="b" l="l" r="r" t="t"/>
              <a:pathLst>
                <a:path extrusionOk="0" h="1005840" w="2832989">
                  <a:moveTo>
                    <a:pt x="0" y="0"/>
                  </a:moveTo>
                  <a:lnTo>
                    <a:pt x="2832989" y="0"/>
                  </a:lnTo>
                  <a:lnTo>
                    <a:pt x="2832989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843" l="0" r="0" t="-4843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20" name="Google Shape;620;p11"/>
            <p:cNvGrpSpPr/>
            <p:nvPr/>
          </p:nvGrpSpPr>
          <p:grpSpPr>
            <a:xfrm>
              <a:off x="2851110" y="1635035"/>
              <a:ext cx="2832989" cy="1835330"/>
              <a:chOff x="0" y="0"/>
              <a:chExt cx="2832989" cy="1835330"/>
            </a:xfrm>
          </p:grpSpPr>
          <p:sp>
            <p:nvSpPr>
              <p:cNvPr id="621" name="Google Shape;621;p11"/>
              <p:cNvSpPr/>
              <p:nvPr/>
            </p:nvSpPr>
            <p:spPr>
              <a:xfrm>
                <a:off x="0" y="0"/>
                <a:ext cx="2832989" cy="1835330"/>
              </a:xfrm>
              <a:custGeom>
                <a:rect b="b" l="l" r="r" t="t"/>
                <a:pathLst>
                  <a:path extrusionOk="0" h="1835330" w="2832989">
                    <a:moveTo>
                      <a:pt x="0" y="0"/>
                    </a:moveTo>
                    <a:lnTo>
                      <a:pt x="2832989" y="0"/>
                    </a:lnTo>
                    <a:lnTo>
                      <a:pt x="2832989" y="1835330"/>
                    </a:lnTo>
                    <a:lnTo>
                      <a:pt x="0" y="1835330"/>
                    </a:lnTo>
                    <a:close/>
                  </a:path>
                </a:pathLst>
              </a:custGeom>
              <a:blipFill rotWithShape="1">
                <a:blip r:embed="rId4">
                  <a:alphaModFix amt="0"/>
                </a:blip>
                <a:stretch>
                  <a:fillRect b="35707" l="0" r="-22653" t="-9487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" name="Google Shape;622;p11"/>
              <p:cNvSpPr txBox="1"/>
              <p:nvPr/>
            </p:nvSpPr>
            <p:spPr>
              <a:xfrm>
                <a:off x="0" y="0"/>
                <a:ext cx="2832989" cy="1835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75">
                    <a:solidFill>
                      <a:srgbClr val="13293D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21.588</a:t>
                </a:r>
                <a:endParaRPr/>
              </a:p>
            </p:txBody>
          </p:sp>
        </p:grpSp>
        <p:sp>
          <p:nvSpPr>
            <p:cNvPr id="623" name="Google Shape;623;p11"/>
            <p:cNvSpPr/>
            <p:nvPr/>
          </p:nvSpPr>
          <p:spPr>
            <a:xfrm>
              <a:off x="5665978" y="2027555"/>
              <a:ext cx="2869230" cy="1050290"/>
            </a:xfrm>
            <a:custGeom>
              <a:rect b="b" l="l" r="r" t="t"/>
              <a:pathLst>
                <a:path extrusionOk="0" h="1050290" w="2869230">
                  <a:moveTo>
                    <a:pt x="0" y="0"/>
                  </a:moveTo>
                  <a:lnTo>
                    <a:pt x="2869230" y="0"/>
                  </a:lnTo>
                  <a:lnTo>
                    <a:pt x="2869230" y="1050290"/>
                  </a:lnTo>
                  <a:lnTo>
                    <a:pt x="0" y="1050290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" name="Google Shape;624;p11"/>
            <p:cNvSpPr/>
            <p:nvPr/>
          </p:nvSpPr>
          <p:spPr>
            <a:xfrm>
              <a:off x="5684099" y="2049780"/>
              <a:ext cx="2832989" cy="1005840"/>
            </a:xfrm>
            <a:custGeom>
              <a:rect b="b" l="l" r="r" t="t"/>
              <a:pathLst>
                <a:path extrusionOk="0" h="1005840" w="2832989">
                  <a:moveTo>
                    <a:pt x="0" y="0"/>
                  </a:moveTo>
                  <a:lnTo>
                    <a:pt x="2832989" y="0"/>
                  </a:lnTo>
                  <a:lnTo>
                    <a:pt x="2832989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843" l="0" r="0" t="-4843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25" name="Google Shape;625;p11"/>
            <p:cNvGrpSpPr/>
            <p:nvPr/>
          </p:nvGrpSpPr>
          <p:grpSpPr>
            <a:xfrm>
              <a:off x="5684099" y="1635035"/>
              <a:ext cx="2832989" cy="1835330"/>
              <a:chOff x="0" y="0"/>
              <a:chExt cx="2832989" cy="1835330"/>
            </a:xfrm>
          </p:grpSpPr>
          <p:sp>
            <p:nvSpPr>
              <p:cNvPr id="626" name="Google Shape;626;p11"/>
              <p:cNvSpPr/>
              <p:nvPr/>
            </p:nvSpPr>
            <p:spPr>
              <a:xfrm>
                <a:off x="0" y="0"/>
                <a:ext cx="2832989" cy="1835330"/>
              </a:xfrm>
              <a:custGeom>
                <a:rect b="b" l="l" r="r" t="t"/>
                <a:pathLst>
                  <a:path extrusionOk="0" h="1835330" w="2832989">
                    <a:moveTo>
                      <a:pt x="0" y="0"/>
                    </a:moveTo>
                    <a:lnTo>
                      <a:pt x="2832989" y="0"/>
                    </a:lnTo>
                    <a:lnTo>
                      <a:pt x="2832989" y="1835330"/>
                    </a:lnTo>
                    <a:lnTo>
                      <a:pt x="0" y="1835330"/>
                    </a:lnTo>
                    <a:close/>
                  </a:path>
                </a:pathLst>
              </a:custGeom>
              <a:blipFill rotWithShape="1">
                <a:blip r:embed="rId4">
                  <a:alphaModFix amt="0"/>
                </a:blip>
                <a:stretch>
                  <a:fillRect b="35707" l="0" r="-22653" t="-9487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" name="Google Shape;627;p11"/>
              <p:cNvSpPr txBox="1"/>
              <p:nvPr/>
            </p:nvSpPr>
            <p:spPr>
              <a:xfrm>
                <a:off x="0" y="0"/>
                <a:ext cx="2832989" cy="1835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75">
                    <a:solidFill>
                      <a:srgbClr val="D64545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6.574</a:t>
                </a:r>
                <a:endParaRPr/>
              </a:p>
            </p:txBody>
          </p:sp>
        </p:grpSp>
        <p:sp>
          <p:nvSpPr>
            <p:cNvPr id="628" name="Google Shape;628;p11"/>
            <p:cNvSpPr/>
            <p:nvPr/>
          </p:nvSpPr>
          <p:spPr>
            <a:xfrm>
              <a:off x="8498967" y="2027555"/>
              <a:ext cx="2869230" cy="1050290"/>
            </a:xfrm>
            <a:custGeom>
              <a:rect b="b" l="l" r="r" t="t"/>
              <a:pathLst>
                <a:path extrusionOk="0" h="1050290" w="2869230">
                  <a:moveTo>
                    <a:pt x="0" y="0"/>
                  </a:moveTo>
                  <a:lnTo>
                    <a:pt x="2869230" y="0"/>
                  </a:lnTo>
                  <a:lnTo>
                    <a:pt x="2869230" y="1050290"/>
                  </a:lnTo>
                  <a:lnTo>
                    <a:pt x="0" y="1050290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9" name="Google Shape;629;p11"/>
            <p:cNvSpPr/>
            <p:nvPr/>
          </p:nvSpPr>
          <p:spPr>
            <a:xfrm>
              <a:off x="8517088" y="2049780"/>
              <a:ext cx="2832989" cy="1005840"/>
            </a:xfrm>
            <a:custGeom>
              <a:rect b="b" l="l" r="r" t="t"/>
              <a:pathLst>
                <a:path extrusionOk="0" h="1005840" w="2832989">
                  <a:moveTo>
                    <a:pt x="0" y="0"/>
                  </a:moveTo>
                  <a:lnTo>
                    <a:pt x="2832989" y="0"/>
                  </a:lnTo>
                  <a:lnTo>
                    <a:pt x="2832989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843" l="0" r="0" t="-4843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30" name="Google Shape;630;p11"/>
            <p:cNvGrpSpPr/>
            <p:nvPr/>
          </p:nvGrpSpPr>
          <p:grpSpPr>
            <a:xfrm>
              <a:off x="8517088" y="1635035"/>
              <a:ext cx="2832989" cy="1835330"/>
              <a:chOff x="0" y="0"/>
              <a:chExt cx="2832989" cy="1835330"/>
            </a:xfrm>
          </p:grpSpPr>
          <p:sp>
            <p:nvSpPr>
              <p:cNvPr id="631" name="Google Shape;631;p11"/>
              <p:cNvSpPr/>
              <p:nvPr/>
            </p:nvSpPr>
            <p:spPr>
              <a:xfrm>
                <a:off x="0" y="0"/>
                <a:ext cx="2832989" cy="1835330"/>
              </a:xfrm>
              <a:custGeom>
                <a:rect b="b" l="l" r="r" t="t"/>
                <a:pathLst>
                  <a:path extrusionOk="0" h="1835330" w="2832989">
                    <a:moveTo>
                      <a:pt x="0" y="0"/>
                    </a:moveTo>
                    <a:lnTo>
                      <a:pt x="2832989" y="0"/>
                    </a:lnTo>
                    <a:lnTo>
                      <a:pt x="2832989" y="1835330"/>
                    </a:lnTo>
                    <a:lnTo>
                      <a:pt x="0" y="1835330"/>
                    </a:lnTo>
                    <a:close/>
                  </a:path>
                </a:pathLst>
              </a:custGeom>
              <a:blipFill rotWithShape="1">
                <a:blip r:embed="rId4">
                  <a:alphaModFix amt="0"/>
                </a:blip>
                <a:stretch>
                  <a:fillRect b="35707" l="0" r="-22653" t="-9487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" name="Google Shape;632;p11"/>
              <p:cNvSpPr txBox="1"/>
              <p:nvPr/>
            </p:nvSpPr>
            <p:spPr>
              <a:xfrm>
                <a:off x="0" y="0"/>
                <a:ext cx="2832989" cy="1835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75">
                    <a:solidFill>
                      <a:srgbClr val="13293D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28.162</a:t>
                </a:r>
                <a:endParaRPr/>
              </a:p>
            </p:txBody>
          </p:sp>
        </p:grpSp>
        <p:sp>
          <p:nvSpPr>
            <p:cNvPr id="633" name="Google Shape;633;p11"/>
            <p:cNvSpPr/>
            <p:nvPr/>
          </p:nvSpPr>
          <p:spPr>
            <a:xfrm>
              <a:off x="0" y="3033395"/>
              <a:ext cx="2869230" cy="1050290"/>
            </a:xfrm>
            <a:custGeom>
              <a:rect b="b" l="l" r="r" t="t"/>
              <a:pathLst>
                <a:path extrusionOk="0" h="1050290" w="2869230">
                  <a:moveTo>
                    <a:pt x="0" y="0"/>
                  </a:moveTo>
                  <a:lnTo>
                    <a:pt x="2869230" y="0"/>
                  </a:lnTo>
                  <a:lnTo>
                    <a:pt x="2869230" y="1050290"/>
                  </a:lnTo>
                  <a:lnTo>
                    <a:pt x="0" y="1050290"/>
                  </a:lnTo>
                  <a:close/>
                </a:path>
              </a:pathLst>
            </a:custGeom>
            <a:solidFill>
              <a:srgbClr val="E9EEF3"/>
            </a:solidFill>
            <a:ln cap="sq" cmpd="sng" w="19050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" name="Google Shape;634;p11"/>
            <p:cNvSpPr/>
            <p:nvPr/>
          </p:nvSpPr>
          <p:spPr>
            <a:xfrm>
              <a:off x="18120" y="3055620"/>
              <a:ext cx="2832989" cy="1005840"/>
            </a:xfrm>
            <a:custGeom>
              <a:rect b="b" l="l" r="r" t="t"/>
              <a:pathLst>
                <a:path extrusionOk="0" h="1005840" w="2832989">
                  <a:moveTo>
                    <a:pt x="0" y="0"/>
                  </a:moveTo>
                  <a:lnTo>
                    <a:pt x="2832989" y="0"/>
                  </a:lnTo>
                  <a:lnTo>
                    <a:pt x="2832989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843" l="0" r="0" t="-4843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35" name="Google Shape;635;p11"/>
            <p:cNvGrpSpPr/>
            <p:nvPr/>
          </p:nvGrpSpPr>
          <p:grpSpPr>
            <a:xfrm>
              <a:off x="18120" y="2979420"/>
              <a:ext cx="2832989" cy="1082040"/>
              <a:chOff x="0" y="-38100"/>
              <a:chExt cx="2832989" cy="1082040"/>
            </a:xfrm>
          </p:grpSpPr>
          <p:sp>
            <p:nvSpPr>
              <p:cNvPr id="636" name="Google Shape;636;p11"/>
              <p:cNvSpPr/>
              <p:nvPr/>
            </p:nvSpPr>
            <p:spPr>
              <a:xfrm>
                <a:off x="0" y="0"/>
                <a:ext cx="2832989" cy="1043940"/>
              </a:xfrm>
              <a:custGeom>
                <a:rect b="b" l="l" r="r" t="t"/>
                <a:pathLst>
                  <a:path extrusionOk="0" h="1043940" w="2832989">
                    <a:moveTo>
                      <a:pt x="0" y="0"/>
                    </a:moveTo>
                    <a:lnTo>
                      <a:pt x="2832989" y="0"/>
                    </a:lnTo>
                    <a:lnTo>
                      <a:pt x="2832989" y="1043940"/>
                    </a:lnTo>
                    <a:lnTo>
                      <a:pt x="0" y="1043940"/>
                    </a:lnTo>
                    <a:close/>
                  </a:path>
                </a:pathLst>
              </a:custGeom>
              <a:blipFill rotWithShape="1">
                <a:blip r:embed="rId4">
                  <a:alphaModFix amt="0"/>
                </a:blip>
                <a:stretch>
                  <a:fillRect b="-14854" l="0" r="-22653" t="-1485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" name="Google Shape;637;p11"/>
              <p:cNvSpPr txBox="1"/>
              <p:nvPr/>
            </p:nvSpPr>
            <p:spPr>
              <a:xfrm>
                <a:off x="0" y="-38100"/>
                <a:ext cx="2832989" cy="1082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75">
                    <a:solidFill>
                      <a:srgbClr val="1329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Total</a:t>
                </a:r>
                <a:endParaRPr/>
              </a:p>
            </p:txBody>
          </p:sp>
        </p:grpSp>
        <p:sp>
          <p:nvSpPr>
            <p:cNvPr id="638" name="Google Shape;638;p11"/>
            <p:cNvSpPr/>
            <p:nvPr/>
          </p:nvSpPr>
          <p:spPr>
            <a:xfrm>
              <a:off x="2832989" y="3033395"/>
              <a:ext cx="2869230" cy="1050290"/>
            </a:xfrm>
            <a:custGeom>
              <a:rect b="b" l="l" r="r" t="t"/>
              <a:pathLst>
                <a:path extrusionOk="0" h="1050290" w="2869230">
                  <a:moveTo>
                    <a:pt x="0" y="0"/>
                  </a:moveTo>
                  <a:lnTo>
                    <a:pt x="2869230" y="0"/>
                  </a:lnTo>
                  <a:lnTo>
                    <a:pt x="2869230" y="1050290"/>
                  </a:lnTo>
                  <a:lnTo>
                    <a:pt x="0" y="1050290"/>
                  </a:lnTo>
                  <a:close/>
                </a:path>
              </a:pathLst>
            </a:custGeom>
            <a:solidFill>
              <a:srgbClr val="E9EEF3"/>
            </a:solidFill>
            <a:ln cap="sq" cmpd="sng" w="19050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9" name="Google Shape;639;p11"/>
            <p:cNvSpPr/>
            <p:nvPr/>
          </p:nvSpPr>
          <p:spPr>
            <a:xfrm>
              <a:off x="2851110" y="3055620"/>
              <a:ext cx="2832989" cy="1005840"/>
            </a:xfrm>
            <a:custGeom>
              <a:rect b="b" l="l" r="r" t="t"/>
              <a:pathLst>
                <a:path extrusionOk="0" h="1005840" w="2832989">
                  <a:moveTo>
                    <a:pt x="0" y="0"/>
                  </a:moveTo>
                  <a:lnTo>
                    <a:pt x="2832989" y="0"/>
                  </a:lnTo>
                  <a:lnTo>
                    <a:pt x="2832989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843" l="0" r="0" t="-4843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40" name="Google Shape;640;p11"/>
            <p:cNvGrpSpPr/>
            <p:nvPr/>
          </p:nvGrpSpPr>
          <p:grpSpPr>
            <a:xfrm>
              <a:off x="2851110" y="2640875"/>
              <a:ext cx="2832989" cy="1835330"/>
              <a:chOff x="0" y="0"/>
              <a:chExt cx="2832989" cy="1835330"/>
            </a:xfrm>
          </p:grpSpPr>
          <p:sp>
            <p:nvSpPr>
              <p:cNvPr id="641" name="Google Shape;641;p11"/>
              <p:cNvSpPr/>
              <p:nvPr/>
            </p:nvSpPr>
            <p:spPr>
              <a:xfrm>
                <a:off x="0" y="0"/>
                <a:ext cx="2832989" cy="1835330"/>
              </a:xfrm>
              <a:custGeom>
                <a:rect b="b" l="l" r="r" t="t"/>
                <a:pathLst>
                  <a:path extrusionOk="0" h="1835330" w="2832989">
                    <a:moveTo>
                      <a:pt x="0" y="0"/>
                    </a:moveTo>
                    <a:lnTo>
                      <a:pt x="2832989" y="0"/>
                    </a:lnTo>
                    <a:lnTo>
                      <a:pt x="2832989" y="1835330"/>
                    </a:lnTo>
                    <a:lnTo>
                      <a:pt x="0" y="1835330"/>
                    </a:lnTo>
                    <a:close/>
                  </a:path>
                </a:pathLst>
              </a:custGeom>
              <a:blipFill rotWithShape="1">
                <a:blip r:embed="rId4">
                  <a:alphaModFix amt="0"/>
                </a:blip>
                <a:stretch>
                  <a:fillRect b="35707" l="0" r="-22653" t="-9487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" name="Google Shape;642;p11"/>
              <p:cNvSpPr txBox="1"/>
              <p:nvPr/>
            </p:nvSpPr>
            <p:spPr>
              <a:xfrm>
                <a:off x="0" y="0"/>
                <a:ext cx="2832989" cy="1835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75">
                    <a:solidFill>
                      <a:srgbClr val="13293D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41.375</a:t>
                </a:r>
                <a:endParaRPr/>
              </a:p>
            </p:txBody>
          </p:sp>
        </p:grpSp>
        <p:sp>
          <p:nvSpPr>
            <p:cNvPr id="643" name="Google Shape;643;p11"/>
            <p:cNvSpPr/>
            <p:nvPr/>
          </p:nvSpPr>
          <p:spPr>
            <a:xfrm>
              <a:off x="5665978" y="3033395"/>
              <a:ext cx="2869230" cy="1050290"/>
            </a:xfrm>
            <a:custGeom>
              <a:rect b="b" l="l" r="r" t="t"/>
              <a:pathLst>
                <a:path extrusionOk="0" h="1050290" w="2869230">
                  <a:moveTo>
                    <a:pt x="0" y="0"/>
                  </a:moveTo>
                  <a:lnTo>
                    <a:pt x="2869230" y="0"/>
                  </a:lnTo>
                  <a:lnTo>
                    <a:pt x="2869230" y="1050290"/>
                  </a:lnTo>
                  <a:lnTo>
                    <a:pt x="0" y="1050290"/>
                  </a:lnTo>
                  <a:close/>
                </a:path>
              </a:pathLst>
            </a:custGeom>
            <a:solidFill>
              <a:srgbClr val="E9EEF3"/>
            </a:solidFill>
            <a:ln cap="sq" cmpd="sng" w="19050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4" name="Google Shape;644;p11"/>
            <p:cNvSpPr/>
            <p:nvPr/>
          </p:nvSpPr>
          <p:spPr>
            <a:xfrm>
              <a:off x="5684099" y="3055620"/>
              <a:ext cx="2832989" cy="1005840"/>
            </a:xfrm>
            <a:custGeom>
              <a:rect b="b" l="l" r="r" t="t"/>
              <a:pathLst>
                <a:path extrusionOk="0" h="1005840" w="2832989">
                  <a:moveTo>
                    <a:pt x="0" y="0"/>
                  </a:moveTo>
                  <a:lnTo>
                    <a:pt x="2832989" y="0"/>
                  </a:lnTo>
                  <a:lnTo>
                    <a:pt x="2832989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843" l="0" r="0" t="-4843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45" name="Google Shape;645;p11"/>
            <p:cNvGrpSpPr/>
            <p:nvPr/>
          </p:nvGrpSpPr>
          <p:grpSpPr>
            <a:xfrm>
              <a:off x="5684099" y="2640875"/>
              <a:ext cx="2832989" cy="1835330"/>
              <a:chOff x="0" y="0"/>
              <a:chExt cx="2832989" cy="1835330"/>
            </a:xfrm>
          </p:grpSpPr>
          <p:sp>
            <p:nvSpPr>
              <p:cNvPr id="646" name="Google Shape;646;p11"/>
              <p:cNvSpPr/>
              <p:nvPr/>
            </p:nvSpPr>
            <p:spPr>
              <a:xfrm>
                <a:off x="0" y="0"/>
                <a:ext cx="2832989" cy="1835330"/>
              </a:xfrm>
              <a:custGeom>
                <a:rect b="b" l="l" r="r" t="t"/>
                <a:pathLst>
                  <a:path extrusionOk="0" h="1835330" w="2832989">
                    <a:moveTo>
                      <a:pt x="0" y="0"/>
                    </a:moveTo>
                    <a:lnTo>
                      <a:pt x="2832989" y="0"/>
                    </a:lnTo>
                    <a:lnTo>
                      <a:pt x="2832989" y="1835330"/>
                    </a:lnTo>
                    <a:lnTo>
                      <a:pt x="0" y="1835330"/>
                    </a:lnTo>
                    <a:close/>
                  </a:path>
                </a:pathLst>
              </a:custGeom>
              <a:blipFill rotWithShape="1">
                <a:blip r:embed="rId4">
                  <a:alphaModFix amt="0"/>
                </a:blip>
                <a:stretch>
                  <a:fillRect b="35707" l="0" r="-22653" t="-9487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11"/>
              <p:cNvSpPr txBox="1"/>
              <p:nvPr/>
            </p:nvSpPr>
            <p:spPr>
              <a:xfrm>
                <a:off x="0" y="0"/>
                <a:ext cx="2832989" cy="1835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75">
                    <a:solidFill>
                      <a:srgbClr val="13293D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8.625</a:t>
                </a:r>
                <a:endParaRPr/>
              </a:p>
            </p:txBody>
          </p:sp>
        </p:grpSp>
        <p:sp>
          <p:nvSpPr>
            <p:cNvPr id="648" name="Google Shape;648;p11"/>
            <p:cNvSpPr/>
            <p:nvPr/>
          </p:nvSpPr>
          <p:spPr>
            <a:xfrm>
              <a:off x="8498967" y="3033395"/>
              <a:ext cx="2869230" cy="1050290"/>
            </a:xfrm>
            <a:custGeom>
              <a:rect b="b" l="l" r="r" t="t"/>
              <a:pathLst>
                <a:path extrusionOk="0" h="1050290" w="2869230">
                  <a:moveTo>
                    <a:pt x="0" y="0"/>
                  </a:moveTo>
                  <a:lnTo>
                    <a:pt x="2869230" y="0"/>
                  </a:lnTo>
                  <a:lnTo>
                    <a:pt x="2869230" y="1050290"/>
                  </a:lnTo>
                  <a:lnTo>
                    <a:pt x="0" y="1050290"/>
                  </a:lnTo>
                  <a:close/>
                </a:path>
              </a:pathLst>
            </a:custGeom>
            <a:solidFill>
              <a:srgbClr val="E9EEF3"/>
            </a:solidFill>
            <a:ln cap="sq" cmpd="sng" w="19050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9" name="Google Shape;649;p11"/>
            <p:cNvSpPr/>
            <p:nvPr/>
          </p:nvSpPr>
          <p:spPr>
            <a:xfrm>
              <a:off x="8517088" y="3055620"/>
              <a:ext cx="2832989" cy="1005840"/>
            </a:xfrm>
            <a:custGeom>
              <a:rect b="b" l="l" r="r" t="t"/>
              <a:pathLst>
                <a:path extrusionOk="0" h="1005840" w="2832989">
                  <a:moveTo>
                    <a:pt x="0" y="0"/>
                  </a:moveTo>
                  <a:lnTo>
                    <a:pt x="2832989" y="0"/>
                  </a:lnTo>
                  <a:lnTo>
                    <a:pt x="2832989" y="1005840"/>
                  </a:lnTo>
                  <a:lnTo>
                    <a:pt x="0" y="10058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843" l="0" r="0" t="-4843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50" name="Google Shape;650;p11"/>
            <p:cNvGrpSpPr/>
            <p:nvPr/>
          </p:nvGrpSpPr>
          <p:grpSpPr>
            <a:xfrm>
              <a:off x="8517088" y="2640875"/>
              <a:ext cx="2832989" cy="1835330"/>
              <a:chOff x="0" y="0"/>
              <a:chExt cx="2832989" cy="1835330"/>
            </a:xfrm>
          </p:grpSpPr>
          <p:sp>
            <p:nvSpPr>
              <p:cNvPr id="651" name="Google Shape;651;p11"/>
              <p:cNvSpPr/>
              <p:nvPr/>
            </p:nvSpPr>
            <p:spPr>
              <a:xfrm>
                <a:off x="0" y="0"/>
                <a:ext cx="2832989" cy="1835330"/>
              </a:xfrm>
              <a:custGeom>
                <a:rect b="b" l="l" r="r" t="t"/>
                <a:pathLst>
                  <a:path extrusionOk="0" h="1835330" w="2832989">
                    <a:moveTo>
                      <a:pt x="0" y="0"/>
                    </a:moveTo>
                    <a:lnTo>
                      <a:pt x="2832989" y="0"/>
                    </a:lnTo>
                    <a:lnTo>
                      <a:pt x="2832989" y="1835330"/>
                    </a:lnTo>
                    <a:lnTo>
                      <a:pt x="0" y="1835330"/>
                    </a:lnTo>
                    <a:close/>
                  </a:path>
                </a:pathLst>
              </a:custGeom>
              <a:blipFill rotWithShape="1">
                <a:blip r:embed="rId4">
                  <a:alphaModFix amt="0"/>
                </a:blip>
                <a:stretch>
                  <a:fillRect b="35707" l="0" r="-22653" t="-9487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" name="Google Shape;652;p11"/>
              <p:cNvSpPr txBox="1"/>
              <p:nvPr/>
            </p:nvSpPr>
            <p:spPr>
              <a:xfrm>
                <a:off x="0" y="0"/>
                <a:ext cx="2832989" cy="1835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75">
                    <a:solidFill>
                      <a:srgbClr val="13293D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50.000</a:t>
                </a:r>
                <a:endParaRPr/>
              </a:p>
            </p:txBody>
          </p:sp>
        </p:grpSp>
      </p:grpSp>
      <p:sp>
        <p:nvSpPr>
          <p:cNvPr id="653" name="Google Shape;653;p11"/>
          <p:cNvSpPr/>
          <p:nvPr/>
        </p:nvSpPr>
        <p:spPr>
          <a:xfrm>
            <a:off x="822960" y="6583680"/>
            <a:ext cx="4389120" cy="521208"/>
          </a:xfrm>
          <a:custGeom>
            <a:rect b="b" l="l" r="r" t="t"/>
            <a:pathLst>
              <a:path extrusionOk="0" h="694944" w="5852160">
                <a:moveTo>
                  <a:pt x="0" y="0"/>
                </a:moveTo>
                <a:lnTo>
                  <a:pt x="5852160" y="0"/>
                </a:lnTo>
                <a:lnTo>
                  <a:pt x="5852160" y="694944"/>
                </a:lnTo>
                <a:lnTo>
                  <a:pt x="0" y="694944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113970" l="0" r="0" t="-11397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54" name="Google Shape;654;p11"/>
          <p:cNvGrpSpPr/>
          <p:nvPr/>
        </p:nvGrpSpPr>
        <p:grpSpPr>
          <a:xfrm>
            <a:off x="822960" y="6526530"/>
            <a:ext cx="4389120" cy="578358"/>
            <a:chOff x="0" y="-38100"/>
            <a:chExt cx="5852160" cy="771144"/>
          </a:xfrm>
        </p:grpSpPr>
        <p:sp>
          <p:nvSpPr>
            <p:cNvPr id="655" name="Google Shape;655;p11"/>
            <p:cNvSpPr/>
            <p:nvPr/>
          </p:nvSpPr>
          <p:spPr>
            <a:xfrm>
              <a:off x="0" y="0"/>
              <a:ext cx="5852160" cy="733044"/>
            </a:xfrm>
            <a:custGeom>
              <a:rect b="b" l="l" r="r" t="t"/>
              <a:pathLst>
                <a:path extrusionOk="0" h="73304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33044"/>
                  </a:lnTo>
                  <a:lnTo>
                    <a:pt x="0" y="733044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05560" l="0" r="0" t="-10556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11"/>
            <p:cNvSpPr txBox="1"/>
            <p:nvPr/>
          </p:nvSpPr>
          <p:spPr>
            <a:xfrm>
              <a:off x="0" y="-38100"/>
              <a:ext cx="5852160" cy="771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5B7387"/>
                  </a:solidFill>
                  <a:latin typeface="Calibri"/>
                  <a:ea typeface="Calibri"/>
                  <a:cs typeface="Calibri"/>
                  <a:sym typeface="Calibri"/>
                </a:rPr>
                <a:t>Chi-square (χ²) :</a:t>
              </a:r>
              <a:endParaRPr/>
            </a:p>
          </p:txBody>
        </p:sp>
      </p:grpSp>
      <p:sp>
        <p:nvSpPr>
          <p:cNvPr id="657" name="Google Shape;657;p11"/>
          <p:cNvSpPr/>
          <p:nvPr/>
        </p:nvSpPr>
        <p:spPr>
          <a:xfrm>
            <a:off x="4937760" y="6583680"/>
            <a:ext cx="3429000" cy="521208"/>
          </a:xfrm>
          <a:custGeom>
            <a:rect b="b" l="l" r="r" t="t"/>
            <a:pathLst>
              <a:path extrusionOk="0" h="694944" w="4572000">
                <a:moveTo>
                  <a:pt x="0" y="0"/>
                </a:moveTo>
                <a:lnTo>
                  <a:pt x="4572000" y="0"/>
                </a:lnTo>
                <a:lnTo>
                  <a:pt x="4572000" y="694944"/>
                </a:lnTo>
                <a:lnTo>
                  <a:pt x="0" y="694944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78105" l="0" r="0" t="-7810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58" name="Google Shape;658;p11"/>
          <p:cNvGrpSpPr/>
          <p:nvPr/>
        </p:nvGrpSpPr>
        <p:grpSpPr>
          <a:xfrm>
            <a:off x="4937760" y="6569392"/>
            <a:ext cx="3429000" cy="535496"/>
            <a:chOff x="0" y="-9525"/>
            <a:chExt cx="4572000" cy="713994"/>
          </a:xfrm>
        </p:grpSpPr>
        <p:sp>
          <p:nvSpPr>
            <p:cNvPr id="659" name="Google Shape;659;p11"/>
            <p:cNvSpPr/>
            <p:nvPr/>
          </p:nvSpPr>
          <p:spPr>
            <a:xfrm>
              <a:off x="0" y="0"/>
              <a:ext cx="4572000" cy="704469"/>
            </a:xfrm>
            <a:custGeom>
              <a:rect b="b" l="l" r="r" t="t"/>
              <a:pathLst>
                <a:path extrusionOk="0" h="704469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704469"/>
                  </a:lnTo>
                  <a:lnTo>
                    <a:pt x="0" y="704469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76454" l="0" r="0" t="-7645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0" name="Google Shape;660;p11"/>
            <p:cNvSpPr txBox="1"/>
            <p:nvPr/>
          </p:nvSpPr>
          <p:spPr>
            <a:xfrm>
              <a:off x="0" y="-9525"/>
              <a:ext cx="4572000" cy="7139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50">
                  <a:solidFill>
                    <a:srgbClr val="0B2545"/>
                  </a:solidFill>
                  <a:latin typeface="Cambria"/>
                  <a:ea typeface="Cambria"/>
                  <a:cs typeface="Cambria"/>
                  <a:sym typeface="Cambria"/>
                </a:rPr>
                <a:t>1.676,28</a:t>
              </a:r>
              <a:endParaRPr/>
            </a:p>
          </p:txBody>
        </p:sp>
      </p:grpSp>
      <p:sp>
        <p:nvSpPr>
          <p:cNvPr id="661" name="Google Shape;661;p11"/>
          <p:cNvSpPr/>
          <p:nvPr/>
        </p:nvSpPr>
        <p:spPr>
          <a:xfrm>
            <a:off x="822960" y="7159752"/>
            <a:ext cx="4389120" cy="521208"/>
          </a:xfrm>
          <a:custGeom>
            <a:rect b="b" l="l" r="r" t="t"/>
            <a:pathLst>
              <a:path extrusionOk="0" h="694944" w="5852160">
                <a:moveTo>
                  <a:pt x="0" y="0"/>
                </a:moveTo>
                <a:lnTo>
                  <a:pt x="5852160" y="0"/>
                </a:lnTo>
                <a:lnTo>
                  <a:pt x="5852160" y="694944"/>
                </a:lnTo>
                <a:lnTo>
                  <a:pt x="0" y="694944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113970" l="0" r="0" t="-11397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2" name="Google Shape;662;p11"/>
          <p:cNvGrpSpPr/>
          <p:nvPr/>
        </p:nvGrpSpPr>
        <p:grpSpPr>
          <a:xfrm>
            <a:off x="822960" y="7102602"/>
            <a:ext cx="4389120" cy="578358"/>
            <a:chOff x="0" y="-38100"/>
            <a:chExt cx="5852160" cy="771144"/>
          </a:xfrm>
        </p:grpSpPr>
        <p:sp>
          <p:nvSpPr>
            <p:cNvPr id="663" name="Google Shape;663;p11"/>
            <p:cNvSpPr/>
            <p:nvPr/>
          </p:nvSpPr>
          <p:spPr>
            <a:xfrm>
              <a:off x="0" y="0"/>
              <a:ext cx="5852160" cy="733044"/>
            </a:xfrm>
            <a:custGeom>
              <a:rect b="b" l="l" r="r" t="t"/>
              <a:pathLst>
                <a:path extrusionOk="0" h="73304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33044"/>
                  </a:lnTo>
                  <a:lnTo>
                    <a:pt x="0" y="733044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05560" l="0" r="0" t="-10556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" name="Google Shape;664;p11"/>
            <p:cNvSpPr txBox="1"/>
            <p:nvPr/>
          </p:nvSpPr>
          <p:spPr>
            <a:xfrm>
              <a:off x="0" y="-38100"/>
              <a:ext cx="5852160" cy="771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5B7387"/>
                  </a:solidFill>
                  <a:latin typeface="Calibri"/>
                  <a:ea typeface="Calibri"/>
                  <a:cs typeface="Calibri"/>
                  <a:sym typeface="Calibri"/>
                </a:rPr>
                <a:t>Degrees of Freedom :</a:t>
              </a:r>
              <a:endParaRPr/>
            </a:p>
          </p:txBody>
        </p:sp>
      </p:grpSp>
      <p:sp>
        <p:nvSpPr>
          <p:cNvPr id="665" name="Google Shape;665;p11"/>
          <p:cNvSpPr/>
          <p:nvPr/>
        </p:nvSpPr>
        <p:spPr>
          <a:xfrm>
            <a:off x="4937760" y="7159752"/>
            <a:ext cx="3429000" cy="521208"/>
          </a:xfrm>
          <a:custGeom>
            <a:rect b="b" l="l" r="r" t="t"/>
            <a:pathLst>
              <a:path extrusionOk="0" h="694944" w="4572000">
                <a:moveTo>
                  <a:pt x="0" y="0"/>
                </a:moveTo>
                <a:lnTo>
                  <a:pt x="4572000" y="0"/>
                </a:lnTo>
                <a:lnTo>
                  <a:pt x="4572000" y="694944"/>
                </a:lnTo>
                <a:lnTo>
                  <a:pt x="0" y="694944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78105" l="0" r="0" t="-7810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6" name="Google Shape;666;p11"/>
          <p:cNvGrpSpPr/>
          <p:nvPr/>
        </p:nvGrpSpPr>
        <p:grpSpPr>
          <a:xfrm>
            <a:off x="4937760" y="7145464"/>
            <a:ext cx="3429000" cy="535496"/>
            <a:chOff x="0" y="-9525"/>
            <a:chExt cx="4572000" cy="713994"/>
          </a:xfrm>
        </p:grpSpPr>
        <p:sp>
          <p:nvSpPr>
            <p:cNvPr id="667" name="Google Shape;667;p11"/>
            <p:cNvSpPr/>
            <p:nvPr/>
          </p:nvSpPr>
          <p:spPr>
            <a:xfrm>
              <a:off x="0" y="0"/>
              <a:ext cx="4572000" cy="704469"/>
            </a:xfrm>
            <a:custGeom>
              <a:rect b="b" l="l" r="r" t="t"/>
              <a:pathLst>
                <a:path extrusionOk="0" h="704469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704469"/>
                  </a:lnTo>
                  <a:lnTo>
                    <a:pt x="0" y="704469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76454" l="0" r="0" t="-7645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p11"/>
            <p:cNvSpPr txBox="1"/>
            <p:nvPr/>
          </p:nvSpPr>
          <p:spPr>
            <a:xfrm>
              <a:off x="0" y="-9525"/>
              <a:ext cx="4572000" cy="7139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50">
                  <a:solidFill>
                    <a:srgbClr val="0B2545"/>
                  </a:solidFill>
                  <a:latin typeface="Cambria"/>
                  <a:ea typeface="Cambria"/>
                  <a:cs typeface="Cambria"/>
                  <a:sym typeface="Cambria"/>
                </a:rPr>
                <a:t>1</a:t>
              </a:r>
              <a:endParaRPr/>
            </a:p>
          </p:txBody>
        </p:sp>
      </p:grpSp>
      <p:sp>
        <p:nvSpPr>
          <p:cNvPr id="669" name="Google Shape;669;p11"/>
          <p:cNvSpPr/>
          <p:nvPr/>
        </p:nvSpPr>
        <p:spPr>
          <a:xfrm>
            <a:off x="822960" y="7735824"/>
            <a:ext cx="4389120" cy="521208"/>
          </a:xfrm>
          <a:custGeom>
            <a:rect b="b" l="l" r="r" t="t"/>
            <a:pathLst>
              <a:path extrusionOk="0" h="694944" w="5852160">
                <a:moveTo>
                  <a:pt x="0" y="0"/>
                </a:moveTo>
                <a:lnTo>
                  <a:pt x="5852160" y="0"/>
                </a:lnTo>
                <a:lnTo>
                  <a:pt x="5852160" y="694944"/>
                </a:lnTo>
                <a:lnTo>
                  <a:pt x="0" y="694944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113970" l="0" r="0" t="-11397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70" name="Google Shape;670;p11"/>
          <p:cNvGrpSpPr/>
          <p:nvPr/>
        </p:nvGrpSpPr>
        <p:grpSpPr>
          <a:xfrm>
            <a:off x="822960" y="7678674"/>
            <a:ext cx="4389120" cy="578358"/>
            <a:chOff x="0" y="-38100"/>
            <a:chExt cx="5852160" cy="771144"/>
          </a:xfrm>
        </p:grpSpPr>
        <p:sp>
          <p:nvSpPr>
            <p:cNvPr id="671" name="Google Shape;671;p11"/>
            <p:cNvSpPr/>
            <p:nvPr/>
          </p:nvSpPr>
          <p:spPr>
            <a:xfrm>
              <a:off x="0" y="0"/>
              <a:ext cx="5852160" cy="733044"/>
            </a:xfrm>
            <a:custGeom>
              <a:rect b="b" l="l" r="r" t="t"/>
              <a:pathLst>
                <a:path extrusionOk="0" h="73304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33044"/>
                  </a:lnTo>
                  <a:lnTo>
                    <a:pt x="0" y="733044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05560" l="0" r="0" t="-10556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11"/>
            <p:cNvSpPr txBox="1"/>
            <p:nvPr/>
          </p:nvSpPr>
          <p:spPr>
            <a:xfrm>
              <a:off x="0" y="-38100"/>
              <a:ext cx="5852160" cy="771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5B7387"/>
                  </a:solidFill>
                  <a:latin typeface="Calibri"/>
                  <a:ea typeface="Calibri"/>
                  <a:cs typeface="Calibri"/>
                  <a:sym typeface="Calibri"/>
                </a:rPr>
                <a:t>p-value :</a:t>
              </a:r>
              <a:endParaRPr/>
            </a:p>
          </p:txBody>
        </p:sp>
      </p:grpSp>
      <p:sp>
        <p:nvSpPr>
          <p:cNvPr id="673" name="Google Shape;673;p11"/>
          <p:cNvSpPr/>
          <p:nvPr/>
        </p:nvSpPr>
        <p:spPr>
          <a:xfrm>
            <a:off x="4937760" y="7735824"/>
            <a:ext cx="3429000" cy="521208"/>
          </a:xfrm>
          <a:custGeom>
            <a:rect b="b" l="l" r="r" t="t"/>
            <a:pathLst>
              <a:path extrusionOk="0" h="694944" w="4572000">
                <a:moveTo>
                  <a:pt x="0" y="0"/>
                </a:moveTo>
                <a:lnTo>
                  <a:pt x="4572000" y="0"/>
                </a:lnTo>
                <a:lnTo>
                  <a:pt x="4572000" y="694944"/>
                </a:lnTo>
                <a:lnTo>
                  <a:pt x="0" y="694944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78105" l="0" r="0" t="-7810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74" name="Google Shape;674;p11"/>
          <p:cNvGrpSpPr/>
          <p:nvPr/>
        </p:nvGrpSpPr>
        <p:grpSpPr>
          <a:xfrm>
            <a:off x="4937760" y="7721536"/>
            <a:ext cx="3429000" cy="535496"/>
            <a:chOff x="0" y="-9525"/>
            <a:chExt cx="4572000" cy="713994"/>
          </a:xfrm>
        </p:grpSpPr>
        <p:sp>
          <p:nvSpPr>
            <p:cNvPr id="675" name="Google Shape;675;p11"/>
            <p:cNvSpPr/>
            <p:nvPr/>
          </p:nvSpPr>
          <p:spPr>
            <a:xfrm>
              <a:off x="0" y="0"/>
              <a:ext cx="4572000" cy="704469"/>
            </a:xfrm>
            <a:custGeom>
              <a:rect b="b" l="l" r="r" t="t"/>
              <a:pathLst>
                <a:path extrusionOk="0" h="704469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704469"/>
                  </a:lnTo>
                  <a:lnTo>
                    <a:pt x="0" y="704469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76454" l="0" r="0" t="-7645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11"/>
            <p:cNvSpPr txBox="1"/>
            <p:nvPr/>
          </p:nvSpPr>
          <p:spPr>
            <a:xfrm>
              <a:off x="0" y="-9525"/>
              <a:ext cx="4572000" cy="7139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50">
                  <a:solidFill>
                    <a:srgbClr val="0B2545"/>
                  </a:solidFill>
                  <a:latin typeface="Cambria"/>
                  <a:ea typeface="Cambria"/>
                  <a:cs typeface="Cambria"/>
                  <a:sym typeface="Cambria"/>
                </a:rPr>
                <a:t>&lt; 0,001</a:t>
              </a:r>
              <a:endParaRPr/>
            </a:p>
          </p:txBody>
        </p:sp>
      </p:grpSp>
      <p:sp>
        <p:nvSpPr>
          <p:cNvPr id="677" name="Google Shape;677;p11"/>
          <p:cNvSpPr/>
          <p:nvPr/>
        </p:nvSpPr>
        <p:spPr>
          <a:xfrm>
            <a:off x="11658600" y="2468880"/>
            <a:ext cx="6446520" cy="480060"/>
          </a:xfrm>
          <a:custGeom>
            <a:rect b="b" l="l" r="r" t="t"/>
            <a:pathLst>
              <a:path extrusionOk="0" h="640080" w="8595360">
                <a:moveTo>
                  <a:pt x="0" y="0"/>
                </a:moveTo>
                <a:lnTo>
                  <a:pt x="8595360" y="0"/>
                </a:lnTo>
                <a:lnTo>
                  <a:pt x="8595360" y="640080"/>
                </a:lnTo>
                <a:lnTo>
                  <a:pt x="0" y="64008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11479" l="0" r="0" t="-21147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11"/>
          <p:cNvSpPr/>
          <p:nvPr/>
        </p:nvSpPr>
        <p:spPr>
          <a:xfrm>
            <a:off x="685800" y="8314182"/>
            <a:ext cx="16596360" cy="683514"/>
          </a:xfrm>
          <a:custGeom>
            <a:rect b="b" l="l" r="r" t="t"/>
            <a:pathLst>
              <a:path extrusionOk="0" h="911352" w="22128480">
                <a:moveTo>
                  <a:pt x="0" y="0"/>
                </a:moveTo>
                <a:lnTo>
                  <a:pt x="22128480" y="0"/>
                </a:lnTo>
                <a:lnTo>
                  <a:pt x="22128480" y="911352"/>
                </a:lnTo>
                <a:lnTo>
                  <a:pt x="0" y="911352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422769" l="0" r="0" t="-42276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79" name="Google Shape;679;p11"/>
          <p:cNvGrpSpPr/>
          <p:nvPr/>
        </p:nvGrpSpPr>
        <p:grpSpPr>
          <a:xfrm>
            <a:off x="685800" y="8257032"/>
            <a:ext cx="16596360" cy="740664"/>
            <a:chOff x="0" y="-38100"/>
            <a:chExt cx="22128480" cy="987552"/>
          </a:xfrm>
        </p:grpSpPr>
        <p:sp>
          <p:nvSpPr>
            <p:cNvPr id="680" name="Google Shape;680;p11"/>
            <p:cNvSpPr/>
            <p:nvPr/>
          </p:nvSpPr>
          <p:spPr>
            <a:xfrm>
              <a:off x="0" y="0"/>
              <a:ext cx="22128480" cy="949452"/>
            </a:xfrm>
            <a:custGeom>
              <a:rect b="b" l="l" r="r" t="t"/>
              <a:pathLst>
                <a:path extrusionOk="0" h="949452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949452"/>
                  </a:lnTo>
                  <a:lnTo>
                    <a:pt x="0" y="949452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404132" l="0" r="0" t="-40413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11"/>
            <p:cNvSpPr txBox="1"/>
            <p:nvPr/>
          </p:nvSpPr>
          <p:spPr>
            <a:xfrm>
              <a:off x="0" y="-38100"/>
              <a:ext cx="22128480" cy="9875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25">
                  <a:solidFill>
                    <a:srgbClr val="0B2545"/>
                  </a:solidFill>
                  <a:latin typeface="Calibri"/>
                  <a:ea typeface="Calibri"/>
                  <a:cs typeface="Calibri"/>
                  <a:sym typeface="Calibri"/>
                </a:rPr>
                <a:t>Kesimpulan: </a:t>
              </a:r>
              <a:r>
                <a:rPr lang="en-US" sz="1725">
                  <a:solidFill>
                    <a:srgbClr val="0B2545"/>
                  </a:solidFill>
                  <a:latin typeface="Calibri"/>
                  <a:ea typeface="Calibri"/>
                  <a:cs typeface="Calibri"/>
                  <a:sym typeface="Calibri"/>
                </a:rPr>
                <a:t>Selisih return rate 13,9 poin persentase (23,3% vs 9,4%) menunjukkan efeknya juga besar secara praktis, bukan cuma signifikan secara statistik</a:t>
              </a:r>
              <a:endParaRPr/>
            </a:p>
          </p:txBody>
        </p:sp>
      </p:grpSp>
      <p:sp>
        <p:nvSpPr>
          <p:cNvPr id="682" name="Google Shape;682;p11"/>
          <p:cNvSpPr/>
          <p:nvPr/>
        </p:nvSpPr>
        <p:spPr>
          <a:xfrm>
            <a:off x="685800" y="9765792"/>
            <a:ext cx="10972800" cy="411480"/>
          </a:xfrm>
          <a:custGeom>
            <a:rect b="b" l="l" r="r" t="t"/>
            <a:pathLst>
              <a:path extrusionOk="0" h="548640" w="14630400">
                <a:moveTo>
                  <a:pt x="0" y="0"/>
                </a:moveTo>
                <a:lnTo>
                  <a:pt x="14630400" y="0"/>
                </a:lnTo>
                <a:lnTo>
                  <a:pt x="14630400" y="548640"/>
                </a:lnTo>
                <a:lnTo>
                  <a:pt x="0" y="54864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469211" l="0" r="0" t="-46921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83" name="Google Shape;683;p11"/>
          <p:cNvGrpSpPr/>
          <p:nvPr/>
        </p:nvGrpSpPr>
        <p:grpSpPr>
          <a:xfrm>
            <a:off x="685800" y="9722930"/>
            <a:ext cx="10972800" cy="454342"/>
            <a:chOff x="0" y="-28575"/>
            <a:chExt cx="14630400" cy="605790"/>
          </a:xfrm>
        </p:grpSpPr>
        <p:sp>
          <p:nvSpPr>
            <p:cNvPr id="684" name="Google Shape;684;p11"/>
            <p:cNvSpPr/>
            <p:nvPr/>
          </p:nvSpPr>
          <p:spPr>
            <a:xfrm>
              <a:off x="0" y="0"/>
              <a:ext cx="14630400" cy="577215"/>
            </a:xfrm>
            <a:custGeom>
              <a:rect b="b" l="l" r="r" t="t"/>
              <a:pathLst>
                <a:path extrusionOk="0" h="577215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77215"/>
                  </a:lnTo>
                  <a:lnTo>
                    <a:pt x="0" y="57721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443876" l="0" r="0" t="-44387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11"/>
            <p:cNvSpPr txBox="1"/>
            <p:nvPr/>
          </p:nvSpPr>
          <p:spPr>
            <a:xfrm>
              <a:off x="0" y="-28575"/>
              <a:ext cx="14630400" cy="6057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5B7387"/>
                  </a:solidFill>
                  <a:latin typeface="Calibri"/>
                  <a:ea typeface="Calibri"/>
                  <a:cs typeface="Calibri"/>
                  <a:sym typeface="Calibri"/>
                </a:rPr>
                <a:t>E-Commerce Delivery Performance &amp; Revenue Risk</a:t>
              </a:r>
              <a:endParaRPr/>
            </a:p>
          </p:txBody>
        </p:sp>
      </p:grpSp>
      <p:sp>
        <p:nvSpPr>
          <p:cNvPr id="686" name="Google Shape;686;p11"/>
          <p:cNvSpPr/>
          <p:nvPr/>
        </p:nvSpPr>
        <p:spPr>
          <a:xfrm>
            <a:off x="17186148" y="9765792"/>
            <a:ext cx="548640" cy="411480"/>
          </a:xfrm>
          <a:custGeom>
            <a:rect b="b" l="l" r="r" t="t"/>
            <a:pathLst>
              <a:path extrusionOk="0" h="548640" w="731520">
                <a:moveTo>
                  <a:pt x="0" y="0"/>
                </a:moveTo>
                <a:lnTo>
                  <a:pt x="731520" y="0"/>
                </a:lnTo>
                <a:lnTo>
                  <a:pt x="731520" y="548640"/>
                </a:lnTo>
                <a:lnTo>
                  <a:pt x="0" y="54864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0" l="-46294" r="-46292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11"/>
          <p:cNvSpPr/>
          <p:nvPr/>
        </p:nvSpPr>
        <p:spPr>
          <a:xfrm>
            <a:off x="10032753" y="1529388"/>
            <a:ext cx="7702035" cy="4885291"/>
          </a:xfrm>
          <a:custGeom>
            <a:rect b="b" l="l" r="r" t="t"/>
            <a:pathLst>
              <a:path extrusionOk="0" h="4885291" w="7702035">
                <a:moveTo>
                  <a:pt x="0" y="0"/>
                </a:moveTo>
                <a:lnTo>
                  <a:pt x="7702035" y="0"/>
                </a:lnTo>
                <a:lnTo>
                  <a:pt x="7702035" y="4885291"/>
                </a:lnTo>
                <a:lnTo>
                  <a:pt x="0" y="48852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B"/>
        </a:solidFill>
      </p:bgPr>
    </p:bg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2" name="Google Shape;692;p12"/>
          <p:cNvGrpSpPr/>
          <p:nvPr/>
        </p:nvGrpSpPr>
        <p:grpSpPr>
          <a:xfrm>
            <a:off x="822960" y="588645"/>
            <a:ext cx="10972800" cy="508635"/>
            <a:chOff x="0" y="-38100"/>
            <a:chExt cx="14630400" cy="678180"/>
          </a:xfrm>
        </p:grpSpPr>
        <p:sp>
          <p:nvSpPr>
            <p:cNvPr id="693" name="Google Shape;693;p12"/>
            <p:cNvSpPr/>
            <p:nvPr/>
          </p:nvSpPr>
          <p:spPr>
            <a:xfrm>
              <a:off x="0" y="0"/>
              <a:ext cx="14630400" cy="640080"/>
            </a:xfrm>
            <a:custGeom>
              <a:rect b="b" l="l" r="r" t="t"/>
              <a:pathLst>
                <a:path extrusionOk="0"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95395" l="0" r="0" t="-39539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4" name="Google Shape;694;p12"/>
            <p:cNvSpPr txBox="1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pc="300" sz="1800">
                  <a:solidFill>
                    <a:srgbClr val="1C7293"/>
                  </a:solidFill>
                  <a:latin typeface="Calibri"/>
                  <a:ea typeface="Calibri"/>
                  <a:cs typeface="Calibri"/>
                  <a:sym typeface="Calibri"/>
                </a:rPr>
                <a:t>Q2· RISIKO RETUR &amp; PENDAPATAN</a:t>
              </a:r>
              <a:endParaRPr/>
            </a:p>
          </p:txBody>
        </p:sp>
      </p:grpSp>
      <p:grpSp>
        <p:nvGrpSpPr>
          <p:cNvPr id="695" name="Google Shape;695;p12"/>
          <p:cNvGrpSpPr/>
          <p:nvPr/>
        </p:nvGrpSpPr>
        <p:grpSpPr>
          <a:xfrm>
            <a:off x="813435" y="610076"/>
            <a:ext cx="16537305" cy="2499399"/>
            <a:chOff x="0" y="-9525"/>
            <a:chExt cx="22049740" cy="3332531"/>
          </a:xfrm>
        </p:grpSpPr>
        <p:sp>
          <p:nvSpPr>
            <p:cNvPr id="696" name="Google Shape;696;p12"/>
            <p:cNvSpPr/>
            <p:nvPr/>
          </p:nvSpPr>
          <p:spPr>
            <a:xfrm>
              <a:off x="0" y="0"/>
              <a:ext cx="22049739" cy="3323006"/>
            </a:xfrm>
            <a:custGeom>
              <a:rect b="b" l="l" r="r" t="t"/>
              <a:pathLst>
                <a:path extrusionOk="0" h="3323006" w="22049739">
                  <a:moveTo>
                    <a:pt x="0" y="0"/>
                  </a:moveTo>
                  <a:lnTo>
                    <a:pt x="22049739" y="0"/>
                  </a:lnTo>
                  <a:lnTo>
                    <a:pt x="22049739" y="3323006"/>
                  </a:lnTo>
                  <a:lnTo>
                    <a:pt x="0" y="332300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8552" l="0" r="2131" t="-10452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12"/>
            <p:cNvSpPr txBox="1"/>
            <p:nvPr/>
          </p:nvSpPr>
          <p:spPr>
            <a:xfrm>
              <a:off x="0" y="-9525"/>
              <a:ext cx="22049740" cy="3332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400">
                  <a:solidFill>
                    <a:srgbClr val="0B2545"/>
                  </a:solidFill>
                  <a:latin typeface="Cambria"/>
                  <a:ea typeface="Cambria"/>
                  <a:cs typeface="Cambria"/>
                  <a:sym typeface="Cambria"/>
                </a:rPr>
                <a:t>Keterlambatan Menekan Rating, Rating Berpotensi Menekan Pendapatan</a:t>
              </a:r>
              <a:endParaRPr/>
            </a:p>
          </p:txBody>
        </p:sp>
      </p:grpSp>
      <p:sp>
        <p:nvSpPr>
          <p:cNvPr id="698" name="Google Shape;698;p12"/>
          <p:cNvSpPr/>
          <p:nvPr/>
        </p:nvSpPr>
        <p:spPr>
          <a:xfrm>
            <a:off x="813435" y="2527935"/>
            <a:ext cx="5299710" cy="2282190"/>
          </a:xfrm>
          <a:custGeom>
            <a:rect b="b" l="l" r="r" t="t"/>
            <a:pathLst>
              <a:path extrusionOk="0" h="3042920" w="7066280">
                <a:moveTo>
                  <a:pt x="0" y="147574"/>
                </a:moveTo>
                <a:cubicBezTo>
                  <a:pt x="0" y="66040"/>
                  <a:pt x="66040" y="0"/>
                  <a:pt x="147574" y="0"/>
                </a:cubicBezTo>
                <a:lnTo>
                  <a:pt x="6918706" y="0"/>
                </a:lnTo>
                <a:cubicBezTo>
                  <a:pt x="7000240" y="0"/>
                  <a:pt x="7066280" y="66040"/>
                  <a:pt x="7066280" y="147574"/>
                </a:cubicBezTo>
                <a:lnTo>
                  <a:pt x="7066280" y="2895346"/>
                </a:lnTo>
                <a:cubicBezTo>
                  <a:pt x="7066280" y="2976880"/>
                  <a:pt x="7000240" y="3042920"/>
                  <a:pt x="6918706" y="3042920"/>
                </a:cubicBezTo>
                <a:lnTo>
                  <a:pt x="147574" y="3042920"/>
                </a:lnTo>
                <a:cubicBezTo>
                  <a:pt x="66040" y="3042920"/>
                  <a:pt x="0" y="2976880"/>
                  <a:pt x="0" y="2895346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E3EA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12"/>
          <p:cNvSpPr/>
          <p:nvPr/>
        </p:nvSpPr>
        <p:spPr>
          <a:xfrm>
            <a:off x="6436995" y="2527935"/>
            <a:ext cx="5299710" cy="2282190"/>
          </a:xfrm>
          <a:custGeom>
            <a:rect b="b" l="l" r="r" t="t"/>
            <a:pathLst>
              <a:path extrusionOk="0" h="3042920" w="7066280">
                <a:moveTo>
                  <a:pt x="0" y="147574"/>
                </a:moveTo>
                <a:cubicBezTo>
                  <a:pt x="0" y="66040"/>
                  <a:pt x="66040" y="0"/>
                  <a:pt x="147574" y="0"/>
                </a:cubicBezTo>
                <a:lnTo>
                  <a:pt x="6918706" y="0"/>
                </a:lnTo>
                <a:cubicBezTo>
                  <a:pt x="7000240" y="0"/>
                  <a:pt x="7066280" y="66040"/>
                  <a:pt x="7066280" y="147574"/>
                </a:cubicBezTo>
                <a:lnTo>
                  <a:pt x="7066280" y="2895346"/>
                </a:lnTo>
                <a:cubicBezTo>
                  <a:pt x="7066280" y="2976880"/>
                  <a:pt x="7000240" y="3042920"/>
                  <a:pt x="6918706" y="3042920"/>
                </a:cubicBezTo>
                <a:lnTo>
                  <a:pt x="147574" y="3042920"/>
                </a:lnTo>
                <a:cubicBezTo>
                  <a:pt x="66040" y="3042920"/>
                  <a:pt x="0" y="2976880"/>
                  <a:pt x="0" y="2895346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E3EA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12"/>
          <p:cNvSpPr/>
          <p:nvPr/>
        </p:nvSpPr>
        <p:spPr>
          <a:xfrm>
            <a:off x="12060555" y="2527935"/>
            <a:ext cx="5299710" cy="2282190"/>
          </a:xfrm>
          <a:custGeom>
            <a:rect b="b" l="l" r="r" t="t"/>
            <a:pathLst>
              <a:path extrusionOk="0" h="3042920" w="7066280">
                <a:moveTo>
                  <a:pt x="0" y="147574"/>
                </a:moveTo>
                <a:cubicBezTo>
                  <a:pt x="0" y="66040"/>
                  <a:pt x="66040" y="0"/>
                  <a:pt x="147574" y="0"/>
                </a:cubicBezTo>
                <a:lnTo>
                  <a:pt x="6918706" y="0"/>
                </a:lnTo>
                <a:cubicBezTo>
                  <a:pt x="7000240" y="0"/>
                  <a:pt x="7066280" y="66040"/>
                  <a:pt x="7066280" y="147574"/>
                </a:cubicBezTo>
                <a:lnTo>
                  <a:pt x="7066280" y="2895346"/>
                </a:lnTo>
                <a:cubicBezTo>
                  <a:pt x="7066280" y="2976880"/>
                  <a:pt x="7000240" y="3042920"/>
                  <a:pt x="6918706" y="3042920"/>
                </a:cubicBezTo>
                <a:lnTo>
                  <a:pt x="147574" y="3042920"/>
                </a:lnTo>
                <a:cubicBezTo>
                  <a:pt x="66040" y="3042920"/>
                  <a:pt x="0" y="2976880"/>
                  <a:pt x="0" y="2895346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E3EA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1" name="Google Shape;701;p12"/>
          <p:cNvGrpSpPr/>
          <p:nvPr/>
        </p:nvGrpSpPr>
        <p:grpSpPr>
          <a:xfrm>
            <a:off x="12234672" y="2694908"/>
            <a:ext cx="4951476" cy="2422159"/>
            <a:chOff x="0" y="-9525"/>
            <a:chExt cx="6601968" cy="3229546"/>
          </a:xfrm>
        </p:grpSpPr>
        <p:sp>
          <p:nvSpPr>
            <p:cNvPr id="702" name="Google Shape;702;p12"/>
            <p:cNvSpPr/>
            <p:nvPr/>
          </p:nvSpPr>
          <p:spPr>
            <a:xfrm>
              <a:off x="0" y="0"/>
              <a:ext cx="6601968" cy="3220021"/>
            </a:xfrm>
            <a:custGeom>
              <a:rect b="b" l="l" r="r" t="t"/>
              <a:pathLst>
                <a:path extrusionOk="0" h="3220021" w="6601968">
                  <a:moveTo>
                    <a:pt x="0" y="0"/>
                  </a:moveTo>
                  <a:lnTo>
                    <a:pt x="6601968" y="0"/>
                  </a:lnTo>
                  <a:lnTo>
                    <a:pt x="6601968" y="3220021"/>
                  </a:lnTo>
                  <a:lnTo>
                    <a:pt x="0" y="322002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34279" l="0" r="0" t="-1417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12"/>
            <p:cNvSpPr txBox="1"/>
            <p:nvPr/>
          </p:nvSpPr>
          <p:spPr>
            <a:xfrm>
              <a:off x="0" y="-9525"/>
              <a:ext cx="6601968" cy="32295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2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4" name="Google Shape;704;p12"/>
          <p:cNvGrpSpPr/>
          <p:nvPr/>
        </p:nvGrpSpPr>
        <p:grpSpPr>
          <a:xfrm>
            <a:off x="822960" y="5088492"/>
            <a:ext cx="9464040" cy="440055"/>
            <a:chOff x="0" y="-38100"/>
            <a:chExt cx="12618720" cy="586740"/>
          </a:xfrm>
        </p:grpSpPr>
        <p:sp>
          <p:nvSpPr>
            <p:cNvPr id="705" name="Google Shape;705;p12"/>
            <p:cNvSpPr/>
            <p:nvPr/>
          </p:nvSpPr>
          <p:spPr>
            <a:xfrm>
              <a:off x="0" y="0"/>
              <a:ext cx="12618720" cy="548640"/>
            </a:xfrm>
            <a:custGeom>
              <a:rect b="b" l="l" r="r" t="t"/>
              <a:pathLst>
                <a:path extrusionOk="0" h="548640" w="12618720">
                  <a:moveTo>
                    <a:pt x="0" y="0"/>
                  </a:moveTo>
                  <a:lnTo>
                    <a:pt x="12618720" y="0"/>
                  </a:lnTo>
                  <a:lnTo>
                    <a:pt x="1261872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98189" l="0" r="0" t="-39818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6" name="Google Shape;706;p12"/>
            <p:cNvSpPr txBox="1"/>
            <p:nvPr/>
          </p:nvSpPr>
          <p:spPr>
            <a:xfrm>
              <a:off x="0" y="-38100"/>
              <a:ext cx="126187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75">
                  <a:solidFill>
                    <a:srgbClr val="0B2545"/>
                  </a:solidFill>
                  <a:latin typeface="Calibri"/>
                  <a:ea typeface="Calibri"/>
                  <a:cs typeface="Calibri"/>
                  <a:sym typeface="Calibri"/>
                </a:rPr>
                <a:t>Return Rate: Pesanan Tepat Waktu vs Terlambat</a:t>
              </a:r>
              <a:endParaRPr/>
            </a:p>
          </p:txBody>
        </p:sp>
      </p:grpSp>
      <p:grpSp>
        <p:nvGrpSpPr>
          <p:cNvPr id="707" name="Google Shape;707;p12"/>
          <p:cNvGrpSpPr/>
          <p:nvPr/>
        </p:nvGrpSpPr>
        <p:grpSpPr>
          <a:xfrm>
            <a:off x="11457655" y="5473184"/>
            <a:ext cx="5902610" cy="3566160"/>
            <a:chOff x="0" y="0"/>
            <a:chExt cx="7870146" cy="4754880"/>
          </a:xfrm>
        </p:grpSpPr>
        <p:sp>
          <p:nvSpPr>
            <p:cNvPr id="708" name="Google Shape;708;p12"/>
            <p:cNvSpPr/>
            <p:nvPr/>
          </p:nvSpPr>
          <p:spPr>
            <a:xfrm>
              <a:off x="0" y="0"/>
              <a:ext cx="7870146" cy="4754880"/>
            </a:xfrm>
            <a:custGeom>
              <a:rect b="b" l="l" r="r" t="t"/>
              <a:pathLst>
                <a:path extrusionOk="0" h="5303520" w="87782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631936" y="0"/>
                  </a:lnTo>
                  <a:cubicBezTo>
                    <a:pt x="8712708" y="0"/>
                    <a:pt x="8778240" y="65532"/>
                    <a:pt x="8778240" y="146304"/>
                  </a:cubicBezTo>
                  <a:lnTo>
                    <a:pt x="8778240" y="5157216"/>
                  </a:lnTo>
                  <a:cubicBezTo>
                    <a:pt x="8778240" y="5237988"/>
                    <a:pt x="8712708" y="5303520"/>
                    <a:pt x="8631936" y="5303520"/>
                  </a:cubicBezTo>
                  <a:lnTo>
                    <a:pt x="146304" y="5303520"/>
                  </a:lnTo>
                  <a:cubicBezTo>
                    <a:pt x="65532" y="5303520"/>
                    <a:pt x="0" y="5237988"/>
                    <a:pt x="0" y="5157216"/>
                  </a:cubicBezTo>
                  <a:close/>
                </a:path>
              </a:pathLst>
            </a:custGeom>
            <a:solidFill>
              <a:srgbClr val="0B254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09" name="Google Shape;709;p12"/>
            <p:cNvGrpSpPr/>
            <p:nvPr/>
          </p:nvGrpSpPr>
          <p:grpSpPr>
            <a:xfrm>
              <a:off x="409903" y="211783"/>
              <a:ext cx="7050339" cy="608024"/>
              <a:chOff x="0" y="-38100"/>
              <a:chExt cx="7863840" cy="678180"/>
            </a:xfrm>
          </p:grpSpPr>
          <p:sp>
            <p:nvSpPr>
              <p:cNvPr id="710" name="Google Shape;710;p12"/>
              <p:cNvSpPr/>
              <p:nvPr/>
            </p:nvSpPr>
            <p:spPr>
              <a:xfrm>
                <a:off x="0" y="0"/>
                <a:ext cx="7863840" cy="640080"/>
              </a:xfrm>
              <a:custGeom>
                <a:rect b="b" l="l" r="r" t="t"/>
                <a:pathLst>
                  <a:path extrusionOk="0" h="640080" w="7863840">
                    <a:moveTo>
                      <a:pt x="0" y="0"/>
                    </a:moveTo>
                    <a:lnTo>
                      <a:pt x="7863840" y="0"/>
                    </a:lnTo>
                    <a:lnTo>
                      <a:pt x="786384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189395" l="0" r="0" t="-189395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1" name="Google Shape;711;p12"/>
              <p:cNvSpPr txBox="1"/>
              <p:nvPr/>
            </p:nvSpPr>
            <p:spPr>
              <a:xfrm>
                <a:off x="0" y="-38100"/>
                <a:ext cx="7863840" cy="678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75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Konsentrasi Nilai Pesanan</a:t>
                </a:r>
                <a:endParaRPr/>
              </a:p>
            </p:txBody>
          </p:sp>
        </p:grpSp>
        <p:grpSp>
          <p:nvGrpSpPr>
            <p:cNvPr id="712" name="Google Shape;712;p12"/>
            <p:cNvGrpSpPr/>
            <p:nvPr/>
          </p:nvGrpSpPr>
          <p:grpSpPr>
            <a:xfrm>
              <a:off x="409903" y="855673"/>
              <a:ext cx="7050339" cy="1931670"/>
              <a:chOff x="0" y="-142875"/>
              <a:chExt cx="7863840" cy="2154555"/>
            </a:xfrm>
          </p:grpSpPr>
          <p:sp>
            <p:nvSpPr>
              <p:cNvPr id="713" name="Google Shape;713;p12"/>
              <p:cNvSpPr/>
              <p:nvPr/>
            </p:nvSpPr>
            <p:spPr>
              <a:xfrm>
                <a:off x="0" y="0"/>
                <a:ext cx="7863840" cy="2011680"/>
              </a:xfrm>
              <a:custGeom>
                <a:rect b="b" l="l" r="r" t="t"/>
                <a:pathLst>
                  <a:path extrusionOk="0" h="2011680" w="7863840">
                    <a:moveTo>
                      <a:pt x="0" y="0"/>
                    </a:moveTo>
                    <a:lnTo>
                      <a:pt x="7863840" y="0"/>
                    </a:lnTo>
                    <a:lnTo>
                      <a:pt x="7863840" y="2011680"/>
                    </a:lnTo>
                    <a:lnTo>
                      <a:pt x="0" y="2011680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26168" l="0" r="0" t="-26168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" name="Google Shape;714;p12"/>
              <p:cNvSpPr txBox="1"/>
              <p:nvPr/>
            </p:nvSpPr>
            <p:spPr>
              <a:xfrm>
                <a:off x="0" y="-142875"/>
                <a:ext cx="7863840" cy="21545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83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E1A83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9,3%</a:t>
                </a:r>
                <a:r>
                  <a:rPr lang="en-US" sz="1800">
                    <a:solidFill>
                      <a:srgbClr val="CFE2F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pesanan bernilai tinggi (&gt;$500) menyumbang </a:t>
                </a:r>
                <a:r>
                  <a:rPr b="1" lang="en-US" sz="1800">
                    <a:solidFill>
                      <a:srgbClr val="E1A83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49,3%</a:t>
                </a:r>
                <a:r>
                  <a:rPr lang="en-US" sz="1800">
                    <a:solidFill>
                      <a:srgbClr val="CFE2F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dari total pendapatan.</a:t>
                </a:r>
                <a:endParaRPr/>
              </a:p>
            </p:txBody>
          </p:sp>
        </p:grpSp>
        <p:grpSp>
          <p:nvGrpSpPr>
            <p:cNvPr id="715" name="Google Shape;715;p12"/>
            <p:cNvGrpSpPr/>
            <p:nvPr/>
          </p:nvGrpSpPr>
          <p:grpSpPr>
            <a:xfrm>
              <a:off x="409903" y="2917146"/>
              <a:ext cx="7050339" cy="1673773"/>
              <a:chOff x="0" y="-38100"/>
              <a:chExt cx="7863840" cy="1866900"/>
            </a:xfrm>
          </p:grpSpPr>
          <p:sp>
            <p:nvSpPr>
              <p:cNvPr id="716" name="Google Shape;716;p12"/>
              <p:cNvSpPr/>
              <p:nvPr/>
            </p:nvSpPr>
            <p:spPr>
              <a:xfrm>
                <a:off x="0" y="0"/>
                <a:ext cx="7863840" cy="1828800"/>
              </a:xfrm>
              <a:custGeom>
                <a:rect b="b" l="l" r="r" t="t"/>
                <a:pathLst>
                  <a:path extrusionOk="0" h="1828800" w="7863840">
                    <a:moveTo>
                      <a:pt x="0" y="0"/>
                    </a:moveTo>
                    <a:lnTo>
                      <a:pt x="7863840" y="0"/>
                    </a:lnTo>
                    <a:lnTo>
                      <a:pt x="7863840" y="1828800"/>
                    </a:lnTo>
                    <a:lnTo>
                      <a:pt x="0" y="1828800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3786" l="0" r="0" t="-33786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7" name="Google Shape;717;p12"/>
              <p:cNvSpPr txBox="1"/>
              <p:nvPr/>
            </p:nvSpPr>
            <p:spPr>
              <a:xfrm>
                <a:off x="0" y="-38100"/>
                <a:ext cx="7863840" cy="18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3326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US" sz="1575">
                    <a:solidFill>
                      <a:srgbClr val="CFE2F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Artinya setiap keterlambatan pada segmen ini berdampak tidak proporsional besar terhadap total pendapatan yang berisiko hilang lewat retur.</a:t>
                </a:r>
                <a:endParaRPr/>
              </a:p>
            </p:txBody>
          </p:sp>
        </p:grpSp>
      </p:grpSp>
      <p:grpSp>
        <p:nvGrpSpPr>
          <p:cNvPr id="718" name="Google Shape;718;p12"/>
          <p:cNvGrpSpPr/>
          <p:nvPr/>
        </p:nvGrpSpPr>
        <p:grpSpPr>
          <a:xfrm>
            <a:off x="685800" y="9374029"/>
            <a:ext cx="16870680" cy="432911"/>
            <a:chOff x="0" y="-28575"/>
            <a:chExt cx="22494240" cy="577215"/>
          </a:xfrm>
        </p:grpSpPr>
        <p:sp>
          <p:nvSpPr>
            <p:cNvPr id="719" name="Google Shape;719;p12"/>
            <p:cNvSpPr/>
            <p:nvPr/>
          </p:nvSpPr>
          <p:spPr>
            <a:xfrm>
              <a:off x="0" y="0"/>
              <a:ext cx="22494239" cy="548640"/>
            </a:xfrm>
            <a:custGeom>
              <a:rect b="b" l="l" r="r" t="t"/>
              <a:pathLst>
                <a:path extrusionOk="0" h="54864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48976" l="0" r="0" t="-74897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" name="Google Shape;720;p12"/>
            <p:cNvSpPr txBox="1"/>
            <p:nvPr/>
          </p:nvSpPr>
          <p:spPr>
            <a:xfrm>
              <a:off x="0" y="-28575"/>
              <a:ext cx="22494240" cy="577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B2545"/>
                  </a:solidFill>
                  <a:latin typeface="Calibri"/>
                  <a:ea typeface="Calibri"/>
                  <a:cs typeface="Calibri"/>
                  <a:sym typeface="Calibri"/>
                </a:rPr>
                <a:t>Insight: </a:t>
              </a:r>
              <a:r>
                <a:rPr lang="en-US" sz="1650">
                  <a:solidFill>
                    <a:srgbClr val="13293D"/>
                  </a:solidFill>
                  <a:latin typeface="Calibri"/>
                  <a:ea typeface="Calibri"/>
                  <a:cs typeface="Calibri"/>
                  <a:sym typeface="Calibri"/>
                </a:rPr>
                <a:t>Pesanan terlambat beretur ~2,5x lebih sering (23,3% vs 9,4%) — hubungan ini signifikan secara statistik (χ², p&lt;0,001), bukan kebetulan.</a:t>
              </a:r>
              <a:endParaRPr/>
            </a:p>
          </p:txBody>
        </p:sp>
      </p:grpSp>
      <p:grpSp>
        <p:nvGrpSpPr>
          <p:cNvPr id="721" name="Google Shape;721;p12"/>
          <p:cNvGrpSpPr/>
          <p:nvPr/>
        </p:nvGrpSpPr>
        <p:grpSpPr>
          <a:xfrm>
            <a:off x="685800" y="9744361"/>
            <a:ext cx="10972800" cy="432911"/>
            <a:chOff x="0" y="-28575"/>
            <a:chExt cx="14630400" cy="577215"/>
          </a:xfrm>
        </p:grpSpPr>
        <p:sp>
          <p:nvSpPr>
            <p:cNvPr id="722" name="Google Shape;722;p12"/>
            <p:cNvSpPr/>
            <p:nvPr/>
          </p:nvSpPr>
          <p:spPr>
            <a:xfrm>
              <a:off x="0" y="0"/>
              <a:ext cx="14630400" cy="548640"/>
            </a:xfrm>
            <a:custGeom>
              <a:rect b="b" l="l" r="r" t="t"/>
              <a:pathLst>
                <a:path extrusionOk="0"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69642" l="0" r="0" t="-46964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3" name="Google Shape;723;p12"/>
            <p:cNvSpPr txBox="1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5B7387"/>
                  </a:solidFill>
                  <a:latin typeface="Calibri"/>
                  <a:ea typeface="Calibri"/>
                  <a:cs typeface="Calibri"/>
                  <a:sym typeface="Calibri"/>
                </a:rPr>
                <a:t>E-Commerce Delivery Performance &amp; Revenue Risk</a:t>
              </a:r>
              <a:endParaRPr/>
            </a:p>
          </p:txBody>
        </p:sp>
      </p:grpSp>
      <p:sp>
        <p:nvSpPr>
          <p:cNvPr id="724" name="Google Shape;724;p12"/>
          <p:cNvSpPr/>
          <p:nvPr/>
        </p:nvSpPr>
        <p:spPr>
          <a:xfrm>
            <a:off x="685800" y="5534089"/>
            <a:ext cx="10585587" cy="3505255"/>
          </a:xfrm>
          <a:custGeom>
            <a:rect b="b" l="l" r="r" t="t"/>
            <a:pathLst>
              <a:path extrusionOk="0" h="3505255" w="10585587">
                <a:moveTo>
                  <a:pt x="0" y="0"/>
                </a:moveTo>
                <a:lnTo>
                  <a:pt x="10585587" y="0"/>
                </a:lnTo>
                <a:lnTo>
                  <a:pt x="10585587" y="3505255"/>
                </a:lnTo>
                <a:lnTo>
                  <a:pt x="0" y="35052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359" t="-1012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12"/>
          <p:cNvSpPr txBox="1"/>
          <p:nvPr/>
        </p:nvSpPr>
        <p:spPr>
          <a:xfrm>
            <a:off x="1078992" y="4251198"/>
            <a:ext cx="4768596" cy="421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5B7387"/>
                </a:solidFill>
                <a:latin typeface="Calibri"/>
                <a:ea typeface="Calibri"/>
                <a:cs typeface="Calibri"/>
                <a:sym typeface="Calibri"/>
              </a:rPr>
              <a:t>Return Rate keseluruhan</a:t>
            </a:r>
            <a:endParaRPr/>
          </a:p>
        </p:txBody>
      </p:sp>
      <p:sp>
        <p:nvSpPr>
          <p:cNvPr id="726" name="Google Shape;726;p12"/>
          <p:cNvSpPr txBox="1"/>
          <p:nvPr/>
        </p:nvSpPr>
        <p:spPr>
          <a:xfrm>
            <a:off x="6702552" y="4251198"/>
            <a:ext cx="4768596" cy="421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5B7387"/>
                </a:solidFill>
                <a:latin typeface="Calibri"/>
                <a:ea typeface="Calibri"/>
                <a:cs typeface="Calibri"/>
                <a:sym typeface="Calibri"/>
              </a:rPr>
              <a:t>Nilai retur akibat keterlambatan</a:t>
            </a:r>
            <a:endParaRPr/>
          </a:p>
        </p:txBody>
      </p:sp>
      <p:sp>
        <p:nvSpPr>
          <p:cNvPr id="727" name="Google Shape;727;p12"/>
          <p:cNvSpPr txBox="1"/>
          <p:nvPr/>
        </p:nvSpPr>
        <p:spPr>
          <a:xfrm>
            <a:off x="12326112" y="4251198"/>
            <a:ext cx="4768596" cy="421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5B7387"/>
                </a:solidFill>
                <a:latin typeface="Calibri"/>
                <a:ea typeface="Calibri"/>
                <a:cs typeface="Calibri"/>
                <a:sym typeface="Calibri"/>
              </a:rPr>
              <a:t>Uji Chi-Square, p &lt; 0,001 (signifikan)</a:t>
            </a:r>
            <a:endParaRPr/>
          </a:p>
        </p:txBody>
      </p:sp>
      <p:sp>
        <p:nvSpPr>
          <p:cNvPr id="728" name="Google Shape;728;p12"/>
          <p:cNvSpPr txBox="1"/>
          <p:nvPr/>
        </p:nvSpPr>
        <p:spPr>
          <a:xfrm>
            <a:off x="1078992" y="3248216"/>
            <a:ext cx="1771650" cy="662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00">
                <a:solidFill>
                  <a:srgbClr val="B23A3A"/>
                </a:solidFill>
                <a:latin typeface="Cambria"/>
                <a:ea typeface="Cambria"/>
                <a:cs typeface="Cambria"/>
                <a:sym typeface="Cambria"/>
              </a:rPr>
              <a:t>17,25%</a:t>
            </a:r>
            <a:endParaRPr/>
          </a:p>
        </p:txBody>
      </p:sp>
      <p:sp>
        <p:nvSpPr>
          <p:cNvPr id="729" name="Google Shape;729;p12"/>
          <p:cNvSpPr txBox="1"/>
          <p:nvPr/>
        </p:nvSpPr>
        <p:spPr>
          <a:xfrm>
            <a:off x="6860373" y="3248223"/>
            <a:ext cx="2976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00" u="none" strike="noStrike">
                <a:solidFill>
                  <a:srgbClr val="D64545"/>
                </a:solidFill>
                <a:latin typeface="Cambria"/>
                <a:ea typeface="Cambria"/>
                <a:cs typeface="Cambria"/>
                <a:sym typeface="Cambria"/>
              </a:rPr>
              <a:t>$1,17 Juta</a:t>
            </a:r>
            <a:endParaRPr/>
          </a:p>
        </p:txBody>
      </p:sp>
      <p:sp>
        <p:nvSpPr>
          <p:cNvPr id="730" name="Google Shape;730;p12"/>
          <p:cNvSpPr txBox="1"/>
          <p:nvPr/>
        </p:nvSpPr>
        <p:spPr>
          <a:xfrm>
            <a:off x="12438248" y="3248216"/>
            <a:ext cx="4173352" cy="662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00">
                <a:solidFill>
                  <a:srgbClr val="242424"/>
                </a:solidFill>
                <a:latin typeface="Cambria"/>
                <a:ea typeface="Cambria"/>
                <a:cs typeface="Cambria"/>
                <a:sym typeface="Cambria"/>
              </a:rPr>
              <a:t>χ² = </a:t>
            </a:r>
            <a:r>
              <a:rPr b="1" lang="en-US" sz="3900" u="none" strike="noStrike">
                <a:solidFill>
                  <a:srgbClr val="242424"/>
                </a:solidFill>
                <a:latin typeface="Cambria"/>
                <a:ea typeface="Cambria"/>
                <a:cs typeface="Cambria"/>
                <a:sym typeface="Cambria"/>
              </a:rPr>
              <a:t>1.676,3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B"/>
        </a:solidFill>
      </p:bgPr>
    </p:bg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5" name="Google Shape;735;p13"/>
          <p:cNvGrpSpPr/>
          <p:nvPr/>
        </p:nvGrpSpPr>
        <p:grpSpPr>
          <a:xfrm>
            <a:off x="822960" y="588645"/>
            <a:ext cx="10972800" cy="508635"/>
            <a:chOff x="0" y="-38100"/>
            <a:chExt cx="14630400" cy="678180"/>
          </a:xfrm>
        </p:grpSpPr>
        <p:sp>
          <p:nvSpPr>
            <p:cNvPr id="736" name="Google Shape;736;p13"/>
            <p:cNvSpPr/>
            <p:nvPr/>
          </p:nvSpPr>
          <p:spPr>
            <a:xfrm>
              <a:off x="0" y="0"/>
              <a:ext cx="14630400" cy="640080"/>
            </a:xfrm>
            <a:custGeom>
              <a:rect b="b" l="l" r="r" t="t"/>
              <a:pathLst>
                <a:path extrusionOk="0"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95395" l="0" r="0" t="-39539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7" name="Google Shape;737;p13"/>
            <p:cNvSpPr txBox="1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pc="300" sz="1800">
                  <a:solidFill>
                    <a:srgbClr val="1C7293"/>
                  </a:solidFill>
                  <a:latin typeface="Calibri"/>
                  <a:ea typeface="Calibri"/>
                  <a:cs typeface="Calibri"/>
                  <a:sym typeface="Calibri"/>
                </a:rPr>
                <a:t>Q3 · KONDISI CUACA</a:t>
              </a:r>
              <a:endParaRPr/>
            </a:p>
          </p:txBody>
        </p:sp>
      </p:grpSp>
      <p:grpSp>
        <p:nvGrpSpPr>
          <p:cNvPr id="738" name="Google Shape;738;p13"/>
          <p:cNvGrpSpPr/>
          <p:nvPr/>
        </p:nvGrpSpPr>
        <p:grpSpPr>
          <a:xfrm>
            <a:off x="822960" y="1055561"/>
            <a:ext cx="16184880" cy="1111568"/>
            <a:chOff x="0" y="-19050"/>
            <a:chExt cx="21579840" cy="1482090"/>
          </a:xfrm>
        </p:grpSpPr>
        <p:sp>
          <p:nvSpPr>
            <p:cNvPr id="739" name="Google Shape;739;p13"/>
            <p:cNvSpPr/>
            <p:nvPr/>
          </p:nvSpPr>
          <p:spPr>
            <a:xfrm>
              <a:off x="0" y="0"/>
              <a:ext cx="21579839" cy="1463040"/>
            </a:xfrm>
            <a:custGeom>
              <a:rect b="b" l="l" r="r" t="t"/>
              <a:pathLst>
                <a:path extrusionOk="0" h="146304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37389" l="0" r="0" t="-23738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0" name="Google Shape;740;p13"/>
            <p:cNvSpPr txBox="1"/>
            <p:nvPr/>
          </p:nvSpPr>
          <p:spPr>
            <a:xfrm>
              <a:off x="0" y="-19050"/>
              <a:ext cx="21579840" cy="1482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00">
                  <a:solidFill>
                    <a:srgbClr val="0B2545"/>
                  </a:solidFill>
                  <a:latin typeface="Cambria"/>
                  <a:ea typeface="Cambria"/>
                  <a:cs typeface="Cambria"/>
                  <a:sym typeface="Cambria"/>
                </a:rPr>
                <a:t>Cuaca Ekstrem Melipatgandakan Risiko Keterlambatan</a:t>
              </a:r>
              <a:endParaRPr/>
            </a:p>
          </p:txBody>
        </p:sp>
      </p:grpSp>
      <p:grpSp>
        <p:nvGrpSpPr>
          <p:cNvPr id="741" name="Google Shape;741;p13"/>
          <p:cNvGrpSpPr/>
          <p:nvPr/>
        </p:nvGrpSpPr>
        <p:grpSpPr>
          <a:xfrm>
            <a:off x="822960" y="2440680"/>
            <a:ext cx="10424160" cy="445196"/>
            <a:chOff x="0" y="-38100"/>
            <a:chExt cx="13898880" cy="593594"/>
          </a:xfrm>
        </p:grpSpPr>
        <p:sp>
          <p:nvSpPr>
            <p:cNvPr id="742" name="Google Shape;742;p13"/>
            <p:cNvSpPr/>
            <p:nvPr/>
          </p:nvSpPr>
          <p:spPr>
            <a:xfrm>
              <a:off x="0" y="0"/>
              <a:ext cx="13898880" cy="555494"/>
            </a:xfrm>
            <a:custGeom>
              <a:rect b="b" l="l" r="r" t="t"/>
              <a:pathLst>
                <a:path extrusionOk="0" h="555494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555494"/>
                  </a:lnTo>
                  <a:lnTo>
                    <a:pt x="0" y="55549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36905" l="0" r="0" t="-43813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3" name="Google Shape;743;p13"/>
            <p:cNvSpPr txBox="1"/>
            <p:nvPr/>
          </p:nvSpPr>
          <p:spPr>
            <a:xfrm>
              <a:off x="0" y="-38100"/>
              <a:ext cx="13898880" cy="5935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74">
                  <a:solidFill>
                    <a:srgbClr val="0B2545"/>
                  </a:solidFill>
                  <a:latin typeface="Calibri"/>
                  <a:ea typeface="Calibri"/>
                  <a:cs typeface="Calibri"/>
                  <a:sym typeface="Calibri"/>
                </a:rPr>
                <a:t>Late Rate berdasarkan Kondisi Cuaca (%)</a:t>
              </a:r>
              <a:endParaRPr/>
            </a:p>
          </p:txBody>
        </p:sp>
      </p:grpSp>
      <p:grpSp>
        <p:nvGrpSpPr>
          <p:cNvPr id="744" name="Google Shape;744;p13"/>
          <p:cNvGrpSpPr/>
          <p:nvPr/>
        </p:nvGrpSpPr>
        <p:grpSpPr>
          <a:xfrm>
            <a:off x="685800" y="9744361"/>
            <a:ext cx="10972800" cy="432911"/>
            <a:chOff x="0" y="-28575"/>
            <a:chExt cx="14630400" cy="577215"/>
          </a:xfrm>
        </p:grpSpPr>
        <p:sp>
          <p:nvSpPr>
            <p:cNvPr id="745" name="Google Shape;745;p13"/>
            <p:cNvSpPr/>
            <p:nvPr/>
          </p:nvSpPr>
          <p:spPr>
            <a:xfrm>
              <a:off x="0" y="0"/>
              <a:ext cx="14630400" cy="548640"/>
            </a:xfrm>
            <a:custGeom>
              <a:rect b="b" l="l" r="r" t="t"/>
              <a:pathLst>
                <a:path extrusionOk="0"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69642" l="0" r="0" t="-469642"/>
              </a:stretch>
            </a:blipFill>
            <a:ln cap="flat" cmpd="sng" w="9525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6" name="Google Shape;746;p13"/>
            <p:cNvSpPr txBox="1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5B7387"/>
                  </a:solidFill>
                  <a:latin typeface="Calibri"/>
                  <a:ea typeface="Calibri"/>
                  <a:cs typeface="Calibri"/>
                  <a:sym typeface="Calibri"/>
                </a:rPr>
                <a:t>E-Commerce Delivery Performance &amp; Revenue Risk</a:t>
              </a:r>
              <a:endParaRPr/>
            </a:p>
          </p:txBody>
        </p:sp>
      </p:grpSp>
      <p:sp>
        <p:nvSpPr>
          <p:cNvPr id="747" name="Google Shape;747;p13"/>
          <p:cNvSpPr/>
          <p:nvPr/>
        </p:nvSpPr>
        <p:spPr>
          <a:xfrm>
            <a:off x="7153321" y="2677566"/>
            <a:ext cx="10250017" cy="5649616"/>
          </a:xfrm>
          <a:custGeom>
            <a:rect b="b" l="l" r="r" t="t"/>
            <a:pathLst>
              <a:path extrusionOk="0" h="5649616" w="10250017">
                <a:moveTo>
                  <a:pt x="0" y="0"/>
                </a:moveTo>
                <a:lnTo>
                  <a:pt x="10250017" y="0"/>
                </a:lnTo>
                <a:lnTo>
                  <a:pt x="10250017" y="5649616"/>
                </a:lnTo>
                <a:lnTo>
                  <a:pt x="0" y="56496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48" name="Google Shape;748;p13"/>
          <p:cNvGrpSpPr/>
          <p:nvPr/>
        </p:nvGrpSpPr>
        <p:grpSpPr>
          <a:xfrm>
            <a:off x="822960" y="4509609"/>
            <a:ext cx="5902610" cy="3566160"/>
            <a:chOff x="0" y="0"/>
            <a:chExt cx="7870146" cy="4754880"/>
          </a:xfrm>
        </p:grpSpPr>
        <p:sp>
          <p:nvSpPr>
            <p:cNvPr id="749" name="Google Shape;749;p13"/>
            <p:cNvSpPr/>
            <p:nvPr/>
          </p:nvSpPr>
          <p:spPr>
            <a:xfrm>
              <a:off x="0" y="0"/>
              <a:ext cx="7870146" cy="4754880"/>
            </a:xfrm>
            <a:custGeom>
              <a:rect b="b" l="l" r="r" t="t"/>
              <a:pathLst>
                <a:path extrusionOk="0" h="5303520" w="87782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631936" y="0"/>
                  </a:lnTo>
                  <a:cubicBezTo>
                    <a:pt x="8712708" y="0"/>
                    <a:pt x="8778240" y="65532"/>
                    <a:pt x="8778240" y="146304"/>
                  </a:cubicBezTo>
                  <a:lnTo>
                    <a:pt x="8778240" y="5157216"/>
                  </a:lnTo>
                  <a:cubicBezTo>
                    <a:pt x="8778240" y="5237988"/>
                    <a:pt x="8712708" y="5303520"/>
                    <a:pt x="8631936" y="5303520"/>
                  </a:cubicBezTo>
                  <a:lnTo>
                    <a:pt x="146304" y="5303520"/>
                  </a:lnTo>
                  <a:cubicBezTo>
                    <a:pt x="65532" y="5303520"/>
                    <a:pt x="0" y="5237988"/>
                    <a:pt x="0" y="5157216"/>
                  </a:cubicBezTo>
                  <a:close/>
                </a:path>
              </a:pathLst>
            </a:custGeom>
            <a:solidFill>
              <a:srgbClr val="0B254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50" name="Google Shape;750;p13"/>
            <p:cNvGrpSpPr/>
            <p:nvPr/>
          </p:nvGrpSpPr>
          <p:grpSpPr>
            <a:xfrm>
              <a:off x="409903" y="203244"/>
              <a:ext cx="7050339" cy="616563"/>
              <a:chOff x="0" y="-47625"/>
              <a:chExt cx="7863840" cy="687705"/>
            </a:xfrm>
          </p:grpSpPr>
          <p:sp>
            <p:nvSpPr>
              <p:cNvPr id="751" name="Google Shape;751;p13"/>
              <p:cNvSpPr/>
              <p:nvPr/>
            </p:nvSpPr>
            <p:spPr>
              <a:xfrm>
                <a:off x="0" y="0"/>
                <a:ext cx="7863840" cy="640080"/>
              </a:xfrm>
              <a:custGeom>
                <a:rect b="b" l="l" r="r" t="t"/>
                <a:pathLst>
                  <a:path extrusionOk="0" h="640080" w="7863840">
                    <a:moveTo>
                      <a:pt x="0" y="0"/>
                    </a:moveTo>
                    <a:lnTo>
                      <a:pt x="7863840" y="0"/>
                    </a:lnTo>
                    <a:lnTo>
                      <a:pt x="786384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189395" l="0" r="0" t="-189395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" name="Google Shape;752;p13"/>
              <p:cNvSpPr txBox="1"/>
              <p:nvPr/>
            </p:nvSpPr>
            <p:spPr>
              <a:xfrm>
                <a:off x="0" y="-47625"/>
                <a:ext cx="7863840" cy="6877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1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974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Estimasi sistem terlalu kaku</a:t>
                </a:r>
                <a:endParaRPr/>
              </a:p>
            </p:txBody>
          </p:sp>
        </p:grpSp>
        <p:grpSp>
          <p:nvGrpSpPr>
            <p:cNvPr id="753" name="Google Shape;753;p13"/>
            <p:cNvGrpSpPr/>
            <p:nvPr/>
          </p:nvGrpSpPr>
          <p:grpSpPr>
            <a:xfrm>
              <a:off x="409903" y="691712"/>
              <a:ext cx="7050339" cy="1931670"/>
              <a:chOff x="0" y="-142875"/>
              <a:chExt cx="7863840" cy="2154555"/>
            </a:xfrm>
          </p:grpSpPr>
          <p:sp>
            <p:nvSpPr>
              <p:cNvPr id="754" name="Google Shape;754;p13"/>
              <p:cNvSpPr/>
              <p:nvPr/>
            </p:nvSpPr>
            <p:spPr>
              <a:xfrm>
                <a:off x="0" y="0"/>
                <a:ext cx="7863840" cy="2011680"/>
              </a:xfrm>
              <a:custGeom>
                <a:rect b="b" l="l" r="r" t="t"/>
                <a:pathLst>
                  <a:path extrusionOk="0" h="2011680" w="7863840">
                    <a:moveTo>
                      <a:pt x="0" y="0"/>
                    </a:moveTo>
                    <a:lnTo>
                      <a:pt x="7863840" y="0"/>
                    </a:lnTo>
                    <a:lnTo>
                      <a:pt x="7863840" y="2011680"/>
                    </a:lnTo>
                    <a:lnTo>
                      <a:pt x="0" y="2011680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26168" l="0" r="0" t="-26168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5" name="Google Shape;755;p13"/>
              <p:cNvSpPr txBox="1"/>
              <p:nvPr/>
            </p:nvSpPr>
            <p:spPr>
              <a:xfrm>
                <a:off x="0" y="-142875"/>
                <a:ext cx="7863840" cy="21545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8329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700">
                    <a:solidFill>
                      <a:srgbClr val="FFBD5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</a:t>
                </a:r>
                <a:r>
                  <a:rPr b="1" lang="en-US" sz="1700">
                    <a:solidFill>
                      <a:srgbClr val="FFBD5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nsight : </a:t>
                </a:r>
                <a:r>
                  <a:rPr lang="en-US" sz="17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Hari dijanjikan tetap </a:t>
                </a:r>
                <a:r>
                  <a:rPr b="1" lang="en-US" sz="17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±7,2</a:t>
                </a:r>
                <a:r>
                  <a:rPr lang="en-US" sz="17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hari di semua cuaca, padahal hari aktual naik jadi</a:t>
                </a:r>
                <a:r>
                  <a:rPr b="1" lang="en-US" sz="17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±10 </a:t>
                </a:r>
                <a:r>
                  <a:rPr lang="en-US" sz="17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hari saat Snow/Storm. </a:t>
                </a:r>
                <a:endParaRPr/>
              </a:p>
            </p:txBody>
          </p:sp>
        </p:grpSp>
        <p:grpSp>
          <p:nvGrpSpPr>
            <p:cNvPr id="756" name="Google Shape;756;p13"/>
            <p:cNvGrpSpPr/>
            <p:nvPr/>
          </p:nvGrpSpPr>
          <p:grpSpPr>
            <a:xfrm>
              <a:off x="409903" y="2589223"/>
              <a:ext cx="7050339" cy="1673773"/>
              <a:chOff x="0" y="-38100"/>
              <a:chExt cx="7863840" cy="1866900"/>
            </a:xfrm>
          </p:grpSpPr>
          <p:sp>
            <p:nvSpPr>
              <p:cNvPr id="757" name="Google Shape;757;p13"/>
              <p:cNvSpPr/>
              <p:nvPr/>
            </p:nvSpPr>
            <p:spPr>
              <a:xfrm>
                <a:off x="0" y="0"/>
                <a:ext cx="7863840" cy="1828800"/>
              </a:xfrm>
              <a:custGeom>
                <a:rect b="b" l="l" r="r" t="t"/>
                <a:pathLst>
                  <a:path extrusionOk="0" h="1828800" w="7863840">
                    <a:moveTo>
                      <a:pt x="0" y="0"/>
                    </a:moveTo>
                    <a:lnTo>
                      <a:pt x="7863840" y="0"/>
                    </a:lnTo>
                    <a:lnTo>
                      <a:pt x="7863840" y="1828800"/>
                    </a:lnTo>
                    <a:lnTo>
                      <a:pt x="0" y="1828800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3786" l="0" r="0" t="-33786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8" name="Google Shape;758;p13"/>
              <p:cNvSpPr txBox="1"/>
              <p:nvPr/>
            </p:nvSpPr>
            <p:spPr>
              <a:xfrm>
                <a:off x="0" y="-38100"/>
                <a:ext cx="7863840" cy="18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just">
                  <a:lnSpc>
                    <a:spcPct val="13326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1" lang="en-US" sz="1575">
                    <a:solidFill>
                      <a:srgbClr val="FFBD5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Recomendation :</a:t>
                </a:r>
                <a:r>
                  <a:rPr i="1" lang="en-US" sz="1575">
                    <a:solidFill>
                      <a:srgbClr val="CFE2F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Terapkan estimasi pengiriman yang fleksibel. Tambahkan penyangga waktu (time buffer) secara otomatis di aplikasi saat terjadi peringatan cuaca buruk.</a:t>
                </a:r>
                <a:endParaRPr/>
              </a:p>
            </p:txBody>
          </p:sp>
        </p:grpSp>
      </p:grpSp>
      <p:cxnSp>
        <p:nvCxnSpPr>
          <p:cNvPr id="759" name="Google Shape;759;p13"/>
          <p:cNvCxnSpPr/>
          <p:nvPr/>
        </p:nvCxnSpPr>
        <p:spPr>
          <a:xfrm flipH="1" rot="10800000">
            <a:off x="8185000" y="4867000"/>
            <a:ext cx="8188800" cy="22500"/>
          </a:xfrm>
          <a:prstGeom prst="straightConnector1">
            <a:avLst/>
          </a:prstGeom>
          <a:noFill/>
          <a:ln cap="flat" cmpd="sng" w="5080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B"/>
        </a:solidFill>
      </p:bgPr>
    </p:bg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4" name="Google Shape;764;p14"/>
          <p:cNvGrpSpPr/>
          <p:nvPr/>
        </p:nvGrpSpPr>
        <p:grpSpPr>
          <a:xfrm>
            <a:off x="822960" y="588645"/>
            <a:ext cx="10972800" cy="508635"/>
            <a:chOff x="0" y="-38100"/>
            <a:chExt cx="14630400" cy="678180"/>
          </a:xfrm>
        </p:grpSpPr>
        <p:sp>
          <p:nvSpPr>
            <p:cNvPr id="765" name="Google Shape;765;p14"/>
            <p:cNvSpPr/>
            <p:nvPr/>
          </p:nvSpPr>
          <p:spPr>
            <a:xfrm>
              <a:off x="0" y="0"/>
              <a:ext cx="14630400" cy="640080"/>
            </a:xfrm>
            <a:custGeom>
              <a:rect b="b" l="l" r="r" t="t"/>
              <a:pathLst>
                <a:path extrusionOk="0"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95395" l="0" r="0" t="-39539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6" name="Google Shape;766;p14"/>
            <p:cNvSpPr txBox="1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pc="300" sz="1800">
                  <a:solidFill>
                    <a:srgbClr val="1C7293"/>
                  </a:solidFill>
                  <a:latin typeface="Calibri"/>
                  <a:ea typeface="Calibri"/>
                  <a:cs typeface="Calibri"/>
                  <a:sym typeface="Calibri"/>
                </a:rPr>
                <a:t>Q4 · PERFORMA CARRIER</a:t>
              </a:r>
              <a:endParaRPr/>
            </a:p>
          </p:txBody>
        </p:sp>
      </p:grpSp>
      <p:grpSp>
        <p:nvGrpSpPr>
          <p:cNvPr id="767" name="Google Shape;767;p14"/>
          <p:cNvGrpSpPr/>
          <p:nvPr/>
        </p:nvGrpSpPr>
        <p:grpSpPr>
          <a:xfrm>
            <a:off x="822960" y="1055561"/>
            <a:ext cx="16184880" cy="1111568"/>
            <a:chOff x="0" y="-19050"/>
            <a:chExt cx="21579840" cy="1482090"/>
          </a:xfrm>
        </p:grpSpPr>
        <p:sp>
          <p:nvSpPr>
            <p:cNvPr id="768" name="Google Shape;768;p14"/>
            <p:cNvSpPr/>
            <p:nvPr/>
          </p:nvSpPr>
          <p:spPr>
            <a:xfrm>
              <a:off x="0" y="0"/>
              <a:ext cx="21579839" cy="1463040"/>
            </a:xfrm>
            <a:custGeom>
              <a:rect b="b" l="l" r="r" t="t"/>
              <a:pathLst>
                <a:path extrusionOk="0" h="146304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37389" l="0" r="0" t="-23738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9" name="Google Shape;769;p14"/>
            <p:cNvSpPr txBox="1"/>
            <p:nvPr/>
          </p:nvSpPr>
          <p:spPr>
            <a:xfrm>
              <a:off x="0" y="-19050"/>
              <a:ext cx="21579840" cy="1482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00">
                  <a:solidFill>
                    <a:srgbClr val="0B2545"/>
                  </a:solidFill>
                  <a:latin typeface="Cambria"/>
                  <a:ea typeface="Cambria"/>
                  <a:cs typeface="Cambria"/>
                  <a:sym typeface="Cambria"/>
                </a:rPr>
                <a:t>Carrier dengan Late Rate Tertinggi Juga Punya Rating Terendah</a:t>
              </a:r>
              <a:endParaRPr/>
            </a:p>
          </p:txBody>
        </p:sp>
      </p:grpSp>
      <p:grpSp>
        <p:nvGrpSpPr>
          <p:cNvPr id="770" name="Google Shape;770;p14"/>
          <p:cNvGrpSpPr/>
          <p:nvPr/>
        </p:nvGrpSpPr>
        <p:grpSpPr>
          <a:xfrm>
            <a:off x="822960" y="2440305"/>
            <a:ext cx="10424160" cy="440055"/>
            <a:chOff x="0" y="-38100"/>
            <a:chExt cx="13898880" cy="586740"/>
          </a:xfrm>
        </p:grpSpPr>
        <p:sp>
          <p:nvSpPr>
            <p:cNvPr id="771" name="Google Shape;771;p14"/>
            <p:cNvSpPr/>
            <p:nvPr/>
          </p:nvSpPr>
          <p:spPr>
            <a:xfrm>
              <a:off x="0" y="0"/>
              <a:ext cx="13898880" cy="548640"/>
            </a:xfrm>
            <a:custGeom>
              <a:rect b="b" l="l" r="r" t="t"/>
              <a:pathLst>
                <a:path extrusionOk="0" h="548640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43583" l="0" r="0" t="-443583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2" name="Google Shape;772;p14"/>
            <p:cNvSpPr txBox="1"/>
            <p:nvPr/>
          </p:nvSpPr>
          <p:spPr>
            <a:xfrm>
              <a:off x="0" y="-38100"/>
              <a:ext cx="138988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75">
                  <a:solidFill>
                    <a:srgbClr val="0B2545"/>
                  </a:solidFill>
                  <a:latin typeface="Calibri"/>
                  <a:ea typeface="Calibri"/>
                  <a:cs typeface="Calibri"/>
                  <a:sym typeface="Calibri"/>
                </a:rPr>
                <a:t>Late Rate per Carrier (%)</a:t>
              </a:r>
              <a:endParaRPr/>
            </a:p>
          </p:txBody>
        </p:sp>
      </p:grpSp>
      <p:grpSp>
        <p:nvGrpSpPr>
          <p:cNvPr id="773" name="Google Shape;773;p14"/>
          <p:cNvGrpSpPr/>
          <p:nvPr/>
        </p:nvGrpSpPr>
        <p:grpSpPr>
          <a:xfrm>
            <a:off x="13862461" y="2154229"/>
            <a:ext cx="5198745" cy="6526039"/>
            <a:chOff x="0" y="-38100"/>
            <a:chExt cx="6931660" cy="8701386"/>
          </a:xfrm>
        </p:grpSpPr>
        <p:grpSp>
          <p:nvGrpSpPr>
            <p:cNvPr id="774" name="Google Shape;774;p14"/>
            <p:cNvGrpSpPr/>
            <p:nvPr/>
          </p:nvGrpSpPr>
          <p:grpSpPr>
            <a:xfrm>
              <a:off x="1596628" y="-38100"/>
              <a:ext cx="5335032" cy="586740"/>
              <a:chOff x="0" y="-38100"/>
              <a:chExt cx="5335032" cy="586740"/>
            </a:xfrm>
          </p:grpSpPr>
          <p:sp>
            <p:nvSpPr>
              <p:cNvPr id="775" name="Google Shape;775;p14"/>
              <p:cNvSpPr/>
              <p:nvPr/>
            </p:nvSpPr>
            <p:spPr>
              <a:xfrm>
                <a:off x="0" y="0"/>
                <a:ext cx="5335032" cy="548640"/>
              </a:xfrm>
              <a:custGeom>
                <a:rect b="b" l="l" r="r" t="t"/>
                <a:pathLst>
                  <a:path extrusionOk="0" h="548640" w="5335032">
                    <a:moveTo>
                      <a:pt x="0" y="0"/>
                    </a:moveTo>
                    <a:lnTo>
                      <a:pt x="5335032" y="0"/>
                    </a:lnTo>
                    <a:lnTo>
                      <a:pt x="5335032" y="548640"/>
                    </a:lnTo>
                    <a:lnTo>
                      <a:pt x="0" y="548640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222777" l="0" r="-43972" t="-222777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" name="Google Shape;776;p14"/>
              <p:cNvSpPr txBox="1"/>
              <p:nvPr/>
            </p:nvSpPr>
            <p:spPr>
              <a:xfrm>
                <a:off x="0" y="-38100"/>
                <a:ext cx="5335032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75">
                    <a:solidFill>
                      <a:srgbClr val="0B254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Avg Rating</a:t>
                </a:r>
                <a:endParaRPr/>
              </a:p>
            </p:txBody>
          </p:sp>
        </p:grpSp>
        <p:sp>
          <p:nvSpPr>
            <p:cNvPr id="777" name="Google Shape;777;p14"/>
            <p:cNvSpPr/>
            <p:nvPr/>
          </p:nvSpPr>
          <p:spPr>
            <a:xfrm>
              <a:off x="0" y="426212"/>
              <a:ext cx="5416186" cy="7980680"/>
            </a:xfrm>
            <a:custGeom>
              <a:rect b="b" l="l" r="r" t="t"/>
              <a:pathLst>
                <a:path extrusionOk="0" h="7980680" w="5416186">
                  <a:moveTo>
                    <a:pt x="0" y="146812"/>
                  </a:moveTo>
                  <a:cubicBezTo>
                    <a:pt x="0" y="65659"/>
                    <a:pt x="45605" y="0"/>
                    <a:pt x="101973" y="0"/>
                  </a:cubicBezTo>
                  <a:lnTo>
                    <a:pt x="5314214" y="0"/>
                  </a:lnTo>
                  <a:cubicBezTo>
                    <a:pt x="5370581" y="0"/>
                    <a:pt x="5416186" y="65659"/>
                    <a:pt x="5416186" y="146812"/>
                  </a:cubicBezTo>
                  <a:lnTo>
                    <a:pt x="5416186" y="7833868"/>
                  </a:lnTo>
                  <a:cubicBezTo>
                    <a:pt x="5416186" y="7914894"/>
                    <a:pt x="5370581" y="7980680"/>
                    <a:pt x="5314214" y="7980680"/>
                  </a:cubicBezTo>
                  <a:lnTo>
                    <a:pt x="101973" y="7980680"/>
                  </a:lnTo>
                  <a:cubicBezTo>
                    <a:pt x="45605" y="7980680"/>
                    <a:pt x="0" y="7915021"/>
                    <a:pt x="0" y="7833868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E3EAF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78" name="Google Shape;778;p14"/>
            <p:cNvGrpSpPr/>
            <p:nvPr/>
          </p:nvGrpSpPr>
          <p:grpSpPr>
            <a:xfrm>
              <a:off x="1850677" y="233064"/>
              <a:ext cx="1143221" cy="2221446"/>
              <a:chOff x="0" y="-19050"/>
              <a:chExt cx="1143221" cy="2221446"/>
            </a:xfrm>
          </p:grpSpPr>
          <p:sp>
            <p:nvSpPr>
              <p:cNvPr id="779" name="Google Shape;779;p14"/>
              <p:cNvSpPr/>
              <p:nvPr/>
            </p:nvSpPr>
            <p:spPr>
              <a:xfrm>
                <a:off x="0" y="0"/>
                <a:ext cx="1143221" cy="2202396"/>
              </a:xfrm>
              <a:custGeom>
                <a:rect b="b" l="l" r="r" t="t"/>
                <a:pathLst>
                  <a:path extrusionOk="0" h="2202396" w="1143221">
                    <a:moveTo>
                      <a:pt x="0" y="0"/>
                    </a:moveTo>
                    <a:lnTo>
                      <a:pt x="1143221" y="0"/>
                    </a:lnTo>
                    <a:lnTo>
                      <a:pt x="1143221" y="2202396"/>
                    </a:lnTo>
                    <a:lnTo>
                      <a:pt x="0" y="2202396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60142" l="-26533" r="-70504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" name="Google Shape;780;p14"/>
              <p:cNvSpPr txBox="1"/>
              <p:nvPr/>
            </p:nvSpPr>
            <p:spPr>
              <a:xfrm>
                <a:off x="0" y="-19050"/>
                <a:ext cx="1143221" cy="22214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250">
                    <a:solidFill>
                      <a:srgbClr val="2E9E6D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3.50</a:t>
                </a:r>
                <a:endParaRPr/>
              </a:p>
            </p:txBody>
          </p:sp>
        </p:grpSp>
        <p:grpSp>
          <p:nvGrpSpPr>
            <p:cNvPr id="781" name="Google Shape;781;p14"/>
            <p:cNvGrpSpPr/>
            <p:nvPr/>
          </p:nvGrpSpPr>
          <p:grpSpPr>
            <a:xfrm>
              <a:off x="2866874" y="866775"/>
              <a:ext cx="444586" cy="925449"/>
              <a:chOff x="0" y="-47625"/>
              <a:chExt cx="444586" cy="925449"/>
            </a:xfrm>
          </p:grpSpPr>
          <p:sp>
            <p:nvSpPr>
              <p:cNvPr id="782" name="Google Shape;782;p14"/>
              <p:cNvSpPr/>
              <p:nvPr/>
            </p:nvSpPr>
            <p:spPr>
              <a:xfrm>
                <a:off x="0" y="0"/>
                <a:ext cx="444586" cy="877824"/>
              </a:xfrm>
              <a:custGeom>
                <a:rect b="b" l="l" r="r" t="t"/>
                <a:pathLst>
                  <a:path extrusionOk="0" h="877824" w="444586">
                    <a:moveTo>
                      <a:pt x="0" y="0"/>
                    </a:moveTo>
                    <a:lnTo>
                      <a:pt x="444586" y="0"/>
                    </a:lnTo>
                    <a:lnTo>
                      <a:pt x="444586" y="877824"/>
                    </a:lnTo>
                    <a:lnTo>
                      <a:pt x="0" y="877824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0" l="-181345" r="-225318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" name="Google Shape;783;p14"/>
              <p:cNvSpPr txBox="1"/>
              <p:nvPr/>
            </p:nvSpPr>
            <p:spPr>
              <a:xfrm>
                <a:off x="0" y="-47625"/>
                <a:ext cx="444586" cy="9254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950">
                    <a:solidFill>
                      <a:srgbClr val="2E9E6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★</a:t>
                </a:r>
                <a:endParaRPr/>
              </a:p>
            </p:txBody>
          </p:sp>
        </p:grpSp>
        <p:cxnSp>
          <p:nvCxnSpPr>
            <p:cNvPr id="784" name="Google Shape;784;p14"/>
            <p:cNvCxnSpPr/>
            <p:nvPr/>
          </p:nvCxnSpPr>
          <p:spPr>
            <a:xfrm>
              <a:off x="1841854" y="1742945"/>
              <a:ext cx="4908092" cy="25406"/>
            </a:xfrm>
            <a:prstGeom prst="straightConnector1">
              <a:avLst/>
            </a:prstGeom>
            <a:noFill/>
            <a:ln cap="rnd" cmpd="sng" w="12700">
              <a:solidFill>
                <a:srgbClr val="EEF2F6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785" name="Google Shape;785;p14"/>
            <p:cNvGrpSpPr/>
            <p:nvPr/>
          </p:nvGrpSpPr>
          <p:grpSpPr>
            <a:xfrm>
              <a:off x="1850677" y="1120032"/>
              <a:ext cx="1143221" cy="2221446"/>
              <a:chOff x="0" y="-19050"/>
              <a:chExt cx="1143221" cy="2221446"/>
            </a:xfrm>
          </p:grpSpPr>
          <p:sp>
            <p:nvSpPr>
              <p:cNvPr id="786" name="Google Shape;786;p14"/>
              <p:cNvSpPr/>
              <p:nvPr/>
            </p:nvSpPr>
            <p:spPr>
              <a:xfrm>
                <a:off x="0" y="0"/>
                <a:ext cx="1143221" cy="2202396"/>
              </a:xfrm>
              <a:custGeom>
                <a:rect b="b" l="l" r="r" t="t"/>
                <a:pathLst>
                  <a:path extrusionOk="0" h="2202396" w="1143221">
                    <a:moveTo>
                      <a:pt x="0" y="0"/>
                    </a:moveTo>
                    <a:lnTo>
                      <a:pt x="1143221" y="0"/>
                    </a:lnTo>
                    <a:lnTo>
                      <a:pt x="1143221" y="2202396"/>
                    </a:lnTo>
                    <a:lnTo>
                      <a:pt x="0" y="2202396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60142" l="-26533" r="-70504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" name="Google Shape;787;p14"/>
              <p:cNvSpPr txBox="1"/>
              <p:nvPr/>
            </p:nvSpPr>
            <p:spPr>
              <a:xfrm>
                <a:off x="0" y="-19050"/>
                <a:ext cx="1143221" cy="22214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250">
                    <a:solidFill>
                      <a:srgbClr val="1C7293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3.45</a:t>
                </a:r>
                <a:endParaRPr/>
              </a:p>
            </p:txBody>
          </p:sp>
        </p:grpSp>
        <p:grpSp>
          <p:nvGrpSpPr>
            <p:cNvPr id="788" name="Google Shape;788;p14"/>
            <p:cNvGrpSpPr/>
            <p:nvPr/>
          </p:nvGrpSpPr>
          <p:grpSpPr>
            <a:xfrm>
              <a:off x="2866874" y="1753743"/>
              <a:ext cx="444586" cy="925449"/>
              <a:chOff x="0" y="-47625"/>
              <a:chExt cx="444586" cy="925449"/>
            </a:xfrm>
          </p:grpSpPr>
          <p:sp>
            <p:nvSpPr>
              <p:cNvPr id="789" name="Google Shape;789;p14"/>
              <p:cNvSpPr/>
              <p:nvPr/>
            </p:nvSpPr>
            <p:spPr>
              <a:xfrm>
                <a:off x="0" y="0"/>
                <a:ext cx="444586" cy="877824"/>
              </a:xfrm>
              <a:custGeom>
                <a:rect b="b" l="l" r="r" t="t"/>
                <a:pathLst>
                  <a:path extrusionOk="0" h="877824" w="444586">
                    <a:moveTo>
                      <a:pt x="0" y="0"/>
                    </a:moveTo>
                    <a:lnTo>
                      <a:pt x="444586" y="0"/>
                    </a:lnTo>
                    <a:lnTo>
                      <a:pt x="444586" y="877824"/>
                    </a:lnTo>
                    <a:lnTo>
                      <a:pt x="0" y="877824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0" l="-181345" r="-225318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" name="Google Shape;790;p14"/>
              <p:cNvSpPr txBox="1"/>
              <p:nvPr/>
            </p:nvSpPr>
            <p:spPr>
              <a:xfrm>
                <a:off x="0" y="-47625"/>
                <a:ext cx="444586" cy="9254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950">
                    <a:solidFill>
                      <a:srgbClr val="1C729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★</a:t>
                </a:r>
                <a:endParaRPr/>
              </a:p>
            </p:txBody>
          </p:sp>
        </p:grpSp>
        <p:cxnSp>
          <p:nvCxnSpPr>
            <p:cNvPr id="791" name="Google Shape;791;p14"/>
            <p:cNvCxnSpPr/>
            <p:nvPr/>
          </p:nvCxnSpPr>
          <p:spPr>
            <a:xfrm>
              <a:off x="1841854" y="2629913"/>
              <a:ext cx="4908092" cy="25406"/>
            </a:xfrm>
            <a:prstGeom prst="straightConnector1">
              <a:avLst/>
            </a:prstGeom>
            <a:noFill/>
            <a:ln cap="rnd" cmpd="sng" w="12700">
              <a:solidFill>
                <a:srgbClr val="EEF2F6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792" name="Google Shape;792;p14"/>
            <p:cNvGrpSpPr/>
            <p:nvPr/>
          </p:nvGrpSpPr>
          <p:grpSpPr>
            <a:xfrm>
              <a:off x="1850677" y="2007000"/>
              <a:ext cx="1143221" cy="2221446"/>
              <a:chOff x="0" y="-19050"/>
              <a:chExt cx="1143221" cy="2221446"/>
            </a:xfrm>
          </p:grpSpPr>
          <p:sp>
            <p:nvSpPr>
              <p:cNvPr id="793" name="Google Shape;793;p14"/>
              <p:cNvSpPr/>
              <p:nvPr/>
            </p:nvSpPr>
            <p:spPr>
              <a:xfrm>
                <a:off x="0" y="0"/>
                <a:ext cx="1143221" cy="2202396"/>
              </a:xfrm>
              <a:custGeom>
                <a:rect b="b" l="l" r="r" t="t"/>
                <a:pathLst>
                  <a:path extrusionOk="0" h="2202396" w="1143221">
                    <a:moveTo>
                      <a:pt x="0" y="0"/>
                    </a:moveTo>
                    <a:lnTo>
                      <a:pt x="1143221" y="0"/>
                    </a:lnTo>
                    <a:lnTo>
                      <a:pt x="1143221" y="2202396"/>
                    </a:lnTo>
                    <a:lnTo>
                      <a:pt x="0" y="2202396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60142" l="-26533" r="-70504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" name="Google Shape;794;p14"/>
              <p:cNvSpPr txBox="1"/>
              <p:nvPr/>
            </p:nvSpPr>
            <p:spPr>
              <a:xfrm>
                <a:off x="0" y="-19050"/>
                <a:ext cx="1143221" cy="22214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250">
                    <a:solidFill>
                      <a:srgbClr val="1C7293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3.43</a:t>
                </a:r>
                <a:endParaRPr/>
              </a:p>
            </p:txBody>
          </p:sp>
        </p:grpSp>
        <p:grpSp>
          <p:nvGrpSpPr>
            <p:cNvPr id="795" name="Google Shape;795;p14"/>
            <p:cNvGrpSpPr/>
            <p:nvPr/>
          </p:nvGrpSpPr>
          <p:grpSpPr>
            <a:xfrm>
              <a:off x="2866874" y="2640711"/>
              <a:ext cx="444586" cy="925449"/>
              <a:chOff x="0" y="-47625"/>
              <a:chExt cx="444586" cy="925449"/>
            </a:xfrm>
          </p:grpSpPr>
          <p:sp>
            <p:nvSpPr>
              <p:cNvPr id="796" name="Google Shape;796;p14"/>
              <p:cNvSpPr/>
              <p:nvPr/>
            </p:nvSpPr>
            <p:spPr>
              <a:xfrm>
                <a:off x="0" y="0"/>
                <a:ext cx="444586" cy="877824"/>
              </a:xfrm>
              <a:custGeom>
                <a:rect b="b" l="l" r="r" t="t"/>
                <a:pathLst>
                  <a:path extrusionOk="0" h="877824" w="444586">
                    <a:moveTo>
                      <a:pt x="0" y="0"/>
                    </a:moveTo>
                    <a:lnTo>
                      <a:pt x="444586" y="0"/>
                    </a:lnTo>
                    <a:lnTo>
                      <a:pt x="444586" y="877824"/>
                    </a:lnTo>
                    <a:lnTo>
                      <a:pt x="0" y="877824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0" l="-181345" r="-225318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7" name="Google Shape;797;p14"/>
              <p:cNvSpPr txBox="1"/>
              <p:nvPr/>
            </p:nvSpPr>
            <p:spPr>
              <a:xfrm>
                <a:off x="0" y="-47625"/>
                <a:ext cx="444586" cy="9254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950">
                    <a:solidFill>
                      <a:srgbClr val="1C729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★</a:t>
                </a:r>
                <a:endParaRPr/>
              </a:p>
            </p:txBody>
          </p:sp>
        </p:grpSp>
        <p:cxnSp>
          <p:nvCxnSpPr>
            <p:cNvPr id="798" name="Google Shape;798;p14"/>
            <p:cNvCxnSpPr/>
            <p:nvPr/>
          </p:nvCxnSpPr>
          <p:spPr>
            <a:xfrm>
              <a:off x="1841854" y="3516881"/>
              <a:ext cx="4908092" cy="25406"/>
            </a:xfrm>
            <a:prstGeom prst="straightConnector1">
              <a:avLst/>
            </a:prstGeom>
            <a:noFill/>
            <a:ln cap="rnd" cmpd="sng" w="12700">
              <a:solidFill>
                <a:srgbClr val="EEF2F6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799" name="Google Shape;799;p14"/>
            <p:cNvGrpSpPr/>
            <p:nvPr/>
          </p:nvGrpSpPr>
          <p:grpSpPr>
            <a:xfrm>
              <a:off x="1850677" y="2893968"/>
              <a:ext cx="1143221" cy="2221446"/>
              <a:chOff x="0" y="-19050"/>
              <a:chExt cx="1143221" cy="2221446"/>
            </a:xfrm>
          </p:grpSpPr>
          <p:sp>
            <p:nvSpPr>
              <p:cNvPr id="800" name="Google Shape;800;p14"/>
              <p:cNvSpPr/>
              <p:nvPr/>
            </p:nvSpPr>
            <p:spPr>
              <a:xfrm>
                <a:off x="0" y="0"/>
                <a:ext cx="1143221" cy="2202396"/>
              </a:xfrm>
              <a:custGeom>
                <a:rect b="b" l="l" r="r" t="t"/>
                <a:pathLst>
                  <a:path extrusionOk="0" h="2202396" w="1143221">
                    <a:moveTo>
                      <a:pt x="0" y="0"/>
                    </a:moveTo>
                    <a:lnTo>
                      <a:pt x="1143221" y="0"/>
                    </a:lnTo>
                    <a:lnTo>
                      <a:pt x="1143221" y="2202396"/>
                    </a:lnTo>
                    <a:lnTo>
                      <a:pt x="0" y="2202396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60142" l="-26533" r="-70504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" name="Google Shape;801;p14"/>
              <p:cNvSpPr txBox="1"/>
              <p:nvPr/>
            </p:nvSpPr>
            <p:spPr>
              <a:xfrm>
                <a:off x="0" y="-19050"/>
                <a:ext cx="1143221" cy="22214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250">
                    <a:solidFill>
                      <a:srgbClr val="E1A83B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3.39</a:t>
                </a:r>
                <a:endParaRPr/>
              </a:p>
            </p:txBody>
          </p:sp>
        </p:grpSp>
        <p:grpSp>
          <p:nvGrpSpPr>
            <p:cNvPr id="802" name="Google Shape;802;p14"/>
            <p:cNvGrpSpPr/>
            <p:nvPr/>
          </p:nvGrpSpPr>
          <p:grpSpPr>
            <a:xfrm>
              <a:off x="2866874" y="3527679"/>
              <a:ext cx="444586" cy="925449"/>
              <a:chOff x="0" y="-47625"/>
              <a:chExt cx="444586" cy="925449"/>
            </a:xfrm>
          </p:grpSpPr>
          <p:sp>
            <p:nvSpPr>
              <p:cNvPr id="803" name="Google Shape;803;p14"/>
              <p:cNvSpPr/>
              <p:nvPr/>
            </p:nvSpPr>
            <p:spPr>
              <a:xfrm>
                <a:off x="0" y="0"/>
                <a:ext cx="444586" cy="877824"/>
              </a:xfrm>
              <a:custGeom>
                <a:rect b="b" l="l" r="r" t="t"/>
                <a:pathLst>
                  <a:path extrusionOk="0" h="877824" w="444586">
                    <a:moveTo>
                      <a:pt x="0" y="0"/>
                    </a:moveTo>
                    <a:lnTo>
                      <a:pt x="444586" y="0"/>
                    </a:lnTo>
                    <a:lnTo>
                      <a:pt x="444586" y="877824"/>
                    </a:lnTo>
                    <a:lnTo>
                      <a:pt x="0" y="877824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0" l="-181345" r="-225318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" name="Google Shape;804;p14"/>
              <p:cNvSpPr txBox="1"/>
              <p:nvPr/>
            </p:nvSpPr>
            <p:spPr>
              <a:xfrm>
                <a:off x="0" y="-47625"/>
                <a:ext cx="444586" cy="9254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950">
                    <a:solidFill>
                      <a:srgbClr val="E1A83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★</a:t>
                </a:r>
                <a:endParaRPr/>
              </a:p>
            </p:txBody>
          </p:sp>
        </p:grpSp>
        <p:cxnSp>
          <p:nvCxnSpPr>
            <p:cNvPr id="805" name="Google Shape;805;p14"/>
            <p:cNvCxnSpPr/>
            <p:nvPr/>
          </p:nvCxnSpPr>
          <p:spPr>
            <a:xfrm>
              <a:off x="1841854" y="4403849"/>
              <a:ext cx="4908092" cy="25406"/>
            </a:xfrm>
            <a:prstGeom prst="straightConnector1">
              <a:avLst/>
            </a:prstGeom>
            <a:noFill/>
            <a:ln cap="rnd" cmpd="sng" w="12700">
              <a:solidFill>
                <a:srgbClr val="EEF2F6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806" name="Google Shape;806;p14"/>
            <p:cNvGrpSpPr/>
            <p:nvPr/>
          </p:nvGrpSpPr>
          <p:grpSpPr>
            <a:xfrm>
              <a:off x="1850677" y="3780936"/>
              <a:ext cx="1143221" cy="2221446"/>
              <a:chOff x="0" y="-19050"/>
              <a:chExt cx="1143221" cy="2221446"/>
            </a:xfrm>
          </p:grpSpPr>
          <p:sp>
            <p:nvSpPr>
              <p:cNvPr id="807" name="Google Shape;807;p14"/>
              <p:cNvSpPr/>
              <p:nvPr/>
            </p:nvSpPr>
            <p:spPr>
              <a:xfrm>
                <a:off x="0" y="0"/>
                <a:ext cx="1143221" cy="2202396"/>
              </a:xfrm>
              <a:custGeom>
                <a:rect b="b" l="l" r="r" t="t"/>
                <a:pathLst>
                  <a:path extrusionOk="0" h="2202396" w="1143221">
                    <a:moveTo>
                      <a:pt x="0" y="0"/>
                    </a:moveTo>
                    <a:lnTo>
                      <a:pt x="1143221" y="0"/>
                    </a:lnTo>
                    <a:lnTo>
                      <a:pt x="1143221" y="2202396"/>
                    </a:lnTo>
                    <a:lnTo>
                      <a:pt x="0" y="2202396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60142" l="-26533" r="-70504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" name="Google Shape;808;p14"/>
              <p:cNvSpPr txBox="1"/>
              <p:nvPr/>
            </p:nvSpPr>
            <p:spPr>
              <a:xfrm>
                <a:off x="0" y="-19050"/>
                <a:ext cx="1143221" cy="22214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250">
                    <a:solidFill>
                      <a:srgbClr val="E1A83B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3.37</a:t>
                </a:r>
                <a:endParaRPr/>
              </a:p>
            </p:txBody>
          </p:sp>
        </p:grpSp>
        <p:grpSp>
          <p:nvGrpSpPr>
            <p:cNvPr id="809" name="Google Shape;809;p14"/>
            <p:cNvGrpSpPr/>
            <p:nvPr/>
          </p:nvGrpSpPr>
          <p:grpSpPr>
            <a:xfrm>
              <a:off x="2866874" y="4414647"/>
              <a:ext cx="444586" cy="925449"/>
              <a:chOff x="0" y="-47625"/>
              <a:chExt cx="444586" cy="925449"/>
            </a:xfrm>
          </p:grpSpPr>
          <p:sp>
            <p:nvSpPr>
              <p:cNvPr id="810" name="Google Shape;810;p14"/>
              <p:cNvSpPr/>
              <p:nvPr/>
            </p:nvSpPr>
            <p:spPr>
              <a:xfrm>
                <a:off x="0" y="0"/>
                <a:ext cx="444586" cy="877824"/>
              </a:xfrm>
              <a:custGeom>
                <a:rect b="b" l="l" r="r" t="t"/>
                <a:pathLst>
                  <a:path extrusionOk="0" h="877824" w="444586">
                    <a:moveTo>
                      <a:pt x="0" y="0"/>
                    </a:moveTo>
                    <a:lnTo>
                      <a:pt x="444586" y="0"/>
                    </a:lnTo>
                    <a:lnTo>
                      <a:pt x="444586" y="877824"/>
                    </a:lnTo>
                    <a:lnTo>
                      <a:pt x="0" y="877824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0" l="-181345" r="-225318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1" name="Google Shape;811;p14"/>
              <p:cNvSpPr txBox="1"/>
              <p:nvPr/>
            </p:nvSpPr>
            <p:spPr>
              <a:xfrm>
                <a:off x="0" y="-47625"/>
                <a:ext cx="444586" cy="9254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950">
                    <a:solidFill>
                      <a:srgbClr val="E1A83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★</a:t>
                </a:r>
                <a:endParaRPr/>
              </a:p>
            </p:txBody>
          </p:sp>
        </p:grpSp>
        <p:cxnSp>
          <p:nvCxnSpPr>
            <p:cNvPr id="812" name="Google Shape;812;p14"/>
            <p:cNvCxnSpPr/>
            <p:nvPr/>
          </p:nvCxnSpPr>
          <p:spPr>
            <a:xfrm>
              <a:off x="1841854" y="5290817"/>
              <a:ext cx="4908092" cy="25406"/>
            </a:xfrm>
            <a:prstGeom prst="straightConnector1">
              <a:avLst/>
            </a:prstGeom>
            <a:noFill/>
            <a:ln cap="rnd" cmpd="sng" w="12700">
              <a:solidFill>
                <a:srgbClr val="EEF2F6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813" name="Google Shape;813;p14"/>
            <p:cNvGrpSpPr/>
            <p:nvPr/>
          </p:nvGrpSpPr>
          <p:grpSpPr>
            <a:xfrm>
              <a:off x="1850677" y="4667904"/>
              <a:ext cx="1143221" cy="2221446"/>
              <a:chOff x="0" y="-19050"/>
              <a:chExt cx="1143221" cy="2221446"/>
            </a:xfrm>
          </p:grpSpPr>
          <p:sp>
            <p:nvSpPr>
              <p:cNvPr id="814" name="Google Shape;814;p14"/>
              <p:cNvSpPr/>
              <p:nvPr/>
            </p:nvSpPr>
            <p:spPr>
              <a:xfrm>
                <a:off x="0" y="0"/>
                <a:ext cx="1143221" cy="2202396"/>
              </a:xfrm>
              <a:custGeom>
                <a:rect b="b" l="l" r="r" t="t"/>
                <a:pathLst>
                  <a:path extrusionOk="0" h="2202396" w="1143221">
                    <a:moveTo>
                      <a:pt x="0" y="0"/>
                    </a:moveTo>
                    <a:lnTo>
                      <a:pt x="1143221" y="0"/>
                    </a:lnTo>
                    <a:lnTo>
                      <a:pt x="1143221" y="2202396"/>
                    </a:lnTo>
                    <a:lnTo>
                      <a:pt x="0" y="2202396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60142" l="-26533" r="-70504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5" name="Google Shape;815;p14"/>
              <p:cNvSpPr txBox="1"/>
              <p:nvPr/>
            </p:nvSpPr>
            <p:spPr>
              <a:xfrm>
                <a:off x="0" y="-19050"/>
                <a:ext cx="1143221" cy="22214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250">
                    <a:solidFill>
                      <a:srgbClr val="D64545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3.30</a:t>
                </a:r>
                <a:endParaRPr/>
              </a:p>
            </p:txBody>
          </p:sp>
        </p:grpSp>
        <p:grpSp>
          <p:nvGrpSpPr>
            <p:cNvPr id="816" name="Google Shape;816;p14"/>
            <p:cNvGrpSpPr/>
            <p:nvPr/>
          </p:nvGrpSpPr>
          <p:grpSpPr>
            <a:xfrm>
              <a:off x="2866874" y="5301615"/>
              <a:ext cx="444586" cy="925449"/>
              <a:chOff x="0" y="-47625"/>
              <a:chExt cx="444586" cy="925449"/>
            </a:xfrm>
          </p:grpSpPr>
          <p:sp>
            <p:nvSpPr>
              <p:cNvPr id="817" name="Google Shape;817;p14"/>
              <p:cNvSpPr/>
              <p:nvPr/>
            </p:nvSpPr>
            <p:spPr>
              <a:xfrm>
                <a:off x="0" y="0"/>
                <a:ext cx="444586" cy="877824"/>
              </a:xfrm>
              <a:custGeom>
                <a:rect b="b" l="l" r="r" t="t"/>
                <a:pathLst>
                  <a:path extrusionOk="0" h="877824" w="444586">
                    <a:moveTo>
                      <a:pt x="0" y="0"/>
                    </a:moveTo>
                    <a:lnTo>
                      <a:pt x="444586" y="0"/>
                    </a:lnTo>
                    <a:lnTo>
                      <a:pt x="444586" y="877824"/>
                    </a:lnTo>
                    <a:lnTo>
                      <a:pt x="0" y="877824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0" l="-181345" r="-225318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8" name="Google Shape;818;p14"/>
              <p:cNvSpPr txBox="1"/>
              <p:nvPr/>
            </p:nvSpPr>
            <p:spPr>
              <a:xfrm>
                <a:off x="0" y="-47625"/>
                <a:ext cx="444586" cy="9254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950">
                    <a:solidFill>
                      <a:srgbClr val="D6454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★</a:t>
                </a:r>
                <a:endParaRPr/>
              </a:p>
            </p:txBody>
          </p:sp>
        </p:grpSp>
        <p:cxnSp>
          <p:nvCxnSpPr>
            <p:cNvPr id="819" name="Google Shape;819;p14"/>
            <p:cNvCxnSpPr/>
            <p:nvPr/>
          </p:nvCxnSpPr>
          <p:spPr>
            <a:xfrm>
              <a:off x="1841854" y="6177785"/>
              <a:ext cx="4908092" cy="25406"/>
            </a:xfrm>
            <a:prstGeom prst="straightConnector1">
              <a:avLst/>
            </a:prstGeom>
            <a:noFill/>
            <a:ln cap="rnd" cmpd="sng" w="12700">
              <a:solidFill>
                <a:srgbClr val="EEF2F6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820" name="Google Shape;820;p14"/>
            <p:cNvGrpSpPr/>
            <p:nvPr/>
          </p:nvGrpSpPr>
          <p:grpSpPr>
            <a:xfrm>
              <a:off x="1850677" y="5554872"/>
              <a:ext cx="1143221" cy="2221446"/>
              <a:chOff x="0" y="-19050"/>
              <a:chExt cx="1143221" cy="2221446"/>
            </a:xfrm>
          </p:grpSpPr>
          <p:sp>
            <p:nvSpPr>
              <p:cNvPr id="821" name="Google Shape;821;p14"/>
              <p:cNvSpPr/>
              <p:nvPr/>
            </p:nvSpPr>
            <p:spPr>
              <a:xfrm>
                <a:off x="0" y="0"/>
                <a:ext cx="1143221" cy="2202396"/>
              </a:xfrm>
              <a:custGeom>
                <a:rect b="b" l="l" r="r" t="t"/>
                <a:pathLst>
                  <a:path extrusionOk="0" h="2202396" w="1143221">
                    <a:moveTo>
                      <a:pt x="0" y="0"/>
                    </a:moveTo>
                    <a:lnTo>
                      <a:pt x="1143221" y="0"/>
                    </a:lnTo>
                    <a:lnTo>
                      <a:pt x="1143221" y="2202396"/>
                    </a:lnTo>
                    <a:lnTo>
                      <a:pt x="0" y="2202396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60142" l="-26533" r="-70504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2" name="Google Shape;822;p14"/>
              <p:cNvSpPr txBox="1"/>
              <p:nvPr/>
            </p:nvSpPr>
            <p:spPr>
              <a:xfrm>
                <a:off x="0" y="-19050"/>
                <a:ext cx="1143221" cy="22214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250">
                    <a:solidFill>
                      <a:srgbClr val="D64545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3.29</a:t>
                </a:r>
                <a:endParaRPr/>
              </a:p>
            </p:txBody>
          </p:sp>
        </p:grpSp>
        <p:grpSp>
          <p:nvGrpSpPr>
            <p:cNvPr id="823" name="Google Shape;823;p14"/>
            <p:cNvGrpSpPr/>
            <p:nvPr/>
          </p:nvGrpSpPr>
          <p:grpSpPr>
            <a:xfrm>
              <a:off x="2866874" y="6188583"/>
              <a:ext cx="444586" cy="925449"/>
              <a:chOff x="0" y="-47625"/>
              <a:chExt cx="444586" cy="925449"/>
            </a:xfrm>
          </p:grpSpPr>
          <p:sp>
            <p:nvSpPr>
              <p:cNvPr id="824" name="Google Shape;824;p14"/>
              <p:cNvSpPr/>
              <p:nvPr/>
            </p:nvSpPr>
            <p:spPr>
              <a:xfrm>
                <a:off x="0" y="0"/>
                <a:ext cx="444586" cy="877824"/>
              </a:xfrm>
              <a:custGeom>
                <a:rect b="b" l="l" r="r" t="t"/>
                <a:pathLst>
                  <a:path extrusionOk="0" h="877824" w="444586">
                    <a:moveTo>
                      <a:pt x="0" y="0"/>
                    </a:moveTo>
                    <a:lnTo>
                      <a:pt x="444586" y="0"/>
                    </a:lnTo>
                    <a:lnTo>
                      <a:pt x="444586" y="877824"/>
                    </a:lnTo>
                    <a:lnTo>
                      <a:pt x="0" y="877824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0" l="-181345" r="-225318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5" name="Google Shape;825;p14"/>
              <p:cNvSpPr txBox="1"/>
              <p:nvPr/>
            </p:nvSpPr>
            <p:spPr>
              <a:xfrm>
                <a:off x="0" y="-47625"/>
                <a:ext cx="444586" cy="9254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950">
                    <a:solidFill>
                      <a:srgbClr val="D6454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★</a:t>
                </a:r>
                <a:endParaRPr/>
              </a:p>
            </p:txBody>
          </p:sp>
        </p:grpSp>
        <p:cxnSp>
          <p:nvCxnSpPr>
            <p:cNvPr id="826" name="Google Shape;826;p14"/>
            <p:cNvCxnSpPr/>
            <p:nvPr/>
          </p:nvCxnSpPr>
          <p:spPr>
            <a:xfrm>
              <a:off x="1841854" y="7064753"/>
              <a:ext cx="4908092" cy="25406"/>
            </a:xfrm>
            <a:prstGeom prst="straightConnector1">
              <a:avLst/>
            </a:prstGeom>
            <a:noFill/>
            <a:ln cap="rnd" cmpd="sng" w="12700">
              <a:solidFill>
                <a:srgbClr val="EEF2F6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827" name="Google Shape;827;p14"/>
            <p:cNvGrpSpPr/>
            <p:nvPr/>
          </p:nvGrpSpPr>
          <p:grpSpPr>
            <a:xfrm>
              <a:off x="1850677" y="6441840"/>
              <a:ext cx="1143221" cy="2221446"/>
              <a:chOff x="0" y="-19050"/>
              <a:chExt cx="1143221" cy="2221446"/>
            </a:xfrm>
          </p:grpSpPr>
          <p:sp>
            <p:nvSpPr>
              <p:cNvPr id="828" name="Google Shape;828;p14"/>
              <p:cNvSpPr/>
              <p:nvPr/>
            </p:nvSpPr>
            <p:spPr>
              <a:xfrm>
                <a:off x="0" y="0"/>
                <a:ext cx="1143221" cy="2202396"/>
              </a:xfrm>
              <a:custGeom>
                <a:rect b="b" l="l" r="r" t="t"/>
                <a:pathLst>
                  <a:path extrusionOk="0" h="2202396" w="1143221">
                    <a:moveTo>
                      <a:pt x="0" y="0"/>
                    </a:moveTo>
                    <a:lnTo>
                      <a:pt x="1143221" y="0"/>
                    </a:lnTo>
                    <a:lnTo>
                      <a:pt x="1143221" y="2202396"/>
                    </a:lnTo>
                    <a:lnTo>
                      <a:pt x="0" y="2202396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60142" l="-26533" r="-70504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9" name="Google Shape;829;p14"/>
              <p:cNvSpPr txBox="1"/>
              <p:nvPr/>
            </p:nvSpPr>
            <p:spPr>
              <a:xfrm>
                <a:off x="0" y="-19050"/>
                <a:ext cx="1143221" cy="22214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250">
                    <a:solidFill>
                      <a:srgbClr val="B23A3A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3.23</a:t>
                </a:r>
                <a:endParaRPr/>
              </a:p>
            </p:txBody>
          </p:sp>
        </p:grpSp>
        <p:grpSp>
          <p:nvGrpSpPr>
            <p:cNvPr id="830" name="Google Shape;830;p14"/>
            <p:cNvGrpSpPr/>
            <p:nvPr/>
          </p:nvGrpSpPr>
          <p:grpSpPr>
            <a:xfrm>
              <a:off x="2866874" y="7075551"/>
              <a:ext cx="444586" cy="925449"/>
              <a:chOff x="0" y="-47625"/>
              <a:chExt cx="444586" cy="925449"/>
            </a:xfrm>
          </p:grpSpPr>
          <p:sp>
            <p:nvSpPr>
              <p:cNvPr id="831" name="Google Shape;831;p14"/>
              <p:cNvSpPr/>
              <p:nvPr/>
            </p:nvSpPr>
            <p:spPr>
              <a:xfrm>
                <a:off x="0" y="0"/>
                <a:ext cx="444586" cy="877824"/>
              </a:xfrm>
              <a:custGeom>
                <a:rect b="b" l="l" r="r" t="t"/>
                <a:pathLst>
                  <a:path extrusionOk="0" h="877824" w="444586">
                    <a:moveTo>
                      <a:pt x="0" y="0"/>
                    </a:moveTo>
                    <a:lnTo>
                      <a:pt x="444586" y="0"/>
                    </a:lnTo>
                    <a:lnTo>
                      <a:pt x="444586" y="877824"/>
                    </a:lnTo>
                    <a:lnTo>
                      <a:pt x="0" y="877824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0" l="-181345" r="-225318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2" name="Google Shape;832;p14"/>
              <p:cNvSpPr txBox="1"/>
              <p:nvPr/>
            </p:nvSpPr>
            <p:spPr>
              <a:xfrm>
                <a:off x="0" y="-47625"/>
                <a:ext cx="444586" cy="9254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950">
                    <a:solidFill>
                      <a:srgbClr val="B23A3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★</a:t>
                </a:r>
                <a:endParaRPr/>
              </a:p>
            </p:txBody>
          </p:sp>
        </p:grpSp>
        <p:cxnSp>
          <p:nvCxnSpPr>
            <p:cNvPr id="833" name="Google Shape;833;p14"/>
            <p:cNvCxnSpPr/>
            <p:nvPr/>
          </p:nvCxnSpPr>
          <p:spPr>
            <a:xfrm>
              <a:off x="1841854" y="7951721"/>
              <a:ext cx="4908092" cy="25406"/>
            </a:xfrm>
            <a:prstGeom prst="straightConnector1">
              <a:avLst/>
            </a:prstGeom>
            <a:noFill/>
            <a:ln cap="rnd" cmpd="sng" w="12700">
              <a:solidFill>
                <a:srgbClr val="EEF2F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834" name="Google Shape;834;p14"/>
          <p:cNvGrpSpPr/>
          <p:nvPr/>
        </p:nvGrpSpPr>
        <p:grpSpPr>
          <a:xfrm>
            <a:off x="708660" y="8527890"/>
            <a:ext cx="16870680" cy="577215"/>
            <a:chOff x="0" y="-38100"/>
            <a:chExt cx="22494240" cy="769620"/>
          </a:xfrm>
        </p:grpSpPr>
        <p:sp>
          <p:nvSpPr>
            <p:cNvPr id="835" name="Google Shape;835;p14"/>
            <p:cNvSpPr/>
            <p:nvPr/>
          </p:nvSpPr>
          <p:spPr>
            <a:xfrm>
              <a:off x="0" y="0"/>
              <a:ext cx="22494239" cy="731520"/>
            </a:xfrm>
            <a:custGeom>
              <a:rect b="b" l="l" r="r" t="t"/>
              <a:pathLst>
                <a:path extrusionOk="0" h="73152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49233" l="0" r="0" t="-549233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6" name="Google Shape;836;p14"/>
            <p:cNvSpPr txBox="1"/>
            <p:nvPr/>
          </p:nvSpPr>
          <p:spPr>
            <a:xfrm>
              <a:off x="0" y="-38100"/>
              <a:ext cx="22494240" cy="7696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25">
                  <a:solidFill>
                    <a:srgbClr val="0B2545"/>
                  </a:solidFill>
                  <a:latin typeface="Calibri"/>
                  <a:ea typeface="Calibri"/>
                  <a:cs typeface="Calibri"/>
                  <a:sym typeface="Calibri"/>
                </a:rPr>
                <a:t>Insight: </a:t>
              </a:r>
              <a:r>
                <a:rPr lang="en-US" sz="1725">
                  <a:solidFill>
                    <a:srgbClr val="13293D"/>
                  </a:solidFill>
                  <a:latin typeface="Calibri"/>
                  <a:ea typeface="Calibri"/>
                  <a:cs typeface="Calibri"/>
                  <a:sym typeface="Calibri"/>
                </a:rPr>
                <a:t>Korelasi Pearson keterlambatan vs rating = </a:t>
              </a:r>
              <a:r>
                <a:rPr b="1" lang="en-US" sz="1725">
                  <a:solidFill>
                    <a:srgbClr val="D64545"/>
                  </a:solidFill>
                  <a:latin typeface="Calibri"/>
                  <a:ea typeface="Calibri"/>
                  <a:cs typeface="Calibri"/>
                  <a:sym typeface="Calibri"/>
                </a:rPr>
                <a:t>-0,51 (p &lt; 0,001)</a:t>
              </a:r>
              <a:r>
                <a:rPr lang="en-US" sz="1725">
                  <a:solidFill>
                    <a:srgbClr val="13293D"/>
                  </a:solidFill>
                  <a:latin typeface="Calibri"/>
                  <a:ea typeface="Calibri"/>
                  <a:cs typeface="Calibri"/>
                  <a:sym typeface="Calibri"/>
                </a:rPr>
                <a:t> — signifikan. GlobalExpress, PrimeDelivery &amp; BlueRoute perlu evaluasi kontrak/SLA prioritas.</a:t>
              </a:r>
              <a:endParaRPr/>
            </a:p>
          </p:txBody>
        </p:sp>
      </p:grpSp>
      <p:grpSp>
        <p:nvGrpSpPr>
          <p:cNvPr id="837" name="Google Shape;837;p14"/>
          <p:cNvGrpSpPr/>
          <p:nvPr/>
        </p:nvGrpSpPr>
        <p:grpSpPr>
          <a:xfrm>
            <a:off x="685800" y="9744361"/>
            <a:ext cx="10972800" cy="432911"/>
            <a:chOff x="0" y="-28575"/>
            <a:chExt cx="14630400" cy="577215"/>
          </a:xfrm>
        </p:grpSpPr>
        <p:sp>
          <p:nvSpPr>
            <p:cNvPr id="838" name="Google Shape;838;p14"/>
            <p:cNvSpPr/>
            <p:nvPr/>
          </p:nvSpPr>
          <p:spPr>
            <a:xfrm>
              <a:off x="0" y="0"/>
              <a:ext cx="14630400" cy="548640"/>
            </a:xfrm>
            <a:custGeom>
              <a:rect b="b" l="l" r="r" t="t"/>
              <a:pathLst>
                <a:path extrusionOk="0"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69642" l="0" r="0" t="-46964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9" name="Google Shape;839;p14"/>
            <p:cNvSpPr txBox="1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5B7387"/>
                  </a:solidFill>
                  <a:latin typeface="Calibri"/>
                  <a:ea typeface="Calibri"/>
                  <a:cs typeface="Calibri"/>
                  <a:sym typeface="Calibri"/>
                </a:rPr>
                <a:t>E-Commerce Delivery Performance &amp; Revenue Risk</a:t>
              </a:r>
              <a:endParaRPr/>
            </a:p>
          </p:txBody>
        </p:sp>
      </p:grpSp>
      <p:sp>
        <p:nvSpPr>
          <p:cNvPr id="840" name="Google Shape;840;p14"/>
          <p:cNvSpPr/>
          <p:nvPr/>
        </p:nvSpPr>
        <p:spPr>
          <a:xfrm>
            <a:off x="685800" y="2967294"/>
            <a:ext cx="12902447" cy="4928485"/>
          </a:xfrm>
          <a:custGeom>
            <a:rect b="b" l="l" r="r" t="t"/>
            <a:pathLst>
              <a:path extrusionOk="0" h="4928485" w="12902447">
                <a:moveTo>
                  <a:pt x="0" y="0"/>
                </a:moveTo>
                <a:lnTo>
                  <a:pt x="12902447" y="0"/>
                </a:lnTo>
                <a:lnTo>
                  <a:pt x="12902447" y="4928484"/>
                </a:lnTo>
                <a:lnTo>
                  <a:pt x="0" y="49284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B"/>
        </a:solidFill>
      </p:bgPr>
    </p:bg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5" name="Google Shape;845;p16"/>
          <p:cNvGrpSpPr/>
          <p:nvPr/>
        </p:nvGrpSpPr>
        <p:grpSpPr>
          <a:xfrm>
            <a:off x="822960" y="588645"/>
            <a:ext cx="10972800" cy="508635"/>
            <a:chOff x="0" y="-38100"/>
            <a:chExt cx="14630400" cy="678180"/>
          </a:xfrm>
        </p:grpSpPr>
        <p:sp>
          <p:nvSpPr>
            <p:cNvPr id="846" name="Google Shape;846;p16"/>
            <p:cNvSpPr/>
            <p:nvPr/>
          </p:nvSpPr>
          <p:spPr>
            <a:xfrm>
              <a:off x="0" y="0"/>
              <a:ext cx="14630400" cy="640080"/>
            </a:xfrm>
            <a:custGeom>
              <a:rect b="b" l="l" r="r" t="t"/>
              <a:pathLst>
                <a:path extrusionOk="0"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95395" l="0" r="0" t="-39539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" name="Google Shape;847;p16"/>
            <p:cNvSpPr txBox="1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pc="300" sz="1800">
                  <a:solidFill>
                    <a:srgbClr val="1C7293"/>
                  </a:solidFill>
                  <a:latin typeface="Calibri"/>
                  <a:ea typeface="Calibri"/>
                  <a:cs typeface="Calibri"/>
                  <a:sym typeface="Calibri"/>
                </a:rPr>
                <a:t>ROOT CAUSE ANALYSIS</a:t>
              </a:r>
              <a:endParaRPr/>
            </a:p>
          </p:txBody>
        </p:sp>
      </p:grpSp>
      <p:grpSp>
        <p:nvGrpSpPr>
          <p:cNvPr id="848" name="Google Shape;848;p16"/>
          <p:cNvGrpSpPr/>
          <p:nvPr/>
        </p:nvGrpSpPr>
        <p:grpSpPr>
          <a:xfrm>
            <a:off x="822960" y="1062704"/>
            <a:ext cx="16184880" cy="1104424"/>
            <a:chOff x="0" y="-9525"/>
            <a:chExt cx="21579840" cy="1472565"/>
          </a:xfrm>
        </p:grpSpPr>
        <p:sp>
          <p:nvSpPr>
            <p:cNvPr id="849" name="Google Shape;849;p16"/>
            <p:cNvSpPr/>
            <p:nvPr/>
          </p:nvSpPr>
          <p:spPr>
            <a:xfrm>
              <a:off x="0" y="0"/>
              <a:ext cx="21579839" cy="1463040"/>
            </a:xfrm>
            <a:custGeom>
              <a:rect b="b" l="l" r="r" t="t"/>
              <a:pathLst>
                <a:path extrusionOk="0" h="146304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37389" l="0" r="0" t="-23738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0" name="Google Shape;850;p16"/>
            <p:cNvSpPr txBox="1"/>
            <p:nvPr/>
          </p:nvSpPr>
          <p:spPr>
            <a:xfrm>
              <a:off x="0" y="-9525"/>
              <a:ext cx="21579840" cy="14725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50">
                  <a:solidFill>
                    <a:srgbClr val="0B2545"/>
                  </a:solidFill>
                  <a:latin typeface="Cambria"/>
                  <a:ea typeface="Cambria"/>
                  <a:cs typeface="Cambria"/>
                  <a:sym typeface="Cambria"/>
                </a:rPr>
                <a:t>Late Rate Melonjak Tajam di Atas 3.000 km</a:t>
              </a:r>
              <a:endParaRPr/>
            </a:p>
          </p:txBody>
        </p:sp>
      </p:grpSp>
      <p:grpSp>
        <p:nvGrpSpPr>
          <p:cNvPr id="851" name="Google Shape;851;p16"/>
          <p:cNvGrpSpPr/>
          <p:nvPr/>
        </p:nvGrpSpPr>
        <p:grpSpPr>
          <a:xfrm>
            <a:off x="822960" y="1919097"/>
            <a:ext cx="16596360" cy="440055"/>
            <a:chOff x="0" y="-38100"/>
            <a:chExt cx="22128480" cy="586740"/>
          </a:xfrm>
        </p:grpSpPr>
        <p:sp>
          <p:nvSpPr>
            <p:cNvPr id="852" name="Google Shape;852;p16"/>
            <p:cNvSpPr/>
            <p:nvPr/>
          </p:nvSpPr>
          <p:spPr>
            <a:xfrm>
              <a:off x="0" y="0"/>
              <a:ext cx="22128480" cy="548640"/>
            </a:xfrm>
            <a:custGeom>
              <a:rect b="b" l="l" r="r" t="t"/>
              <a:pathLst>
                <a:path extrusionOk="0" h="54864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35917" l="0" r="0" t="-735917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3" name="Google Shape;853;p16"/>
            <p:cNvSpPr txBox="1"/>
            <p:nvPr/>
          </p:nvSpPr>
          <p:spPr>
            <a:xfrm>
              <a:off x="0" y="-38100"/>
              <a:ext cx="221284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725">
                  <a:solidFill>
                    <a:srgbClr val="5B7387"/>
                  </a:solidFill>
                  <a:latin typeface="Calibri"/>
                  <a:ea typeface="Calibri"/>
                  <a:cs typeface="Calibri"/>
                  <a:sym typeface="Calibri"/>
                </a:rPr>
                <a:t>Menjawab rekomendasi drill-down sebelumnya — menyilangkan carrier dengan jarak tempuh (distance_km).</a:t>
              </a:r>
              <a:endParaRPr/>
            </a:p>
          </p:txBody>
        </p:sp>
      </p:grpSp>
      <p:grpSp>
        <p:nvGrpSpPr>
          <p:cNvPr id="854" name="Google Shape;854;p16"/>
          <p:cNvGrpSpPr/>
          <p:nvPr/>
        </p:nvGrpSpPr>
        <p:grpSpPr>
          <a:xfrm>
            <a:off x="822960" y="2440305"/>
            <a:ext cx="10972800" cy="440055"/>
            <a:chOff x="0" y="-38100"/>
            <a:chExt cx="14630400" cy="586740"/>
          </a:xfrm>
        </p:grpSpPr>
        <p:sp>
          <p:nvSpPr>
            <p:cNvPr id="855" name="Google Shape;855;p16"/>
            <p:cNvSpPr/>
            <p:nvPr/>
          </p:nvSpPr>
          <p:spPr>
            <a:xfrm>
              <a:off x="0" y="0"/>
              <a:ext cx="14630400" cy="548640"/>
            </a:xfrm>
            <a:custGeom>
              <a:rect b="b" l="l" r="r" t="t"/>
              <a:pathLst>
                <a:path extrusionOk="0"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69642" l="0" r="0" t="-46964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" name="Google Shape;856;p16"/>
            <p:cNvSpPr txBox="1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75">
                  <a:solidFill>
                    <a:srgbClr val="0B2545"/>
                  </a:solidFill>
                  <a:latin typeface="Calibri"/>
                  <a:ea typeface="Calibri"/>
                  <a:cs typeface="Calibri"/>
                  <a:sym typeface="Calibri"/>
                </a:rPr>
                <a:t>Late Rate per Carrier × Jarak Tempuh</a:t>
              </a:r>
              <a:endParaRPr/>
            </a:p>
          </p:txBody>
        </p:sp>
      </p:grpSp>
      <p:grpSp>
        <p:nvGrpSpPr>
          <p:cNvPr id="857" name="Google Shape;857;p16"/>
          <p:cNvGrpSpPr/>
          <p:nvPr/>
        </p:nvGrpSpPr>
        <p:grpSpPr>
          <a:xfrm>
            <a:off x="815816" y="2920365"/>
            <a:ext cx="16651796" cy="4973478"/>
            <a:chOff x="0" y="-28575"/>
            <a:chExt cx="22202394" cy="6631305"/>
          </a:xfrm>
        </p:grpSpPr>
        <p:sp>
          <p:nvSpPr>
            <p:cNvPr id="858" name="Google Shape;858;p16"/>
            <p:cNvSpPr/>
            <p:nvPr/>
          </p:nvSpPr>
          <p:spPr>
            <a:xfrm>
              <a:off x="0" y="0"/>
              <a:ext cx="4316730" cy="677418"/>
            </a:xfrm>
            <a:custGeom>
              <a:rect b="b" l="l" r="r" t="t"/>
              <a:pathLst>
                <a:path extrusionOk="0" h="677418" w="4316730">
                  <a:moveTo>
                    <a:pt x="0" y="0"/>
                  </a:moveTo>
                  <a:lnTo>
                    <a:pt x="4316730" y="0"/>
                  </a:lnTo>
                  <a:lnTo>
                    <a:pt x="4316730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0B2545"/>
            </a:solidFill>
            <a:ln cap="sq" cmpd="sng" w="1427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59" name="Google Shape;859;p16"/>
            <p:cNvGrpSpPr/>
            <p:nvPr/>
          </p:nvGrpSpPr>
          <p:grpSpPr>
            <a:xfrm>
              <a:off x="9525" y="-9525"/>
              <a:ext cx="4297680" cy="677418"/>
              <a:chOff x="0" y="-19050"/>
              <a:chExt cx="4297680" cy="677418"/>
            </a:xfrm>
          </p:grpSpPr>
          <p:sp>
            <p:nvSpPr>
              <p:cNvPr id="860" name="Google Shape;860;p16"/>
              <p:cNvSpPr/>
              <p:nvPr/>
            </p:nvSpPr>
            <p:spPr>
              <a:xfrm>
                <a:off x="0" y="0"/>
                <a:ext cx="4297680" cy="658368"/>
              </a:xfrm>
              <a:custGeom>
                <a:rect b="b" l="l" r="r" t="t"/>
                <a:pathLst>
                  <a:path extrusionOk="0" h="658368" w="4297680">
                    <a:moveTo>
                      <a:pt x="0" y="0"/>
                    </a:moveTo>
                    <a:lnTo>
                      <a:pt x="4297680" y="0"/>
                    </a:lnTo>
                    <a:lnTo>
                      <a:pt x="4297680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77194" l="0" r="0" t="-7719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1" name="Google Shape;861;p16"/>
              <p:cNvSpPr txBox="1"/>
              <p:nvPr/>
            </p:nvSpPr>
            <p:spPr>
              <a:xfrm>
                <a:off x="0" y="-19050"/>
                <a:ext cx="4297680" cy="6774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1993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75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Carrier</a:t>
                </a:r>
                <a:endParaRPr/>
              </a:p>
            </p:txBody>
          </p:sp>
        </p:grpSp>
        <p:sp>
          <p:nvSpPr>
            <p:cNvPr id="862" name="Google Shape;862;p16"/>
            <p:cNvSpPr/>
            <p:nvPr/>
          </p:nvSpPr>
          <p:spPr>
            <a:xfrm>
              <a:off x="4297680" y="0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0B2545"/>
            </a:solidFill>
            <a:ln cap="sq" cmpd="sng" w="1427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63" name="Google Shape;863;p16"/>
            <p:cNvGrpSpPr/>
            <p:nvPr/>
          </p:nvGrpSpPr>
          <p:grpSpPr>
            <a:xfrm>
              <a:off x="4307205" y="-28575"/>
              <a:ext cx="2980944" cy="696468"/>
              <a:chOff x="0" y="-38100"/>
              <a:chExt cx="2980944" cy="696468"/>
            </a:xfrm>
          </p:grpSpPr>
          <p:sp>
            <p:nvSpPr>
              <p:cNvPr id="864" name="Google Shape;864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5" name="Google Shape;865;p16"/>
              <p:cNvSpPr txBox="1"/>
              <p:nvPr/>
            </p:nvSpPr>
            <p:spPr>
              <a:xfrm>
                <a:off x="0" y="-38100"/>
                <a:ext cx="2980944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1992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25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&lt;500 km</a:t>
                </a:r>
                <a:endParaRPr/>
              </a:p>
            </p:txBody>
          </p:sp>
        </p:grpSp>
        <p:sp>
          <p:nvSpPr>
            <p:cNvPr id="866" name="Google Shape;866;p16"/>
            <p:cNvSpPr/>
            <p:nvPr/>
          </p:nvSpPr>
          <p:spPr>
            <a:xfrm>
              <a:off x="7278624" y="0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0B2545"/>
            </a:solidFill>
            <a:ln cap="sq" cmpd="sng" w="1427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67" name="Google Shape;867;p16"/>
            <p:cNvGrpSpPr/>
            <p:nvPr/>
          </p:nvGrpSpPr>
          <p:grpSpPr>
            <a:xfrm>
              <a:off x="7288149" y="-28575"/>
              <a:ext cx="2980944" cy="696468"/>
              <a:chOff x="0" y="-38100"/>
              <a:chExt cx="2980944" cy="696468"/>
            </a:xfrm>
          </p:grpSpPr>
          <p:sp>
            <p:nvSpPr>
              <p:cNvPr id="868" name="Google Shape;868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9" name="Google Shape;869;p16"/>
              <p:cNvSpPr txBox="1"/>
              <p:nvPr/>
            </p:nvSpPr>
            <p:spPr>
              <a:xfrm>
                <a:off x="0" y="-38100"/>
                <a:ext cx="2980944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1992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25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500-1.500 km</a:t>
                </a:r>
                <a:endParaRPr/>
              </a:p>
            </p:txBody>
          </p:sp>
        </p:grpSp>
        <p:sp>
          <p:nvSpPr>
            <p:cNvPr id="870" name="Google Shape;870;p16"/>
            <p:cNvSpPr/>
            <p:nvPr/>
          </p:nvSpPr>
          <p:spPr>
            <a:xfrm>
              <a:off x="10259568" y="0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0B2545"/>
            </a:solidFill>
            <a:ln cap="sq" cmpd="sng" w="1427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71" name="Google Shape;871;p16"/>
            <p:cNvGrpSpPr/>
            <p:nvPr/>
          </p:nvGrpSpPr>
          <p:grpSpPr>
            <a:xfrm>
              <a:off x="10269093" y="-28575"/>
              <a:ext cx="2980944" cy="696468"/>
              <a:chOff x="0" y="-38100"/>
              <a:chExt cx="2980944" cy="696468"/>
            </a:xfrm>
          </p:grpSpPr>
          <p:sp>
            <p:nvSpPr>
              <p:cNvPr id="872" name="Google Shape;872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3" name="Google Shape;873;p16"/>
              <p:cNvSpPr txBox="1"/>
              <p:nvPr/>
            </p:nvSpPr>
            <p:spPr>
              <a:xfrm>
                <a:off x="0" y="-38100"/>
                <a:ext cx="2980944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1992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25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1.500-3.000 km</a:t>
                </a:r>
                <a:endParaRPr/>
              </a:p>
            </p:txBody>
          </p:sp>
        </p:grpSp>
        <p:sp>
          <p:nvSpPr>
            <p:cNvPr id="874" name="Google Shape;874;p16"/>
            <p:cNvSpPr/>
            <p:nvPr/>
          </p:nvSpPr>
          <p:spPr>
            <a:xfrm>
              <a:off x="13240512" y="0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0B2545"/>
            </a:solidFill>
            <a:ln cap="sq" cmpd="sng" w="1427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75" name="Google Shape;875;p16"/>
            <p:cNvGrpSpPr/>
            <p:nvPr/>
          </p:nvGrpSpPr>
          <p:grpSpPr>
            <a:xfrm>
              <a:off x="13250037" y="-28575"/>
              <a:ext cx="2980944" cy="696468"/>
              <a:chOff x="0" y="-38100"/>
              <a:chExt cx="2980944" cy="696468"/>
            </a:xfrm>
          </p:grpSpPr>
          <p:sp>
            <p:nvSpPr>
              <p:cNvPr id="876" name="Google Shape;876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7" name="Google Shape;877;p16"/>
              <p:cNvSpPr txBox="1"/>
              <p:nvPr/>
            </p:nvSpPr>
            <p:spPr>
              <a:xfrm>
                <a:off x="0" y="-38100"/>
                <a:ext cx="2980944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1992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25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3.000-5.000 km</a:t>
                </a:r>
                <a:endParaRPr/>
              </a:p>
            </p:txBody>
          </p:sp>
        </p:grpSp>
        <p:sp>
          <p:nvSpPr>
            <p:cNvPr id="878" name="Google Shape;878;p16"/>
            <p:cNvSpPr/>
            <p:nvPr/>
          </p:nvSpPr>
          <p:spPr>
            <a:xfrm>
              <a:off x="16221456" y="0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0B2545"/>
            </a:solidFill>
            <a:ln cap="sq" cmpd="sng" w="1427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79" name="Google Shape;879;p16"/>
            <p:cNvGrpSpPr/>
            <p:nvPr/>
          </p:nvGrpSpPr>
          <p:grpSpPr>
            <a:xfrm>
              <a:off x="16230981" y="-28575"/>
              <a:ext cx="2980944" cy="696468"/>
              <a:chOff x="0" y="-38100"/>
              <a:chExt cx="2980944" cy="696468"/>
            </a:xfrm>
          </p:grpSpPr>
          <p:sp>
            <p:nvSpPr>
              <p:cNvPr id="880" name="Google Shape;880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1" name="Google Shape;881;p16"/>
              <p:cNvSpPr txBox="1"/>
              <p:nvPr/>
            </p:nvSpPr>
            <p:spPr>
              <a:xfrm>
                <a:off x="0" y="-38100"/>
                <a:ext cx="2980944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1992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25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&gt;5.000 km</a:t>
                </a:r>
                <a:endParaRPr/>
              </a:p>
            </p:txBody>
          </p:sp>
        </p:grpSp>
        <p:sp>
          <p:nvSpPr>
            <p:cNvPr id="882" name="Google Shape;882;p16"/>
            <p:cNvSpPr/>
            <p:nvPr/>
          </p:nvSpPr>
          <p:spPr>
            <a:xfrm>
              <a:off x="19202400" y="0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0B2545"/>
            </a:solidFill>
            <a:ln cap="sq" cmpd="sng" w="1427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83" name="Google Shape;883;p16"/>
            <p:cNvGrpSpPr/>
            <p:nvPr/>
          </p:nvGrpSpPr>
          <p:grpSpPr>
            <a:xfrm>
              <a:off x="19211925" y="-28575"/>
              <a:ext cx="2980944" cy="696468"/>
              <a:chOff x="0" y="-38100"/>
              <a:chExt cx="2980944" cy="696468"/>
            </a:xfrm>
          </p:grpSpPr>
          <p:sp>
            <p:nvSpPr>
              <p:cNvPr id="884" name="Google Shape;884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5" name="Google Shape;885;p16"/>
              <p:cNvSpPr txBox="1"/>
              <p:nvPr/>
            </p:nvSpPr>
            <p:spPr>
              <a:xfrm>
                <a:off x="0" y="-38100"/>
                <a:ext cx="2980944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1992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25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Total</a:t>
                </a:r>
                <a:endParaRPr/>
              </a:p>
            </p:txBody>
          </p:sp>
        </p:grpSp>
        <p:sp>
          <p:nvSpPr>
            <p:cNvPr id="886" name="Google Shape;886;p16"/>
            <p:cNvSpPr/>
            <p:nvPr/>
          </p:nvSpPr>
          <p:spPr>
            <a:xfrm>
              <a:off x="0" y="658368"/>
              <a:ext cx="4316730" cy="677418"/>
            </a:xfrm>
            <a:custGeom>
              <a:rect b="b" l="l" r="r" t="t"/>
              <a:pathLst>
                <a:path extrusionOk="0" h="677418" w="4316730">
                  <a:moveTo>
                    <a:pt x="0" y="0"/>
                  </a:moveTo>
                  <a:lnTo>
                    <a:pt x="4316730" y="0"/>
                  </a:lnTo>
                  <a:lnTo>
                    <a:pt x="4316730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E3F2EA"/>
            </a:solidFill>
            <a:ln cap="sq" cmpd="sng" w="14275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87" name="Google Shape;887;p16"/>
            <p:cNvGrpSpPr/>
            <p:nvPr/>
          </p:nvGrpSpPr>
          <p:grpSpPr>
            <a:xfrm>
              <a:off x="9525" y="629793"/>
              <a:ext cx="4297680" cy="696468"/>
              <a:chOff x="0" y="-38100"/>
              <a:chExt cx="4297680" cy="696468"/>
            </a:xfrm>
          </p:grpSpPr>
          <p:sp>
            <p:nvSpPr>
              <p:cNvPr id="888" name="Google Shape;888;p16"/>
              <p:cNvSpPr/>
              <p:nvPr/>
            </p:nvSpPr>
            <p:spPr>
              <a:xfrm>
                <a:off x="0" y="0"/>
                <a:ext cx="4297680" cy="658368"/>
              </a:xfrm>
              <a:custGeom>
                <a:rect b="b" l="l" r="r" t="t"/>
                <a:pathLst>
                  <a:path extrusionOk="0" h="658368" w="4297680">
                    <a:moveTo>
                      <a:pt x="0" y="0"/>
                    </a:moveTo>
                    <a:lnTo>
                      <a:pt x="4297680" y="0"/>
                    </a:lnTo>
                    <a:lnTo>
                      <a:pt x="4297680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77194" l="0" r="0" t="-7719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9" name="Google Shape;889;p16"/>
              <p:cNvSpPr txBox="1"/>
              <p:nvPr/>
            </p:nvSpPr>
            <p:spPr>
              <a:xfrm>
                <a:off x="0" y="-38100"/>
                <a:ext cx="4297680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2E9E6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SwiftShip</a:t>
                </a:r>
                <a:endParaRPr/>
              </a:p>
            </p:txBody>
          </p:sp>
        </p:grpSp>
        <p:sp>
          <p:nvSpPr>
            <p:cNvPr id="890" name="Google Shape;890;p16"/>
            <p:cNvSpPr/>
            <p:nvPr/>
          </p:nvSpPr>
          <p:spPr>
            <a:xfrm>
              <a:off x="4297680" y="658368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ECF7F1"/>
            </a:solidFill>
            <a:ln cap="sq" cmpd="sng" w="14275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91" name="Google Shape;891;p16"/>
            <p:cNvGrpSpPr/>
            <p:nvPr/>
          </p:nvGrpSpPr>
          <p:grpSpPr>
            <a:xfrm>
              <a:off x="4307205" y="629793"/>
              <a:ext cx="2980944" cy="696468"/>
              <a:chOff x="0" y="-38100"/>
              <a:chExt cx="2980944" cy="696468"/>
            </a:xfrm>
          </p:grpSpPr>
          <p:sp>
            <p:nvSpPr>
              <p:cNvPr id="892" name="Google Shape;892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3" name="Google Shape;893;p16"/>
              <p:cNvSpPr txBox="1"/>
              <p:nvPr/>
            </p:nvSpPr>
            <p:spPr>
              <a:xfrm>
                <a:off x="0" y="-38100"/>
                <a:ext cx="2980944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rgbClr val="1329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30.06%</a:t>
                </a:r>
                <a:endParaRPr/>
              </a:p>
            </p:txBody>
          </p:sp>
        </p:grpSp>
        <p:sp>
          <p:nvSpPr>
            <p:cNvPr id="894" name="Google Shape;894;p16"/>
            <p:cNvSpPr/>
            <p:nvPr/>
          </p:nvSpPr>
          <p:spPr>
            <a:xfrm>
              <a:off x="7278624" y="658368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ECF7F1"/>
            </a:solidFill>
            <a:ln cap="sq" cmpd="sng" w="14275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95" name="Google Shape;895;p16"/>
            <p:cNvGrpSpPr/>
            <p:nvPr/>
          </p:nvGrpSpPr>
          <p:grpSpPr>
            <a:xfrm>
              <a:off x="7288149" y="629793"/>
              <a:ext cx="2980944" cy="696468"/>
              <a:chOff x="0" y="-38100"/>
              <a:chExt cx="2980944" cy="696468"/>
            </a:xfrm>
          </p:grpSpPr>
          <p:sp>
            <p:nvSpPr>
              <p:cNvPr id="896" name="Google Shape;896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7" name="Google Shape;897;p16"/>
              <p:cNvSpPr txBox="1"/>
              <p:nvPr/>
            </p:nvSpPr>
            <p:spPr>
              <a:xfrm>
                <a:off x="0" y="-38100"/>
                <a:ext cx="2980944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rgbClr val="1329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34.84%</a:t>
                </a:r>
                <a:endParaRPr/>
              </a:p>
            </p:txBody>
          </p:sp>
        </p:grpSp>
        <p:sp>
          <p:nvSpPr>
            <p:cNvPr id="898" name="Google Shape;898;p16"/>
            <p:cNvSpPr/>
            <p:nvPr/>
          </p:nvSpPr>
          <p:spPr>
            <a:xfrm>
              <a:off x="10259568" y="658368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ECF7F1"/>
            </a:solidFill>
            <a:ln cap="sq" cmpd="sng" w="14275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99" name="Google Shape;899;p16"/>
            <p:cNvGrpSpPr/>
            <p:nvPr/>
          </p:nvGrpSpPr>
          <p:grpSpPr>
            <a:xfrm>
              <a:off x="10269093" y="629793"/>
              <a:ext cx="2980944" cy="696468"/>
              <a:chOff x="0" y="-38100"/>
              <a:chExt cx="2980944" cy="696468"/>
            </a:xfrm>
          </p:grpSpPr>
          <p:sp>
            <p:nvSpPr>
              <p:cNvPr id="900" name="Google Shape;900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1" name="Google Shape;901;p16"/>
              <p:cNvSpPr txBox="1"/>
              <p:nvPr/>
            </p:nvSpPr>
            <p:spPr>
              <a:xfrm>
                <a:off x="0" y="-38100"/>
                <a:ext cx="2980944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rgbClr val="1329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38.89%</a:t>
                </a:r>
                <a:endParaRPr/>
              </a:p>
            </p:txBody>
          </p:sp>
        </p:grpSp>
        <p:sp>
          <p:nvSpPr>
            <p:cNvPr id="902" name="Google Shape;902;p16"/>
            <p:cNvSpPr/>
            <p:nvPr/>
          </p:nvSpPr>
          <p:spPr>
            <a:xfrm>
              <a:off x="13240512" y="658368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F7CFC8"/>
            </a:solidFill>
            <a:ln cap="sq" cmpd="sng" w="14275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03" name="Google Shape;903;p16"/>
            <p:cNvGrpSpPr/>
            <p:nvPr/>
          </p:nvGrpSpPr>
          <p:grpSpPr>
            <a:xfrm>
              <a:off x="13250037" y="629793"/>
              <a:ext cx="2980944" cy="696468"/>
              <a:chOff x="0" y="-38100"/>
              <a:chExt cx="2980944" cy="696468"/>
            </a:xfrm>
          </p:grpSpPr>
          <p:sp>
            <p:nvSpPr>
              <p:cNvPr id="904" name="Google Shape;904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5" name="Google Shape;905;p16"/>
              <p:cNvSpPr txBox="1"/>
              <p:nvPr/>
            </p:nvSpPr>
            <p:spPr>
              <a:xfrm>
                <a:off x="0" y="-38100"/>
                <a:ext cx="2980944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B23A3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68.27%</a:t>
                </a:r>
                <a:endParaRPr/>
              </a:p>
            </p:txBody>
          </p:sp>
        </p:grpSp>
        <p:sp>
          <p:nvSpPr>
            <p:cNvPr id="906" name="Google Shape;906;p16"/>
            <p:cNvSpPr/>
            <p:nvPr/>
          </p:nvSpPr>
          <p:spPr>
            <a:xfrm>
              <a:off x="16221456" y="658368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F7CFC8"/>
            </a:solidFill>
            <a:ln cap="sq" cmpd="sng" w="14275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07" name="Google Shape;907;p16"/>
            <p:cNvGrpSpPr/>
            <p:nvPr/>
          </p:nvGrpSpPr>
          <p:grpSpPr>
            <a:xfrm>
              <a:off x="16230981" y="629793"/>
              <a:ext cx="2980944" cy="696468"/>
              <a:chOff x="0" y="-38100"/>
              <a:chExt cx="2980944" cy="696468"/>
            </a:xfrm>
          </p:grpSpPr>
          <p:sp>
            <p:nvSpPr>
              <p:cNvPr id="908" name="Google Shape;908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9" name="Google Shape;909;p16"/>
              <p:cNvSpPr txBox="1"/>
              <p:nvPr/>
            </p:nvSpPr>
            <p:spPr>
              <a:xfrm>
                <a:off x="0" y="-38100"/>
                <a:ext cx="2980944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B23A3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73.27%</a:t>
                </a:r>
                <a:endParaRPr/>
              </a:p>
            </p:txBody>
          </p:sp>
        </p:grpSp>
        <p:sp>
          <p:nvSpPr>
            <p:cNvPr id="910" name="Google Shape;910;p16"/>
            <p:cNvSpPr/>
            <p:nvPr/>
          </p:nvSpPr>
          <p:spPr>
            <a:xfrm>
              <a:off x="19202400" y="658368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E9EEF3"/>
            </a:solidFill>
            <a:ln cap="sq" cmpd="sng" w="14275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11" name="Google Shape;911;p16"/>
            <p:cNvGrpSpPr/>
            <p:nvPr/>
          </p:nvGrpSpPr>
          <p:grpSpPr>
            <a:xfrm>
              <a:off x="19211925" y="629793"/>
              <a:ext cx="2980944" cy="696468"/>
              <a:chOff x="0" y="-38100"/>
              <a:chExt cx="2980944" cy="696468"/>
            </a:xfrm>
          </p:grpSpPr>
          <p:sp>
            <p:nvSpPr>
              <p:cNvPr id="912" name="Google Shape;912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3" name="Google Shape;913;p16"/>
              <p:cNvSpPr txBox="1"/>
              <p:nvPr/>
            </p:nvSpPr>
            <p:spPr>
              <a:xfrm>
                <a:off x="0" y="-38100"/>
                <a:ext cx="2980944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0B254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47.34%</a:t>
                </a:r>
                <a:endParaRPr/>
              </a:p>
            </p:txBody>
          </p:sp>
        </p:grpSp>
        <p:sp>
          <p:nvSpPr>
            <p:cNvPr id="914" name="Google Shape;914;p16"/>
            <p:cNvSpPr/>
            <p:nvPr/>
          </p:nvSpPr>
          <p:spPr>
            <a:xfrm>
              <a:off x="0" y="1316736"/>
              <a:ext cx="4316730" cy="677418"/>
            </a:xfrm>
            <a:custGeom>
              <a:rect b="b" l="l" r="r" t="t"/>
              <a:pathLst>
                <a:path extrusionOk="0" h="677418" w="4316730">
                  <a:moveTo>
                    <a:pt x="0" y="0"/>
                  </a:moveTo>
                  <a:lnTo>
                    <a:pt x="4316730" y="0"/>
                  </a:lnTo>
                  <a:lnTo>
                    <a:pt x="4316730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FFFFFF"/>
            </a:solidFill>
            <a:ln cap="sq" cmpd="sng" w="14275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15" name="Google Shape;915;p16"/>
            <p:cNvGrpSpPr/>
            <p:nvPr/>
          </p:nvGrpSpPr>
          <p:grpSpPr>
            <a:xfrm>
              <a:off x="9525" y="1288161"/>
              <a:ext cx="4297680" cy="696468"/>
              <a:chOff x="0" y="-38100"/>
              <a:chExt cx="4297680" cy="696468"/>
            </a:xfrm>
          </p:grpSpPr>
          <p:sp>
            <p:nvSpPr>
              <p:cNvPr id="916" name="Google Shape;916;p16"/>
              <p:cNvSpPr/>
              <p:nvPr/>
            </p:nvSpPr>
            <p:spPr>
              <a:xfrm>
                <a:off x="0" y="0"/>
                <a:ext cx="4297680" cy="658368"/>
              </a:xfrm>
              <a:custGeom>
                <a:rect b="b" l="l" r="r" t="t"/>
                <a:pathLst>
                  <a:path extrusionOk="0" h="658368" w="4297680">
                    <a:moveTo>
                      <a:pt x="0" y="0"/>
                    </a:moveTo>
                    <a:lnTo>
                      <a:pt x="4297680" y="0"/>
                    </a:lnTo>
                    <a:lnTo>
                      <a:pt x="4297680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77194" l="0" r="0" t="-7719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7" name="Google Shape;917;p16"/>
              <p:cNvSpPr txBox="1"/>
              <p:nvPr/>
            </p:nvSpPr>
            <p:spPr>
              <a:xfrm>
                <a:off x="0" y="-38100"/>
                <a:ext cx="4297680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rgbClr val="1329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SpeedyCargo</a:t>
                </a:r>
                <a:endParaRPr/>
              </a:p>
            </p:txBody>
          </p:sp>
        </p:grpSp>
        <p:sp>
          <p:nvSpPr>
            <p:cNvPr id="918" name="Google Shape;918;p16"/>
            <p:cNvSpPr/>
            <p:nvPr/>
          </p:nvSpPr>
          <p:spPr>
            <a:xfrm>
              <a:off x="4297680" y="1316736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ECF7F1"/>
            </a:solidFill>
            <a:ln cap="sq" cmpd="sng" w="14275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19" name="Google Shape;919;p16"/>
            <p:cNvGrpSpPr/>
            <p:nvPr/>
          </p:nvGrpSpPr>
          <p:grpSpPr>
            <a:xfrm>
              <a:off x="4307205" y="1288161"/>
              <a:ext cx="2980944" cy="696468"/>
              <a:chOff x="0" y="-38100"/>
              <a:chExt cx="2980944" cy="696468"/>
            </a:xfrm>
          </p:grpSpPr>
          <p:sp>
            <p:nvSpPr>
              <p:cNvPr id="920" name="Google Shape;920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1" name="Google Shape;921;p16"/>
              <p:cNvSpPr txBox="1"/>
              <p:nvPr/>
            </p:nvSpPr>
            <p:spPr>
              <a:xfrm>
                <a:off x="0" y="-38100"/>
                <a:ext cx="2980944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rgbClr val="1329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30.86%</a:t>
                </a:r>
                <a:endParaRPr/>
              </a:p>
            </p:txBody>
          </p:sp>
        </p:grpSp>
        <p:sp>
          <p:nvSpPr>
            <p:cNvPr id="922" name="Google Shape;922;p16"/>
            <p:cNvSpPr/>
            <p:nvPr/>
          </p:nvSpPr>
          <p:spPr>
            <a:xfrm>
              <a:off x="7278624" y="1316736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FBF3DC"/>
            </a:solidFill>
            <a:ln cap="sq" cmpd="sng" w="14275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23" name="Google Shape;923;p16"/>
            <p:cNvGrpSpPr/>
            <p:nvPr/>
          </p:nvGrpSpPr>
          <p:grpSpPr>
            <a:xfrm>
              <a:off x="7288149" y="1288161"/>
              <a:ext cx="2980944" cy="696468"/>
              <a:chOff x="0" y="-38100"/>
              <a:chExt cx="2980944" cy="696468"/>
            </a:xfrm>
          </p:grpSpPr>
          <p:sp>
            <p:nvSpPr>
              <p:cNvPr id="924" name="Google Shape;924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5" name="Google Shape;925;p16"/>
              <p:cNvSpPr txBox="1"/>
              <p:nvPr/>
            </p:nvSpPr>
            <p:spPr>
              <a:xfrm>
                <a:off x="0" y="-38100"/>
                <a:ext cx="2980944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rgbClr val="1329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40.24%</a:t>
                </a:r>
                <a:endParaRPr/>
              </a:p>
            </p:txBody>
          </p:sp>
        </p:grpSp>
        <p:sp>
          <p:nvSpPr>
            <p:cNvPr id="926" name="Google Shape;926;p16"/>
            <p:cNvSpPr/>
            <p:nvPr/>
          </p:nvSpPr>
          <p:spPr>
            <a:xfrm>
              <a:off x="10259568" y="1316736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FBF3DC"/>
            </a:solidFill>
            <a:ln cap="sq" cmpd="sng" w="14275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27" name="Google Shape;927;p16"/>
            <p:cNvGrpSpPr/>
            <p:nvPr/>
          </p:nvGrpSpPr>
          <p:grpSpPr>
            <a:xfrm>
              <a:off x="10269093" y="1288161"/>
              <a:ext cx="2980944" cy="696468"/>
              <a:chOff x="0" y="-38100"/>
              <a:chExt cx="2980944" cy="696468"/>
            </a:xfrm>
          </p:grpSpPr>
          <p:sp>
            <p:nvSpPr>
              <p:cNvPr id="928" name="Google Shape;928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9" name="Google Shape;929;p16"/>
              <p:cNvSpPr txBox="1"/>
              <p:nvPr/>
            </p:nvSpPr>
            <p:spPr>
              <a:xfrm>
                <a:off x="0" y="-38100"/>
                <a:ext cx="2980944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rgbClr val="1329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43.79%</a:t>
                </a:r>
                <a:endParaRPr/>
              </a:p>
            </p:txBody>
          </p:sp>
        </p:grpSp>
        <p:sp>
          <p:nvSpPr>
            <p:cNvPr id="930" name="Google Shape;930;p16"/>
            <p:cNvSpPr/>
            <p:nvPr/>
          </p:nvSpPr>
          <p:spPr>
            <a:xfrm>
              <a:off x="13240512" y="1316736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F7CFC8"/>
            </a:solidFill>
            <a:ln cap="sq" cmpd="sng" w="14275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31" name="Google Shape;931;p16"/>
            <p:cNvGrpSpPr/>
            <p:nvPr/>
          </p:nvGrpSpPr>
          <p:grpSpPr>
            <a:xfrm>
              <a:off x="13250037" y="1288161"/>
              <a:ext cx="2980944" cy="696468"/>
              <a:chOff x="0" y="-38100"/>
              <a:chExt cx="2980944" cy="696468"/>
            </a:xfrm>
          </p:grpSpPr>
          <p:sp>
            <p:nvSpPr>
              <p:cNvPr id="932" name="Google Shape;932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3" name="Google Shape;933;p16"/>
              <p:cNvSpPr txBox="1"/>
              <p:nvPr/>
            </p:nvSpPr>
            <p:spPr>
              <a:xfrm>
                <a:off x="0" y="-38100"/>
                <a:ext cx="2980944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B23A3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70.79%</a:t>
                </a:r>
                <a:endParaRPr/>
              </a:p>
            </p:txBody>
          </p:sp>
        </p:grpSp>
        <p:sp>
          <p:nvSpPr>
            <p:cNvPr id="934" name="Google Shape;934;p16"/>
            <p:cNvSpPr/>
            <p:nvPr/>
          </p:nvSpPr>
          <p:spPr>
            <a:xfrm>
              <a:off x="16221456" y="1316736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F7CFC8"/>
            </a:solidFill>
            <a:ln cap="sq" cmpd="sng" w="14275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35" name="Google Shape;935;p16"/>
            <p:cNvGrpSpPr/>
            <p:nvPr/>
          </p:nvGrpSpPr>
          <p:grpSpPr>
            <a:xfrm>
              <a:off x="16230981" y="1288161"/>
              <a:ext cx="2980944" cy="696468"/>
              <a:chOff x="0" y="-38100"/>
              <a:chExt cx="2980944" cy="696468"/>
            </a:xfrm>
          </p:grpSpPr>
          <p:sp>
            <p:nvSpPr>
              <p:cNvPr id="936" name="Google Shape;936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7" name="Google Shape;937;p16"/>
              <p:cNvSpPr txBox="1"/>
              <p:nvPr/>
            </p:nvSpPr>
            <p:spPr>
              <a:xfrm>
                <a:off x="0" y="-38100"/>
                <a:ext cx="2980944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B23A3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77.35%</a:t>
                </a:r>
                <a:endParaRPr/>
              </a:p>
            </p:txBody>
          </p:sp>
        </p:grpSp>
        <p:sp>
          <p:nvSpPr>
            <p:cNvPr id="938" name="Google Shape;938;p16"/>
            <p:cNvSpPr/>
            <p:nvPr/>
          </p:nvSpPr>
          <p:spPr>
            <a:xfrm>
              <a:off x="19202400" y="1316736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E9EEF3"/>
            </a:solidFill>
            <a:ln cap="sq" cmpd="sng" w="14275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39" name="Google Shape;939;p16"/>
            <p:cNvGrpSpPr/>
            <p:nvPr/>
          </p:nvGrpSpPr>
          <p:grpSpPr>
            <a:xfrm>
              <a:off x="19211925" y="1288161"/>
              <a:ext cx="2980944" cy="696468"/>
              <a:chOff x="0" y="-38100"/>
              <a:chExt cx="2980944" cy="696468"/>
            </a:xfrm>
          </p:grpSpPr>
          <p:sp>
            <p:nvSpPr>
              <p:cNvPr id="940" name="Google Shape;940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1" name="Google Shape;941;p16"/>
              <p:cNvSpPr txBox="1"/>
              <p:nvPr/>
            </p:nvSpPr>
            <p:spPr>
              <a:xfrm>
                <a:off x="0" y="-38100"/>
                <a:ext cx="2980944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0B254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51.53%</a:t>
                </a:r>
                <a:endParaRPr/>
              </a:p>
            </p:txBody>
          </p:sp>
        </p:grpSp>
        <p:sp>
          <p:nvSpPr>
            <p:cNvPr id="942" name="Google Shape;942;p16"/>
            <p:cNvSpPr/>
            <p:nvPr/>
          </p:nvSpPr>
          <p:spPr>
            <a:xfrm>
              <a:off x="0" y="1975104"/>
              <a:ext cx="4316730" cy="677418"/>
            </a:xfrm>
            <a:custGeom>
              <a:rect b="b" l="l" r="r" t="t"/>
              <a:pathLst>
                <a:path extrusionOk="0" h="677418" w="4316730">
                  <a:moveTo>
                    <a:pt x="0" y="0"/>
                  </a:moveTo>
                  <a:lnTo>
                    <a:pt x="4316730" y="0"/>
                  </a:lnTo>
                  <a:lnTo>
                    <a:pt x="4316730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FFFFFF"/>
            </a:solidFill>
            <a:ln cap="sq" cmpd="sng" w="14275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43" name="Google Shape;943;p16"/>
            <p:cNvGrpSpPr/>
            <p:nvPr/>
          </p:nvGrpSpPr>
          <p:grpSpPr>
            <a:xfrm>
              <a:off x="9525" y="1946529"/>
              <a:ext cx="4297680" cy="696468"/>
              <a:chOff x="0" y="-38100"/>
              <a:chExt cx="4297680" cy="696468"/>
            </a:xfrm>
          </p:grpSpPr>
          <p:sp>
            <p:nvSpPr>
              <p:cNvPr id="944" name="Google Shape;944;p16"/>
              <p:cNvSpPr/>
              <p:nvPr/>
            </p:nvSpPr>
            <p:spPr>
              <a:xfrm>
                <a:off x="0" y="0"/>
                <a:ext cx="4297680" cy="658368"/>
              </a:xfrm>
              <a:custGeom>
                <a:rect b="b" l="l" r="r" t="t"/>
                <a:pathLst>
                  <a:path extrusionOk="0" h="658368" w="4297680">
                    <a:moveTo>
                      <a:pt x="0" y="0"/>
                    </a:moveTo>
                    <a:lnTo>
                      <a:pt x="4297680" y="0"/>
                    </a:lnTo>
                    <a:lnTo>
                      <a:pt x="4297680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77194" l="0" r="0" t="-7719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5" name="Google Shape;945;p16"/>
              <p:cNvSpPr txBox="1"/>
              <p:nvPr/>
            </p:nvSpPr>
            <p:spPr>
              <a:xfrm>
                <a:off x="0" y="-38100"/>
                <a:ext cx="4297680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rgbClr val="1329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ParcelPro</a:t>
                </a:r>
                <a:endParaRPr/>
              </a:p>
            </p:txBody>
          </p:sp>
        </p:grpSp>
        <p:sp>
          <p:nvSpPr>
            <p:cNvPr id="946" name="Google Shape;946;p16"/>
            <p:cNvSpPr/>
            <p:nvPr/>
          </p:nvSpPr>
          <p:spPr>
            <a:xfrm>
              <a:off x="4297680" y="1975104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ECF7F1"/>
            </a:solidFill>
            <a:ln cap="sq" cmpd="sng" w="14275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47" name="Google Shape;947;p16"/>
            <p:cNvGrpSpPr/>
            <p:nvPr/>
          </p:nvGrpSpPr>
          <p:grpSpPr>
            <a:xfrm>
              <a:off x="4307205" y="1946529"/>
              <a:ext cx="2980944" cy="696468"/>
              <a:chOff x="0" y="-38100"/>
              <a:chExt cx="2980944" cy="696468"/>
            </a:xfrm>
          </p:grpSpPr>
          <p:sp>
            <p:nvSpPr>
              <p:cNvPr id="948" name="Google Shape;948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9" name="Google Shape;949;p16"/>
              <p:cNvSpPr txBox="1"/>
              <p:nvPr/>
            </p:nvSpPr>
            <p:spPr>
              <a:xfrm>
                <a:off x="0" y="-38100"/>
                <a:ext cx="2980944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rgbClr val="1329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30.92%</a:t>
                </a:r>
                <a:endParaRPr/>
              </a:p>
            </p:txBody>
          </p:sp>
        </p:grpSp>
        <p:sp>
          <p:nvSpPr>
            <p:cNvPr id="950" name="Google Shape;950;p16"/>
            <p:cNvSpPr/>
            <p:nvPr/>
          </p:nvSpPr>
          <p:spPr>
            <a:xfrm>
              <a:off x="7278624" y="1975104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FBF3DC"/>
            </a:solidFill>
            <a:ln cap="sq" cmpd="sng" w="14275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51" name="Google Shape;951;p16"/>
            <p:cNvGrpSpPr/>
            <p:nvPr/>
          </p:nvGrpSpPr>
          <p:grpSpPr>
            <a:xfrm>
              <a:off x="7288149" y="1946529"/>
              <a:ext cx="2980944" cy="696468"/>
              <a:chOff x="0" y="-38100"/>
              <a:chExt cx="2980944" cy="696468"/>
            </a:xfrm>
          </p:grpSpPr>
          <p:sp>
            <p:nvSpPr>
              <p:cNvPr id="952" name="Google Shape;952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3" name="Google Shape;953;p16"/>
              <p:cNvSpPr txBox="1"/>
              <p:nvPr/>
            </p:nvSpPr>
            <p:spPr>
              <a:xfrm>
                <a:off x="0" y="-38100"/>
                <a:ext cx="2980944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rgbClr val="1329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41.15%</a:t>
                </a:r>
                <a:endParaRPr/>
              </a:p>
            </p:txBody>
          </p:sp>
        </p:grpSp>
        <p:sp>
          <p:nvSpPr>
            <p:cNvPr id="954" name="Google Shape;954;p16"/>
            <p:cNvSpPr/>
            <p:nvPr/>
          </p:nvSpPr>
          <p:spPr>
            <a:xfrm>
              <a:off x="10259568" y="1975104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FBF3DC"/>
            </a:solidFill>
            <a:ln cap="sq" cmpd="sng" w="14275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55" name="Google Shape;955;p16"/>
            <p:cNvGrpSpPr/>
            <p:nvPr/>
          </p:nvGrpSpPr>
          <p:grpSpPr>
            <a:xfrm>
              <a:off x="10269093" y="1946529"/>
              <a:ext cx="2980944" cy="696468"/>
              <a:chOff x="0" y="-38100"/>
              <a:chExt cx="2980944" cy="696468"/>
            </a:xfrm>
          </p:grpSpPr>
          <p:sp>
            <p:nvSpPr>
              <p:cNvPr id="956" name="Google Shape;956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7" name="Google Shape;957;p16"/>
              <p:cNvSpPr txBox="1"/>
              <p:nvPr/>
            </p:nvSpPr>
            <p:spPr>
              <a:xfrm>
                <a:off x="0" y="-38100"/>
                <a:ext cx="2980944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rgbClr val="1329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44.10%</a:t>
                </a:r>
                <a:endParaRPr/>
              </a:p>
            </p:txBody>
          </p:sp>
        </p:grpSp>
        <p:sp>
          <p:nvSpPr>
            <p:cNvPr id="958" name="Google Shape;958;p16"/>
            <p:cNvSpPr/>
            <p:nvPr/>
          </p:nvSpPr>
          <p:spPr>
            <a:xfrm>
              <a:off x="13240512" y="1975104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F7CFC8"/>
            </a:solidFill>
            <a:ln cap="sq" cmpd="sng" w="14275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59" name="Google Shape;959;p16"/>
            <p:cNvGrpSpPr/>
            <p:nvPr/>
          </p:nvGrpSpPr>
          <p:grpSpPr>
            <a:xfrm>
              <a:off x="13250037" y="1946529"/>
              <a:ext cx="2980944" cy="696468"/>
              <a:chOff x="0" y="-38100"/>
              <a:chExt cx="2980944" cy="696468"/>
            </a:xfrm>
          </p:grpSpPr>
          <p:sp>
            <p:nvSpPr>
              <p:cNvPr id="960" name="Google Shape;960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1" name="Google Shape;961;p16"/>
              <p:cNvSpPr txBox="1"/>
              <p:nvPr/>
            </p:nvSpPr>
            <p:spPr>
              <a:xfrm>
                <a:off x="0" y="-38100"/>
                <a:ext cx="2980944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B23A3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71.58%</a:t>
                </a:r>
                <a:endParaRPr/>
              </a:p>
            </p:txBody>
          </p:sp>
        </p:grpSp>
        <p:sp>
          <p:nvSpPr>
            <p:cNvPr id="962" name="Google Shape;962;p16"/>
            <p:cNvSpPr/>
            <p:nvPr/>
          </p:nvSpPr>
          <p:spPr>
            <a:xfrm>
              <a:off x="16221456" y="1975104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F0ABA3"/>
            </a:solidFill>
            <a:ln cap="sq" cmpd="sng" w="14275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63" name="Google Shape;963;p16"/>
            <p:cNvGrpSpPr/>
            <p:nvPr/>
          </p:nvGrpSpPr>
          <p:grpSpPr>
            <a:xfrm>
              <a:off x="16230981" y="1946529"/>
              <a:ext cx="2980944" cy="696468"/>
              <a:chOff x="0" y="-38100"/>
              <a:chExt cx="2980944" cy="696468"/>
            </a:xfrm>
          </p:grpSpPr>
          <p:sp>
            <p:nvSpPr>
              <p:cNvPr id="964" name="Google Shape;964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5" name="Google Shape;965;p16"/>
              <p:cNvSpPr txBox="1"/>
              <p:nvPr/>
            </p:nvSpPr>
            <p:spPr>
              <a:xfrm>
                <a:off x="0" y="-38100"/>
                <a:ext cx="2980944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B23A3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82.93%</a:t>
                </a:r>
                <a:endParaRPr/>
              </a:p>
            </p:txBody>
          </p:sp>
        </p:grpSp>
        <p:sp>
          <p:nvSpPr>
            <p:cNvPr id="966" name="Google Shape;966;p16"/>
            <p:cNvSpPr/>
            <p:nvPr/>
          </p:nvSpPr>
          <p:spPr>
            <a:xfrm>
              <a:off x="19202400" y="1975104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E9EEF3"/>
            </a:solidFill>
            <a:ln cap="sq" cmpd="sng" w="14275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67" name="Google Shape;967;p16"/>
            <p:cNvGrpSpPr/>
            <p:nvPr/>
          </p:nvGrpSpPr>
          <p:grpSpPr>
            <a:xfrm>
              <a:off x="19211925" y="1946529"/>
              <a:ext cx="2980944" cy="696468"/>
              <a:chOff x="0" y="-38100"/>
              <a:chExt cx="2980944" cy="696468"/>
            </a:xfrm>
          </p:grpSpPr>
          <p:sp>
            <p:nvSpPr>
              <p:cNvPr id="968" name="Google Shape;968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9" name="Google Shape;969;p16"/>
              <p:cNvSpPr txBox="1"/>
              <p:nvPr/>
            </p:nvSpPr>
            <p:spPr>
              <a:xfrm>
                <a:off x="0" y="-38100"/>
                <a:ext cx="2980944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0B254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52.06%</a:t>
                </a:r>
                <a:endParaRPr/>
              </a:p>
            </p:txBody>
          </p:sp>
        </p:grpSp>
        <p:sp>
          <p:nvSpPr>
            <p:cNvPr id="970" name="Google Shape;970;p16"/>
            <p:cNvSpPr/>
            <p:nvPr/>
          </p:nvSpPr>
          <p:spPr>
            <a:xfrm>
              <a:off x="0" y="2633472"/>
              <a:ext cx="4316730" cy="677418"/>
            </a:xfrm>
            <a:custGeom>
              <a:rect b="b" l="l" r="r" t="t"/>
              <a:pathLst>
                <a:path extrusionOk="0" h="677418" w="4316730">
                  <a:moveTo>
                    <a:pt x="0" y="0"/>
                  </a:moveTo>
                  <a:lnTo>
                    <a:pt x="4316730" y="0"/>
                  </a:lnTo>
                  <a:lnTo>
                    <a:pt x="4316730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FFFFFF"/>
            </a:solidFill>
            <a:ln cap="sq" cmpd="sng" w="14275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71" name="Google Shape;971;p16"/>
            <p:cNvGrpSpPr/>
            <p:nvPr/>
          </p:nvGrpSpPr>
          <p:grpSpPr>
            <a:xfrm>
              <a:off x="9525" y="2604897"/>
              <a:ext cx="4297680" cy="696468"/>
              <a:chOff x="0" y="-38100"/>
              <a:chExt cx="4297680" cy="696468"/>
            </a:xfrm>
          </p:grpSpPr>
          <p:sp>
            <p:nvSpPr>
              <p:cNvPr id="972" name="Google Shape;972;p16"/>
              <p:cNvSpPr/>
              <p:nvPr/>
            </p:nvSpPr>
            <p:spPr>
              <a:xfrm>
                <a:off x="0" y="0"/>
                <a:ext cx="4297680" cy="658368"/>
              </a:xfrm>
              <a:custGeom>
                <a:rect b="b" l="l" r="r" t="t"/>
                <a:pathLst>
                  <a:path extrusionOk="0" h="658368" w="4297680">
                    <a:moveTo>
                      <a:pt x="0" y="0"/>
                    </a:moveTo>
                    <a:lnTo>
                      <a:pt x="4297680" y="0"/>
                    </a:lnTo>
                    <a:lnTo>
                      <a:pt x="4297680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77194" l="0" r="0" t="-7719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3" name="Google Shape;973;p16"/>
              <p:cNvSpPr txBox="1"/>
              <p:nvPr/>
            </p:nvSpPr>
            <p:spPr>
              <a:xfrm>
                <a:off x="0" y="-38100"/>
                <a:ext cx="4297680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rgbClr val="1329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EagleCourier</a:t>
                </a:r>
                <a:endParaRPr/>
              </a:p>
            </p:txBody>
          </p:sp>
        </p:grpSp>
        <p:sp>
          <p:nvSpPr>
            <p:cNvPr id="974" name="Google Shape;974;p16"/>
            <p:cNvSpPr/>
            <p:nvPr/>
          </p:nvSpPr>
          <p:spPr>
            <a:xfrm>
              <a:off x="4297680" y="2633472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ECF7F1"/>
            </a:solidFill>
            <a:ln cap="sq" cmpd="sng" w="14275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75" name="Google Shape;975;p16"/>
            <p:cNvGrpSpPr/>
            <p:nvPr/>
          </p:nvGrpSpPr>
          <p:grpSpPr>
            <a:xfrm>
              <a:off x="4307205" y="2604897"/>
              <a:ext cx="2980944" cy="696468"/>
              <a:chOff x="0" y="-38100"/>
              <a:chExt cx="2980944" cy="696468"/>
            </a:xfrm>
          </p:grpSpPr>
          <p:sp>
            <p:nvSpPr>
              <p:cNvPr id="976" name="Google Shape;976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7" name="Google Shape;977;p16"/>
              <p:cNvSpPr txBox="1"/>
              <p:nvPr/>
            </p:nvSpPr>
            <p:spPr>
              <a:xfrm>
                <a:off x="0" y="-38100"/>
                <a:ext cx="2980944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rgbClr val="1329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35.87%</a:t>
                </a:r>
                <a:endParaRPr/>
              </a:p>
            </p:txBody>
          </p:sp>
        </p:grpSp>
        <p:sp>
          <p:nvSpPr>
            <p:cNvPr id="978" name="Google Shape;978;p16"/>
            <p:cNvSpPr/>
            <p:nvPr/>
          </p:nvSpPr>
          <p:spPr>
            <a:xfrm>
              <a:off x="7278624" y="2633472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FBF3DC"/>
            </a:solidFill>
            <a:ln cap="sq" cmpd="sng" w="14275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79" name="Google Shape;979;p16"/>
            <p:cNvGrpSpPr/>
            <p:nvPr/>
          </p:nvGrpSpPr>
          <p:grpSpPr>
            <a:xfrm>
              <a:off x="7288149" y="2604897"/>
              <a:ext cx="2980944" cy="696468"/>
              <a:chOff x="0" y="-38100"/>
              <a:chExt cx="2980944" cy="696468"/>
            </a:xfrm>
          </p:grpSpPr>
          <p:sp>
            <p:nvSpPr>
              <p:cNvPr id="980" name="Google Shape;980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1" name="Google Shape;981;p16"/>
              <p:cNvSpPr txBox="1"/>
              <p:nvPr/>
            </p:nvSpPr>
            <p:spPr>
              <a:xfrm>
                <a:off x="0" y="-38100"/>
                <a:ext cx="2980944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rgbClr val="1329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41.79%</a:t>
                </a:r>
                <a:endParaRPr/>
              </a:p>
            </p:txBody>
          </p:sp>
        </p:grpSp>
        <p:sp>
          <p:nvSpPr>
            <p:cNvPr id="982" name="Google Shape;982;p16"/>
            <p:cNvSpPr/>
            <p:nvPr/>
          </p:nvSpPr>
          <p:spPr>
            <a:xfrm>
              <a:off x="10259568" y="2633472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FBF3DC"/>
            </a:solidFill>
            <a:ln cap="sq" cmpd="sng" w="14275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3" name="Google Shape;983;p16"/>
            <p:cNvGrpSpPr/>
            <p:nvPr/>
          </p:nvGrpSpPr>
          <p:grpSpPr>
            <a:xfrm>
              <a:off x="10269093" y="2604897"/>
              <a:ext cx="2980944" cy="696468"/>
              <a:chOff x="0" y="-38100"/>
              <a:chExt cx="2980944" cy="696468"/>
            </a:xfrm>
          </p:grpSpPr>
          <p:sp>
            <p:nvSpPr>
              <p:cNvPr id="984" name="Google Shape;984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5" name="Google Shape;985;p16"/>
              <p:cNvSpPr txBox="1"/>
              <p:nvPr/>
            </p:nvSpPr>
            <p:spPr>
              <a:xfrm>
                <a:off x="0" y="-38100"/>
                <a:ext cx="2980944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rgbClr val="1329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47.82%</a:t>
                </a:r>
                <a:endParaRPr/>
              </a:p>
            </p:txBody>
          </p:sp>
        </p:grpSp>
        <p:sp>
          <p:nvSpPr>
            <p:cNvPr id="986" name="Google Shape;986;p16"/>
            <p:cNvSpPr/>
            <p:nvPr/>
          </p:nvSpPr>
          <p:spPr>
            <a:xfrm>
              <a:off x="13240512" y="2633472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F7CFC8"/>
            </a:solidFill>
            <a:ln cap="sq" cmpd="sng" w="14275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7" name="Google Shape;987;p16"/>
            <p:cNvGrpSpPr/>
            <p:nvPr/>
          </p:nvGrpSpPr>
          <p:grpSpPr>
            <a:xfrm>
              <a:off x="13250037" y="2604897"/>
              <a:ext cx="2980944" cy="696468"/>
              <a:chOff x="0" y="-38100"/>
              <a:chExt cx="2980944" cy="696468"/>
            </a:xfrm>
          </p:grpSpPr>
          <p:sp>
            <p:nvSpPr>
              <p:cNvPr id="988" name="Google Shape;988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9" name="Google Shape;989;p16"/>
              <p:cNvSpPr txBox="1"/>
              <p:nvPr/>
            </p:nvSpPr>
            <p:spPr>
              <a:xfrm>
                <a:off x="0" y="-38100"/>
                <a:ext cx="2980944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B23A3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74.63%</a:t>
                </a:r>
                <a:endParaRPr/>
              </a:p>
            </p:txBody>
          </p:sp>
        </p:grpSp>
        <p:sp>
          <p:nvSpPr>
            <p:cNvPr id="990" name="Google Shape;990;p16"/>
            <p:cNvSpPr/>
            <p:nvPr/>
          </p:nvSpPr>
          <p:spPr>
            <a:xfrm>
              <a:off x="16221456" y="2633472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F0ABA3"/>
            </a:solidFill>
            <a:ln cap="sq" cmpd="sng" w="14275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91" name="Google Shape;991;p16"/>
            <p:cNvGrpSpPr/>
            <p:nvPr/>
          </p:nvGrpSpPr>
          <p:grpSpPr>
            <a:xfrm>
              <a:off x="16230981" y="2604897"/>
              <a:ext cx="2980944" cy="696468"/>
              <a:chOff x="0" y="-38100"/>
              <a:chExt cx="2980944" cy="696468"/>
            </a:xfrm>
          </p:grpSpPr>
          <p:sp>
            <p:nvSpPr>
              <p:cNvPr id="992" name="Google Shape;992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3" name="Google Shape;993;p16"/>
              <p:cNvSpPr txBox="1"/>
              <p:nvPr/>
            </p:nvSpPr>
            <p:spPr>
              <a:xfrm>
                <a:off x="0" y="-38100"/>
                <a:ext cx="2980944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B23A3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83.48%</a:t>
                </a:r>
                <a:endParaRPr/>
              </a:p>
            </p:txBody>
          </p:sp>
        </p:grpSp>
        <p:sp>
          <p:nvSpPr>
            <p:cNvPr id="994" name="Google Shape;994;p16"/>
            <p:cNvSpPr/>
            <p:nvPr/>
          </p:nvSpPr>
          <p:spPr>
            <a:xfrm>
              <a:off x="19202400" y="2633472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E9EEF3"/>
            </a:solidFill>
            <a:ln cap="sq" cmpd="sng" w="14275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95" name="Google Shape;995;p16"/>
            <p:cNvGrpSpPr/>
            <p:nvPr/>
          </p:nvGrpSpPr>
          <p:grpSpPr>
            <a:xfrm>
              <a:off x="19211925" y="2604897"/>
              <a:ext cx="2980944" cy="696468"/>
              <a:chOff x="0" y="-38100"/>
              <a:chExt cx="2980944" cy="696468"/>
            </a:xfrm>
          </p:grpSpPr>
          <p:sp>
            <p:nvSpPr>
              <p:cNvPr id="996" name="Google Shape;996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7" name="Google Shape;997;p16"/>
              <p:cNvSpPr txBox="1"/>
              <p:nvPr/>
            </p:nvSpPr>
            <p:spPr>
              <a:xfrm>
                <a:off x="0" y="-38100"/>
                <a:ext cx="2980944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0B254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54.87%</a:t>
                </a:r>
                <a:endParaRPr/>
              </a:p>
            </p:txBody>
          </p:sp>
        </p:grpSp>
        <p:sp>
          <p:nvSpPr>
            <p:cNvPr id="998" name="Google Shape;998;p16"/>
            <p:cNvSpPr/>
            <p:nvPr/>
          </p:nvSpPr>
          <p:spPr>
            <a:xfrm>
              <a:off x="0" y="3291840"/>
              <a:ext cx="4316730" cy="677418"/>
            </a:xfrm>
            <a:custGeom>
              <a:rect b="b" l="l" r="r" t="t"/>
              <a:pathLst>
                <a:path extrusionOk="0" h="677418" w="4316730">
                  <a:moveTo>
                    <a:pt x="0" y="0"/>
                  </a:moveTo>
                  <a:lnTo>
                    <a:pt x="4316730" y="0"/>
                  </a:lnTo>
                  <a:lnTo>
                    <a:pt x="4316730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FFFFFF"/>
            </a:solidFill>
            <a:ln cap="sq" cmpd="sng" w="14275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99" name="Google Shape;999;p16"/>
            <p:cNvGrpSpPr/>
            <p:nvPr/>
          </p:nvGrpSpPr>
          <p:grpSpPr>
            <a:xfrm>
              <a:off x="9525" y="3263265"/>
              <a:ext cx="4297680" cy="696468"/>
              <a:chOff x="0" y="-38100"/>
              <a:chExt cx="4297680" cy="696468"/>
            </a:xfrm>
          </p:grpSpPr>
          <p:sp>
            <p:nvSpPr>
              <p:cNvPr id="1000" name="Google Shape;1000;p16"/>
              <p:cNvSpPr/>
              <p:nvPr/>
            </p:nvSpPr>
            <p:spPr>
              <a:xfrm>
                <a:off x="0" y="0"/>
                <a:ext cx="4297680" cy="658368"/>
              </a:xfrm>
              <a:custGeom>
                <a:rect b="b" l="l" r="r" t="t"/>
                <a:pathLst>
                  <a:path extrusionOk="0" h="658368" w="4297680">
                    <a:moveTo>
                      <a:pt x="0" y="0"/>
                    </a:moveTo>
                    <a:lnTo>
                      <a:pt x="4297680" y="0"/>
                    </a:lnTo>
                    <a:lnTo>
                      <a:pt x="4297680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77194" l="0" r="0" t="-7719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1" name="Google Shape;1001;p16"/>
              <p:cNvSpPr txBox="1"/>
              <p:nvPr/>
            </p:nvSpPr>
            <p:spPr>
              <a:xfrm>
                <a:off x="0" y="-38100"/>
                <a:ext cx="4297680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rgbClr val="1329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FastTrack Logistics</a:t>
                </a:r>
                <a:endParaRPr/>
              </a:p>
            </p:txBody>
          </p:sp>
        </p:grpSp>
        <p:sp>
          <p:nvSpPr>
            <p:cNvPr id="1002" name="Google Shape;1002;p16"/>
            <p:cNvSpPr/>
            <p:nvPr/>
          </p:nvSpPr>
          <p:spPr>
            <a:xfrm>
              <a:off x="4297680" y="3291840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ECF7F1"/>
            </a:solidFill>
            <a:ln cap="sq" cmpd="sng" w="14275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03" name="Google Shape;1003;p16"/>
            <p:cNvGrpSpPr/>
            <p:nvPr/>
          </p:nvGrpSpPr>
          <p:grpSpPr>
            <a:xfrm>
              <a:off x="4307205" y="3263265"/>
              <a:ext cx="2980944" cy="696468"/>
              <a:chOff x="0" y="-38100"/>
              <a:chExt cx="2980944" cy="696468"/>
            </a:xfrm>
          </p:grpSpPr>
          <p:sp>
            <p:nvSpPr>
              <p:cNvPr id="1004" name="Google Shape;1004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5" name="Google Shape;1005;p16"/>
              <p:cNvSpPr txBox="1"/>
              <p:nvPr/>
            </p:nvSpPr>
            <p:spPr>
              <a:xfrm>
                <a:off x="0" y="-38100"/>
                <a:ext cx="2980944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rgbClr val="1329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35.23%</a:t>
                </a:r>
                <a:endParaRPr/>
              </a:p>
            </p:txBody>
          </p:sp>
        </p:grpSp>
        <p:sp>
          <p:nvSpPr>
            <p:cNvPr id="1006" name="Google Shape;1006;p16"/>
            <p:cNvSpPr/>
            <p:nvPr/>
          </p:nvSpPr>
          <p:spPr>
            <a:xfrm>
              <a:off x="7278624" y="3291840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FBF3DC"/>
            </a:solidFill>
            <a:ln cap="sq" cmpd="sng" w="14275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07" name="Google Shape;1007;p16"/>
            <p:cNvGrpSpPr/>
            <p:nvPr/>
          </p:nvGrpSpPr>
          <p:grpSpPr>
            <a:xfrm>
              <a:off x="7288149" y="3263265"/>
              <a:ext cx="2980944" cy="696468"/>
              <a:chOff x="0" y="-38100"/>
              <a:chExt cx="2980944" cy="696468"/>
            </a:xfrm>
          </p:grpSpPr>
          <p:sp>
            <p:nvSpPr>
              <p:cNvPr id="1008" name="Google Shape;1008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9" name="Google Shape;1009;p16"/>
              <p:cNvSpPr txBox="1"/>
              <p:nvPr/>
            </p:nvSpPr>
            <p:spPr>
              <a:xfrm>
                <a:off x="0" y="-38100"/>
                <a:ext cx="2980944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rgbClr val="1329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44.56%</a:t>
                </a:r>
                <a:endParaRPr/>
              </a:p>
            </p:txBody>
          </p:sp>
        </p:grpSp>
        <p:sp>
          <p:nvSpPr>
            <p:cNvPr id="1010" name="Google Shape;1010;p16"/>
            <p:cNvSpPr/>
            <p:nvPr/>
          </p:nvSpPr>
          <p:spPr>
            <a:xfrm>
              <a:off x="10259568" y="3291840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FBE4C2"/>
            </a:solidFill>
            <a:ln cap="sq" cmpd="sng" w="14275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11" name="Google Shape;1011;p16"/>
            <p:cNvGrpSpPr/>
            <p:nvPr/>
          </p:nvGrpSpPr>
          <p:grpSpPr>
            <a:xfrm>
              <a:off x="10269093" y="3263265"/>
              <a:ext cx="2980944" cy="696468"/>
              <a:chOff x="0" y="-38100"/>
              <a:chExt cx="2980944" cy="696468"/>
            </a:xfrm>
          </p:grpSpPr>
          <p:sp>
            <p:nvSpPr>
              <p:cNvPr id="1012" name="Google Shape;1012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3" name="Google Shape;1013;p16"/>
              <p:cNvSpPr txBox="1"/>
              <p:nvPr/>
            </p:nvSpPr>
            <p:spPr>
              <a:xfrm>
                <a:off x="0" y="-38100"/>
                <a:ext cx="2980944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rgbClr val="1329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51.26%</a:t>
                </a:r>
                <a:endParaRPr/>
              </a:p>
            </p:txBody>
          </p:sp>
        </p:grpSp>
        <p:sp>
          <p:nvSpPr>
            <p:cNvPr id="1014" name="Google Shape;1014;p16"/>
            <p:cNvSpPr/>
            <p:nvPr/>
          </p:nvSpPr>
          <p:spPr>
            <a:xfrm>
              <a:off x="13240512" y="3291840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F7CFC8"/>
            </a:solidFill>
            <a:ln cap="sq" cmpd="sng" w="14275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15" name="Google Shape;1015;p16"/>
            <p:cNvGrpSpPr/>
            <p:nvPr/>
          </p:nvGrpSpPr>
          <p:grpSpPr>
            <a:xfrm>
              <a:off x="13250037" y="3263265"/>
              <a:ext cx="2980944" cy="696468"/>
              <a:chOff x="0" y="-38100"/>
              <a:chExt cx="2980944" cy="696468"/>
            </a:xfrm>
          </p:grpSpPr>
          <p:sp>
            <p:nvSpPr>
              <p:cNvPr id="1016" name="Google Shape;1016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7" name="Google Shape;1017;p16"/>
              <p:cNvSpPr txBox="1"/>
              <p:nvPr/>
            </p:nvSpPr>
            <p:spPr>
              <a:xfrm>
                <a:off x="0" y="-38100"/>
                <a:ext cx="2980944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B23A3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75.24%</a:t>
                </a:r>
                <a:endParaRPr/>
              </a:p>
            </p:txBody>
          </p:sp>
        </p:grpSp>
        <p:sp>
          <p:nvSpPr>
            <p:cNvPr id="1018" name="Google Shape;1018;p16"/>
            <p:cNvSpPr/>
            <p:nvPr/>
          </p:nvSpPr>
          <p:spPr>
            <a:xfrm>
              <a:off x="16221456" y="3291840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F0ABA3"/>
            </a:solidFill>
            <a:ln cap="sq" cmpd="sng" w="14275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19" name="Google Shape;1019;p16"/>
            <p:cNvGrpSpPr/>
            <p:nvPr/>
          </p:nvGrpSpPr>
          <p:grpSpPr>
            <a:xfrm>
              <a:off x="16230981" y="3263265"/>
              <a:ext cx="2980944" cy="696468"/>
              <a:chOff x="0" y="-38100"/>
              <a:chExt cx="2980944" cy="696468"/>
            </a:xfrm>
          </p:grpSpPr>
          <p:sp>
            <p:nvSpPr>
              <p:cNvPr id="1020" name="Google Shape;1020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1" name="Google Shape;1021;p16"/>
              <p:cNvSpPr txBox="1"/>
              <p:nvPr/>
            </p:nvSpPr>
            <p:spPr>
              <a:xfrm>
                <a:off x="0" y="-38100"/>
                <a:ext cx="2980944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B23A3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81.71%</a:t>
                </a:r>
                <a:endParaRPr/>
              </a:p>
            </p:txBody>
          </p:sp>
        </p:grpSp>
        <p:sp>
          <p:nvSpPr>
            <p:cNvPr id="1022" name="Google Shape;1022;p16"/>
            <p:cNvSpPr/>
            <p:nvPr/>
          </p:nvSpPr>
          <p:spPr>
            <a:xfrm>
              <a:off x="19202400" y="3291840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E9EEF3"/>
            </a:solidFill>
            <a:ln cap="sq" cmpd="sng" w="14275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23" name="Google Shape;1023;p16"/>
            <p:cNvGrpSpPr/>
            <p:nvPr/>
          </p:nvGrpSpPr>
          <p:grpSpPr>
            <a:xfrm>
              <a:off x="19211925" y="3263265"/>
              <a:ext cx="2980944" cy="696468"/>
              <a:chOff x="0" y="-38100"/>
              <a:chExt cx="2980944" cy="696468"/>
            </a:xfrm>
          </p:grpSpPr>
          <p:sp>
            <p:nvSpPr>
              <p:cNvPr id="1024" name="Google Shape;1024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5" name="Google Shape;1025;p16"/>
              <p:cNvSpPr txBox="1"/>
              <p:nvPr/>
            </p:nvSpPr>
            <p:spPr>
              <a:xfrm>
                <a:off x="0" y="-38100"/>
                <a:ext cx="2980944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0B254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56.57%</a:t>
                </a:r>
                <a:endParaRPr/>
              </a:p>
            </p:txBody>
          </p:sp>
        </p:grpSp>
        <p:sp>
          <p:nvSpPr>
            <p:cNvPr id="1026" name="Google Shape;1026;p16"/>
            <p:cNvSpPr/>
            <p:nvPr/>
          </p:nvSpPr>
          <p:spPr>
            <a:xfrm>
              <a:off x="0" y="3950208"/>
              <a:ext cx="4316730" cy="677418"/>
            </a:xfrm>
            <a:custGeom>
              <a:rect b="b" l="l" r="r" t="t"/>
              <a:pathLst>
                <a:path extrusionOk="0" h="677418" w="4316730">
                  <a:moveTo>
                    <a:pt x="0" y="0"/>
                  </a:moveTo>
                  <a:lnTo>
                    <a:pt x="4316730" y="0"/>
                  </a:lnTo>
                  <a:lnTo>
                    <a:pt x="4316730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FFFFFF"/>
            </a:solidFill>
            <a:ln cap="sq" cmpd="sng" w="14275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27" name="Google Shape;1027;p16"/>
            <p:cNvGrpSpPr/>
            <p:nvPr/>
          </p:nvGrpSpPr>
          <p:grpSpPr>
            <a:xfrm>
              <a:off x="9525" y="3921633"/>
              <a:ext cx="4297680" cy="696468"/>
              <a:chOff x="0" y="-38100"/>
              <a:chExt cx="4297680" cy="696468"/>
            </a:xfrm>
          </p:grpSpPr>
          <p:sp>
            <p:nvSpPr>
              <p:cNvPr id="1028" name="Google Shape;1028;p16"/>
              <p:cNvSpPr/>
              <p:nvPr/>
            </p:nvSpPr>
            <p:spPr>
              <a:xfrm>
                <a:off x="0" y="0"/>
                <a:ext cx="4297680" cy="658368"/>
              </a:xfrm>
              <a:custGeom>
                <a:rect b="b" l="l" r="r" t="t"/>
                <a:pathLst>
                  <a:path extrusionOk="0" h="658368" w="4297680">
                    <a:moveTo>
                      <a:pt x="0" y="0"/>
                    </a:moveTo>
                    <a:lnTo>
                      <a:pt x="4297680" y="0"/>
                    </a:lnTo>
                    <a:lnTo>
                      <a:pt x="4297680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77194" l="0" r="0" t="-7719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9" name="Google Shape;1029;p16"/>
              <p:cNvSpPr txBox="1"/>
              <p:nvPr/>
            </p:nvSpPr>
            <p:spPr>
              <a:xfrm>
                <a:off x="0" y="-38100"/>
                <a:ext cx="4297680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rgbClr val="1329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BlueRoute</a:t>
                </a:r>
                <a:endParaRPr/>
              </a:p>
            </p:txBody>
          </p:sp>
        </p:grpSp>
        <p:sp>
          <p:nvSpPr>
            <p:cNvPr id="1030" name="Google Shape;1030;p16"/>
            <p:cNvSpPr/>
            <p:nvPr/>
          </p:nvSpPr>
          <p:spPr>
            <a:xfrm>
              <a:off x="4297680" y="3950208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ECF7F1"/>
            </a:solidFill>
            <a:ln cap="sq" cmpd="sng" w="14275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31" name="Google Shape;1031;p16"/>
            <p:cNvGrpSpPr/>
            <p:nvPr/>
          </p:nvGrpSpPr>
          <p:grpSpPr>
            <a:xfrm>
              <a:off x="4307205" y="3921633"/>
              <a:ext cx="2980944" cy="696468"/>
              <a:chOff x="0" y="-38100"/>
              <a:chExt cx="2980944" cy="696468"/>
            </a:xfrm>
          </p:grpSpPr>
          <p:sp>
            <p:nvSpPr>
              <p:cNvPr id="1032" name="Google Shape;1032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3" name="Google Shape;1033;p16"/>
              <p:cNvSpPr txBox="1"/>
              <p:nvPr/>
            </p:nvSpPr>
            <p:spPr>
              <a:xfrm>
                <a:off x="0" y="-38100"/>
                <a:ext cx="2980944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rgbClr val="1329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39.89%</a:t>
                </a:r>
                <a:endParaRPr/>
              </a:p>
            </p:txBody>
          </p:sp>
        </p:grpSp>
        <p:sp>
          <p:nvSpPr>
            <p:cNvPr id="1034" name="Google Shape;1034;p16"/>
            <p:cNvSpPr/>
            <p:nvPr/>
          </p:nvSpPr>
          <p:spPr>
            <a:xfrm>
              <a:off x="7278624" y="3950208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FBF3DC"/>
            </a:solidFill>
            <a:ln cap="sq" cmpd="sng" w="14275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35" name="Google Shape;1035;p16"/>
            <p:cNvGrpSpPr/>
            <p:nvPr/>
          </p:nvGrpSpPr>
          <p:grpSpPr>
            <a:xfrm>
              <a:off x="7288149" y="3921633"/>
              <a:ext cx="2980944" cy="696468"/>
              <a:chOff x="0" y="-38100"/>
              <a:chExt cx="2980944" cy="696468"/>
            </a:xfrm>
          </p:grpSpPr>
          <p:sp>
            <p:nvSpPr>
              <p:cNvPr id="1036" name="Google Shape;1036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7" name="Google Shape;1037;p16"/>
              <p:cNvSpPr txBox="1"/>
              <p:nvPr/>
            </p:nvSpPr>
            <p:spPr>
              <a:xfrm>
                <a:off x="0" y="-38100"/>
                <a:ext cx="2980944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rgbClr val="1329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49.86%</a:t>
                </a:r>
                <a:endParaRPr/>
              </a:p>
            </p:txBody>
          </p:sp>
        </p:grpSp>
        <p:sp>
          <p:nvSpPr>
            <p:cNvPr id="1038" name="Google Shape;1038;p16"/>
            <p:cNvSpPr/>
            <p:nvPr/>
          </p:nvSpPr>
          <p:spPr>
            <a:xfrm>
              <a:off x="10259568" y="3950208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FBE4C2"/>
            </a:solidFill>
            <a:ln cap="sq" cmpd="sng" w="14275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39" name="Google Shape;1039;p16"/>
            <p:cNvGrpSpPr/>
            <p:nvPr/>
          </p:nvGrpSpPr>
          <p:grpSpPr>
            <a:xfrm>
              <a:off x="10269093" y="3921633"/>
              <a:ext cx="2980944" cy="696468"/>
              <a:chOff x="0" y="-38100"/>
              <a:chExt cx="2980944" cy="696468"/>
            </a:xfrm>
          </p:grpSpPr>
          <p:sp>
            <p:nvSpPr>
              <p:cNvPr id="1040" name="Google Shape;1040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1" name="Google Shape;1041;p16"/>
              <p:cNvSpPr txBox="1"/>
              <p:nvPr/>
            </p:nvSpPr>
            <p:spPr>
              <a:xfrm>
                <a:off x="0" y="-38100"/>
                <a:ext cx="2980944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rgbClr val="1329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54.70%</a:t>
                </a:r>
                <a:endParaRPr/>
              </a:p>
            </p:txBody>
          </p:sp>
        </p:grpSp>
        <p:sp>
          <p:nvSpPr>
            <p:cNvPr id="1042" name="Google Shape;1042;p16"/>
            <p:cNvSpPr/>
            <p:nvPr/>
          </p:nvSpPr>
          <p:spPr>
            <a:xfrm>
              <a:off x="13240512" y="3950208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F7CFC8"/>
            </a:solidFill>
            <a:ln cap="sq" cmpd="sng" w="14275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43" name="Google Shape;1043;p16"/>
            <p:cNvGrpSpPr/>
            <p:nvPr/>
          </p:nvGrpSpPr>
          <p:grpSpPr>
            <a:xfrm>
              <a:off x="13250037" y="3921633"/>
              <a:ext cx="2980944" cy="696468"/>
              <a:chOff x="0" y="-38100"/>
              <a:chExt cx="2980944" cy="696468"/>
            </a:xfrm>
          </p:grpSpPr>
          <p:sp>
            <p:nvSpPr>
              <p:cNvPr id="1044" name="Google Shape;1044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5" name="Google Shape;1045;p16"/>
              <p:cNvSpPr txBox="1"/>
              <p:nvPr/>
            </p:nvSpPr>
            <p:spPr>
              <a:xfrm>
                <a:off x="0" y="-38100"/>
                <a:ext cx="2980944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B23A3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79.68%</a:t>
                </a:r>
                <a:endParaRPr/>
              </a:p>
            </p:txBody>
          </p:sp>
        </p:grpSp>
        <p:sp>
          <p:nvSpPr>
            <p:cNvPr id="1046" name="Google Shape;1046;p16"/>
            <p:cNvSpPr/>
            <p:nvPr/>
          </p:nvSpPr>
          <p:spPr>
            <a:xfrm>
              <a:off x="16221456" y="3950208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F0ABA3"/>
            </a:solidFill>
            <a:ln cap="sq" cmpd="sng" w="14275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47" name="Google Shape;1047;p16"/>
            <p:cNvGrpSpPr/>
            <p:nvPr/>
          </p:nvGrpSpPr>
          <p:grpSpPr>
            <a:xfrm>
              <a:off x="16230981" y="3921633"/>
              <a:ext cx="2980944" cy="696468"/>
              <a:chOff x="0" y="-38100"/>
              <a:chExt cx="2980944" cy="696468"/>
            </a:xfrm>
          </p:grpSpPr>
          <p:sp>
            <p:nvSpPr>
              <p:cNvPr id="1048" name="Google Shape;1048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9" name="Google Shape;1049;p16"/>
              <p:cNvSpPr txBox="1"/>
              <p:nvPr/>
            </p:nvSpPr>
            <p:spPr>
              <a:xfrm>
                <a:off x="0" y="-38100"/>
                <a:ext cx="2980944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B23A3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86.36%</a:t>
                </a:r>
                <a:endParaRPr/>
              </a:p>
            </p:txBody>
          </p:sp>
        </p:grpSp>
        <p:sp>
          <p:nvSpPr>
            <p:cNvPr id="1050" name="Google Shape;1050;p16"/>
            <p:cNvSpPr/>
            <p:nvPr/>
          </p:nvSpPr>
          <p:spPr>
            <a:xfrm>
              <a:off x="19202400" y="3950208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E9EEF3"/>
            </a:solidFill>
            <a:ln cap="sq" cmpd="sng" w="14275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51" name="Google Shape;1051;p16"/>
            <p:cNvGrpSpPr/>
            <p:nvPr/>
          </p:nvGrpSpPr>
          <p:grpSpPr>
            <a:xfrm>
              <a:off x="19211925" y="3921633"/>
              <a:ext cx="2980944" cy="696468"/>
              <a:chOff x="0" y="-38100"/>
              <a:chExt cx="2980944" cy="696468"/>
            </a:xfrm>
          </p:grpSpPr>
          <p:sp>
            <p:nvSpPr>
              <p:cNvPr id="1052" name="Google Shape;1052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3" name="Google Shape;1053;p16"/>
              <p:cNvSpPr txBox="1"/>
              <p:nvPr/>
            </p:nvSpPr>
            <p:spPr>
              <a:xfrm>
                <a:off x="0" y="-38100"/>
                <a:ext cx="2980944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0B254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61.03%</a:t>
                </a:r>
                <a:endParaRPr/>
              </a:p>
            </p:txBody>
          </p:sp>
        </p:grpSp>
        <p:sp>
          <p:nvSpPr>
            <p:cNvPr id="1054" name="Google Shape;1054;p16"/>
            <p:cNvSpPr/>
            <p:nvPr/>
          </p:nvSpPr>
          <p:spPr>
            <a:xfrm>
              <a:off x="0" y="4608576"/>
              <a:ext cx="4316730" cy="677418"/>
            </a:xfrm>
            <a:custGeom>
              <a:rect b="b" l="l" r="r" t="t"/>
              <a:pathLst>
                <a:path extrusionOk="0" h="677418" w="4316730">
                  <a:moveTo>
                    <a:pt x="0" y="0"/>
                  </a:moveTo>
                  <a:lnTo>
                    <a:pt x="4316730" y="0"/>
                  </a:lnTo>
                  <a:lnTo>
                    <a:pt x="4316730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FFFFFF"/>
            </a:solidFill>
            <a:ln cap="sq" cmpd="sng" w="14275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55" name="Google Shape;1055;p16"/>
            <p:cNvGrpSpPr/>
            <p:nvPr/>
          </p:nvGrpSpPr>
          <p:grpSpPr>
            <a:xfrm>
              <a:off x="9525" y="4580001"/>
              <a:ext cx="4297680" cy="696468"/>
              <a:chOff x="0" y="-38100"/>
              <a:chExt cx="4297680" cy="696468"/>
            </a:xfrm>
          </p:grpSpPr>
          <p:sp>
            <p:nvSpPr>
              <p:cNvPr id="1056" name="Google Shape;1056;p16"/>
              <p:cNvSpPr/>
              <p:nvPr/>
            </p:nvSpPr>
            <p:spPr>
              <a:xfrm>
                <a:off x="0" y="0"/>
                <a:ext cx="4297680" cy="658368"/>
              </a:xfrm>
              <a:custGeom>
                <a:rect b="b" l="l" r="r" t="t"/>
                <a:pathLst>
                  <a:path extrusionOk="0" h="658368" w="4297680">
                    <a:moveTo>
                      <a:pt x="0" y="0"/>
                    </a:moveTo>
                    <a:lnTo>
                      <a:pt x="4297680" y="0"/>
                    </a:lnTo>
                    <a:lnTo>
                      <a:pt x="4297680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77194" l="0" r="0" t="-7719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7" name="Google Shape;1057;p16"/>
              <p:cNvSpPr txBox="1"/>
              <p:nvPr/>
            </p:nvSpPr>
            <p:spPr>
              <a:xfrm>
                <a:off x="0" y="-38100"/>
                <a:ext cx="4297680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rgbClr val="1329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PrimeDelivery</a:t>
                </a:r>
                <a:endParaRPr/>
              </a:p>
            </p:txBody>
          </p:sp>
        </p:grpSp>
        <p:sp>
          <p:nvSpPr>
            <p:cNvPr id="1058" name="Google Shape;1058;p16"/>
            <p:cNvSpPr/>
            <p:nvPr/>
          </p:nvSpPr>
          <p:spPr>
            <a:xfrm>
              <a:off x="4297680" y="4608576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FBF3DC"/>
            </a:solidFill>
            <a:ln cap="sq" cmpd="sng" w="14275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59" name="Google Shape;1059;p16"/>
            <p:cNvGrpSpPr/>
            <p:nvPr/>
          </p:nvGrpSpPr>
          <p:grpSpPr>
            <a:xfrm>
              <a:off x="4307205" y="4580001"/>
              <a:ext cx="2980944" cy="696468"/>
              <a:chOff x="0" y="-38100"/>
              <a:chExt cx="2980944" cy="696468"/>
            </a:xfrm>
          </p:grpSpPr>
          <p:sp>
            <p:nvSpPr>
              <p:cNvPr id="1060" name="Google Shape;1060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1" name="Google Shape;1061;p16"/>
              <p:cNvSpPr txBox="1"/>
              <p:nvPr/>
            </p:nvSpPr>
            <p:spPr>
              <a:xfrm>
                <a:off x="0" y="-38100"/>
                <a:ext cx="2980944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rgbClr val="1329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41.68%</a:t>
                </a:r>
                <a:endParaRPr/>
              </a:p>
            </p:txBody>
          </p:sp>
        </p:grpSp>
        <p:sp>
          <p:nvSpPr>
            <p:cNvPr id="1062" name="Google Shape;1062;p16"/>
            <p:cNvSpPr/>
            <p:nvPr/>
          </p:nvSpPr>
          <p:spPr>
            <a:xfrm>
              <a:off x="7278624" y="4608576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FBF3DC"/>
            </a:solidFill>
            <a:ln cap="sq" cmpd="sng" w="14275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63" name="Google Shape;1063;p16"/>
            <p:cNvGrpSpPr/>
            <p:nvPr/>
          </p:nvGrpSpPr>
          <p:grpSpPr>
            <a:xfrm>
              <a:off x="7288149" y="4580001"/>
              <a:ext cx="2980944" cy="696468"/>
              <a:chOff x="0" y="-38100"/>
              <a:chExt cx="2980944" cy="696468"/>
            </a:xfrm>
          </p:grpSpPr>
          <p:sp>
            <p:nvSpPr>
              <p:cNvPr id="1064" name="Google Shape;1064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" name="Google Shape;1065;p16"/>
              <p:cNvSpPr txBox="1"/>
              <p:nvPr/>
            </p:nvSpPr>
            <p:spPr>
              <a:xfrm>
                <a:off x="0" y="-38100"/>
                <a:ext cx="2980944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rgbClr val="1329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49.83%</a:t>
                </a:r>
                <a:endParaRPr/>
              </a:p>
            </p:txBody>
          </p:sp>
        </p:grpSp>
        <p:sp>
          <p:nvSpPr>
            <p:cNvPr id="1066" name="Google Shape;1066;p16"/>
            <p:cNvSpPr/>
            <p:nvPr/>
          </p:nvSpPr>
          <p:spPr>
            <a:xfrm>
              <a:off x="10259568" y="4608576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FBE4C2"/>
            </a:solidFill>
            <a:ln cap="sq" cmpd="sng" w="14275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67" name="Google Shape;1067;p16"/>
            <p:cNvGrpSpPr/>
            <p:nvPr/>
          </p:nvGrpSpPr>
          <p:grpSpPr>
            <a:xfrm>
              <a:off x="10269093" y="4580001"/>
              <a:ext cx="2980944" cy="696468"/>
              <a:chOff x="0" y="-38100"/>
              <a:chExt cx="2980944" cy="696468"/>
            </a:xfrm>
          </p:grpSpPr>
          <p:sp>
            <p:nvSpPr>
              <p:cNvPr id="1068" name="Google Shape;1068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9" name="Google Shape;1069;p16"/>
              <p:cNvSpPr txBox="1"/>
              <p:nvPr/>
            </p:nvSpPr>
            <p:spPr>
              <a:xfrm>
                <a:off x="0" y="-38100"/>
                <a:ext cx="2980944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rgbClr val="1329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55.16%</a:t>
                </a:r>
                <a:endParaRPr/>
              </a:p>
            </p:txBody>
          </p:sp>
        </p:grpSp>
        <p:sp>
          <p:nvSpPr>
            <p:cNvPr id="1070" name="Google Shape;1070;p16"/>
            <p:cNvSpPr/>
            <p:nvPr/>
          </p:nvSpPr>
          <p:spPr>
            <a:xfrm>
              <a:off x="13240512" y="4608576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F0ABA3"/>
            </a:solidFill>
            <a:ln cap="sq" cmpd="sng" w="14275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71" name="Google Shape;1071;p16"/>
            <p:cNvGrpSpPr/>
            <p:nvPr/>
          </p:nvGrpSpPr>
          <p:grpSpPr>
            <a:xfrm>
              <a:off x="13250037" y="4580001"/>
              <a:ext cx="2980944" cy="696468"/>
              <a:chOff x="0" y="-38100"/>
              <a:chExt cx="2980944" cy="696468"/>
            </a:xfrm>
          </p:grpSpPr>
          <p:sp>
            <p:nvSpPr>
              <p:cNvPr id="1072" name="Google Shape;1072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3" name="Google Shape;1073;p16"/>
              <p:cNvSpPr txBox="1"/>
              <p:nvPr/>
            </p:nvSpPr>
            <p:spPr>
              <a:xfrm>
                <a:off x="0" y="-38100"/>
                <a:ext cx="2980944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B23A3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80.66%</a:t>
                </a:r>
                <a:endParaRPr/>
              </a:p>
            </p:txBody>
          </p:sp>
        </p:grpSp>
        <p:sp>
          <p:nvSpPr>
            <p:cNvPr id="1074" name="Google Shape;1074;p16"/>
            <p:cNvSpPr/>
            <p:nvPr/>
          </p:nvSpPr>
          <p:spPr>
            <a:xfrm>
              <a:off x="16221456" y="4608576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F0ABA3"/>
            </a:solidFill>
            <a:ln cap="sq" cmpd="sng" w="14275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75" name="Google Shape;1075;p16"/>
            <p:cNvGrpSpPr/>
            <p:nvPr/>
          </p:nvGrpSpPr>
          <p:grpSpPr>
            <a:xfrm>
              <a:off x="16230981" y="4580001"/>
              <a:ext cx="2980944" cy="696468"/>
              <a:chOff x="0" y="-38100"/>
              <a:chExt cx="2980944" cy="696468"/>
            </a:xfrm>
          </p:grpSpPr>
          <p:sp>
            <p:nvSpPr>
              <p:cNvPr id="1076" name="Google Shape;1076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7" name="Google Shape;1077;p16"/>
              <p:cNvSpPr txBox="1"/>
              <p:nvPr/>
            </p:nvSpPr>
            <p:spPr>
              <a:xfrm>
                <a:off x="0" y="-38100"/>
                <a:ext cx="2980944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B23A3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87.28%</a:t>
                </a:r>
                <a:endParaRPr/>
              </a:p>
            </p:txBody>
          </p:sp>
        </p:grpSp>
        <p:sp>
          <p:nvSpPr>
            <p:cNvPr id="1078" name="Google Shape;1078;p16"/>
            <p:cNvSpPr/>
            <p:nvPr/>
          </p:nvSpPr>
          <p:spPr>
            <a:xfrm>
              <a:off x="19202400" y="4608576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E9EEF3"/>
            </a:solidFill>
            <a:ln cap="sq" cmpd="sng" w="14275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79" name="Google Shape;1079;p16"/>
            <p:cNvGrpSpPr/>
            <p:nvPr/>
          </p:nvGrpSpPr>
          <p:grpSpPr>
            <a:xfrm>
              <a:off x="19211925" y="4580001"/>
              <a:ext cx="2980944" cy="696468"/>
              <a:chOff x="0" y="-38100"/>
              <a:chExt cx="2980944" cy="696468"/>
            </a:xfrm>
          </p:grpSpPr>
          <p:sp>
            <p:nvSpPr>
              <p:cNvPr id="1080" name="Google Shape;1080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1" name="Google Shape;1081;p16"/>
              <p:cNvSpPr txBox="1"/>
              <p:nvPr/>
            </p:nvSpPr>
            <p:spPr>
              <a:xfrm>
                <a:off x="0" y="-38100"/>
                <a:ext cx="2980944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0B254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61.46%</a:t>
                </a:r>
                <a:endParaRPr/>
              </a:p>
            </p:txBody>
          </p:sp>
        </p:grpSp>
        <p:sp>
          <p:nvSpPr>
            <p:cNvPr id="1082" name="Google Shape;1082;p16"/>
            <p:cNvSpPr/>
            <p:nvPr/>
          </p:nvSpPr>
          <p:spPr>
            <a:xfrm>
              <a:off x="0" y="5266944"/>
              <a:ext cx="4316730" cy="677418"/>
            </a:xfrm>
            <a:custGeom>
              <a:rect b="b" l="l" r="r" t="t"/>
              <a:pathLst>
                <a:path extrusionOk="0" h="677418" w="4316730">
                  <a:moveTo>
                    <a:pt x="0" y="0"/>
                  </a:moveTo>
                  <a:lnTo>
                    <a:pt x="4316730" y="0"/>
                  </a:lnTo>
                  <a:lnTo>
                    <a:pt x="4316730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FFFFFF"/>
            </a:solidFill>
            <a:ln cap="sq" cmpd="sng" w="14275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83" name="Google Shape;1083;p16"/>
            <p:cNvGrpSpPr/>
            <p:nvPr/>
          </p:nvGrpSpPr>
          <p:grpSpPr>
            <a:xfrm>
              <a:off x="9525" y="5238369"/>
              <a:ext cx="4297680" cy="696468"/>
              <a:chOff x="0" y="-38100"/>
              <a:chExt cx="4297680" cy="696468"/>
            </a:xfrm>
          </p:grpSpPr>
          <p:sp>
            <p:nvSpPr>
              <p:cNvPr id="1084" name="Google Shape;1084;p16"/>
              <p:cNvSpPr/>
              <p:nvPr/>
            </p:nvSpPr>
            <p:spPr>
              <a:xfrm>
                <a:off x="0" y="0"/>
                <a:ext cx="4297680" cy="658368"/>
              </a:xfrm>
              <a:custGeom>
                <a:rect b="b" l="l" r="r" t="t"/>
                <a:pathLst>
                  <a:path extrusionOk="0" h="658368" w="4297680">
                    <a:moveTo>
                      <a:pt x="0" y="0"/>
                    </a:moveTo>
                    <a:lnTo>
                      <a:pt x="4297680" y="0"/>
                    </a:lnTo>
                    <a:lnTo>
                      <a:pt x="4297680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77194" l="0" r="0" t="-7719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5" name="Google Shape;1085;p16"/>
              <p:cNvSpPr txBox="1"/>
              <p:nvPr/>
            </p:nvSpPr>
            <p:spPr>
              <a:xfrm>
                <a:off x="0" y="-38100"/>
                <a:ext cx="4297680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rgbClr val="1329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GlobalExpress</a:t>
                </a:r>
                <a:endParaRPr/>
              </a:p>
            </p:txBody>
          </p:sp>
        </p:grpSp>
        <p:sp>
          <p:nvSpPr>
            <p:cNvPr id="1086" name="Google Shape;1086;p16"/>
            <p:cNvSpPr/>
            <p:nvPr/>
          </p:nvSpPr>
          <p:spPr>
            <a:xfrm>
              <a:off x="4297680" y="5266944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FBF3DC"/>
            </a:solidFill>
            <a:ln cap="sq" cmpd="sng" w="14275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87" name="Google Shape;1087;p16"/>
            <p:cNvGrpSpPr/>
            <p:nvPr/>
          </p:nvGrpSpPr>
          <p:grpSpPr>
            <a:xfrm>
              <a:off x="4307205" y="5238369"/>
              <a:ext cx="2980944" cy="696468"/>
              <a:chOff x="0" y="-38100"/>
              <a:chExt cx="2980944" cy="696468"/>
            </a:xfrm>
          </p:grpSpPr>
          <p:sp>
            <p:nvSpPr>
              <p:cNvPr id="1088" name="Google Shape;1088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9" name="Google Shape;1089;p16"/>
              <p:cNvSpPr txBox="1"/>
              <p:nvPr/>
            </p:nvSpPr>
            <p:spPr>
              <a:xfrm>
                <a:off x="0" y="-38100"/>
                <a:ext cx="2980944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rgbClr val="1329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47.55%</a:t>
                </a:r>
                <a:endParaRPr/>
              </a:p>
            </p:txBody>
          </p:sp>
        </p:grpSp>
        <p:sp>
          <p:nvSpPr>
            <p:cNvPr id="1090" name="Google Shape;1090;p16"/>
            <p:cNvSpPr/>
            <p:nvPr/>
          </p:nvSpPr>
          <p:spPr>
            <a:xfrm>
              <a:off x="7278624" y="5266944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FBE4C2"/>
            </a:solidFill>
            <a:ln cap="sq" cmpd="sng" w="14275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91" name="Google Shape;1091;p16"/>
            <p:cNvGrpSpPr/>
            <p:nvPr/>
          </p:nvGrpSpPr>
          <p:grpSpPr>
            <a:xfrm>
              <a:off x="7288149" y="5238369"/>
              <a:ext cx="2980944" cy="696468"/>
              <a:chOff x="0" y="-38100"/>
              <a:chExt cx="2980944" cy="696468"/>
            </a:xfrm>
          </p:grpSpPr>
          <p:sp>
            <p:nvSpPr>
              <p:cNvPr id="1092" name="Google Shape;1092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3" name="Google Shape;1093;p16"/>
              <p:cNvSpPr txBox="1"/>
              <p:nvPr/>
            </p:nvSpPr>
            <p:spPr>
              <a:xfrm>
                <a:off x="0" y="-38100"/>
                <a:ext cx="2980944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rgbClr val="1329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50.07%</a:t>
                </a:r>
                <a:endParaRPr/>
              </a:p>
            </p:txBody>
          </p:sp>
        </p:grpSp>
        <p:sp>
          <p:nvSpPr>
            <p:cNvPr id="1094" name="Google Shape;1094;p16"/>
            <p:cNvSpPr/>
            <p:nvPr/>
          </p:nvSpPr>
          <p:spPr>
            <a:xfrm>
              <a:off x="10259568" y="5266944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FBE4C2"/>
            </a:solidFill>
            <a:ln cap="sq" cmpd="sng" w="14275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95" name="Google Shape;1095;p16"/>
            <p:cNvGrpSpPr/>
            <p:nvPr/>
          </p:nvGrpSpPr>
          <p:grpSpPr>
            <a:xfrm>
              <a:off x="10269093" y="5238369"/>
              <a:ext cx="2980944" cy="696468"/>
              <a:chOff x="0" y="-38100"/>
              <a:chExt cx="2980944" cy="696468"/>
            </a:xfrm>
          </p:grpSpPr>
          <p:sp>
            <p:nvSpPr>
              <p:cNvPr id="1096" name="Google Shape;1096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7" name="Google Shape;1097;p16"/>
              <p:cNvSpPr txBox="1"/>
              <p:nvPr/>
            </p:nvSpPr>
            <p:spPr>
              <a:xfrm>
                <a:off x="0" y="-38100"/>
                <a:ext cx="2980944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rgbClr val="1329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60.05%</a:t>
                </a:r>
                <a:endParaRPr/>
              </a:p>
            </p:txBody>
          </p:sp>
        </p:grpSp>
        <p:sp>
          <p:nvSpPr>
            <p:cNvPr id="1098" name="Google Shape;1098;p16"/>
            <p:cNvSpPr/>
            <p:nvPr/>
          </p:nvSpPr>
          <p:spPr>
            <a:xfrm>
              <a:off x="13240512" y="5266944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F0ABA3"/>
            </a:solidFill>
            <a:ln cap="sq" cmpd="sng" w="14275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99" name="Google Shape;1099;p16"/>
            <p:cNvGrpSpPr/>
            <p:nvPr/>
          </p:nvGrpSpPr>
          <p:grpSpPr>
            <a:xfrm>
              <a:off x="13250037" y="5238369"/>
              <a:ext cx="2980944" cy="696468"/>
              <a:chOff x="0" y="-38100"/>
              <a:chExt cx="2980944" cy="696468"/>
            </a:xfrm>
          </p:grpSpPr>
          <p:sp>
            <p:nvSpPr>
              <p:cNvPr id="1100" name="Google Shape;1100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1" name="Google Shape;1101;p16"/>
              <p:cNvSpPr txBox="1"/>
              <p:nvPr/>
            </p:nvSpPr>
            <p:spPr>
              <a:xfrm>
                <a:off x="0" y="-38100"/>
                <a:ext cx="2980944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B23A3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84.24%</a:t>
                </a:r>
                <a:endParaRPr/>
              </a:p>
            </p:txBody>
          </p:sp>
        </p:grpSp>
        <p:sp>
          <p:nvSpPr>
            <p:cNvPr id="1102" name="Google Shape;1102;p16"/>
            <p:cNvSpPr/>
            <p:nvPr/>
          </p:nvSpPr>
          <p:spPr>
            <a:xfrm>
              <a:off x="16221456" y="5266944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F0ABA3"/>
            </a:solidFill>
            <a:ln cap="sq" cmpd="sng" w="14275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03" name="Google Shape;1103;p16"/>
            <p:cNvGrpSpPr/>
            <p:nvPr/>
          </p:nvGrpSpPr>
          <p:grpSpPr>
            <a:xfrm>
              <a:off x="16230981" y="5238369"/>
              <a:ext cx="2980944" cy="696468"/>
              <a:chOff x="0" y="-38100"/>
              <a:chExt cx="2980944" cy="696468"/>
            </a:xfrm>
          </p:grpSpPr>
          <p:sp>
            <p:nvSpPr>
              <p:cNvPr id="1104" name="Google Shape;1104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5" name="Google Shape;1105;p16"/>
              <p:cNvSpPr txBox="1"/>
              <p:nvPr/>
            </p:nvSpPr>
            <p:spPr>
              <a:xfrm>
                <a:off x="0" y="-38100"/>
                <a:ext cx="2980944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B23A3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89.26%</a:t>
                </a:r>
                <a:endParaRPr/>
              </a:p>
            </p:txBody>
          </p:sp>
        </p:grpSp>
        <p:sp>
          <p:nvSpPr>
            <p:cNvPr id="1106" name="Google Shape;1106;p16"/>
            <p:cNvSpPr/>
            <p:nvPr/>
          </p:nvSpPr>
          <p:spPr>
            <a:xfrm>
              <a:off x="19202400" y="5266944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E9EEF3"/>
            </a:solidFill>
            <a:ln cap="sq" cmpd="sng" w="14275">
              <a:solidFill>
                <a:srgbClr val="D8E1E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07" name="Google Shape;1107;p16"/>
            <p:cNvGrpSpPr/>
            <p:nvPr/>
          </p:nvGrpSpPr>
          <p:grpSpPr>
            <a:xfrm>
              <a:off x="19211925" y="5238369"/>
              <a:ext cx="2980944" cy="696468"/>
              <a:chOff x="0" y="-38100"/>
              <a:chExt cx="2980944" cy="696468"/>
            </a:xfrm>
          </p:grpSpPr>
          <p:sp>
            <p:nvSpPr>
              <p:cNvPr id="1108" name="Google Shape;1108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9" name="Google Shape;1109;p16"/>
              <p:cNvSpPr txBox="1"/>
              <p:nvPr/>
            </p:nvSpPr>
            <p:spPr>
              <a:xfrm>
                <a:off x="0" y="-38100"/>
                <a:ext cx="2980944" cy="6964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0B254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65.75%</a:t>
                </a:r>
                <a:endParaRPr/>
              </a:p>
            </p:txBody>
          </p:sp>
        </p:grpSp>
        <p:sp>
          <p:nvSpPr>
            <p:cNvPr id="1110" name="Google Shape;1110;p16"/>
            <p:cNvSpPr/>
            <p:nvPr/>
          </p:nvSpPr>
          <p:spPr>
            <a:xfrm>
              <a:off x="0" y="5925312"/>
              <a:ext cx="4316730" cy="677418"/>
            </a:xfrm>
            <a:custGeom>
              <a:rect b="b" l="l" r="r" t="t"/>
              <a:pathLst>
                <a:path extrusionOk="0" h="677418" w="4316730">
                  <a:moveTo>
                    <a:pt x="0" y="0"/>
                  </a:moveTo>
                  <a:lnTo>
                    <a:pt x="4316730" y="0"/>
                  </a:lnTo>
                  <a:lnTo>
                    <a:pt x="4316730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0B2545"/>
            </a:solidFill>
            <a:ln cap="sq" cmpd="sng" w="1427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11" name="Google Shape;1111;p16"/>
            <p:cNvGrpSpPr/>
            <p:nvPr/>
          </p:nvGrpSpPr>
          <p:grpSpPr>
            <a:xfrm>
              <a:off x="9525" y="5915787"/>
              <a:ext cx="4297680" cy="677418"/>
              <a:chOff x="0" y="-19050"/>
              <a:chExt cx="4297680" cy="677418"/>
            </a:xfrm>
          </p:grpSpPr>
          <p:sp>
            <p:nvSpPr>
              <p:cNvPr id="1112" name="Google Shape;1112;p16"/>
              <p:cNvSpPr/>
              <p:nvPr/>
            </p:nvSpPr>
            <p:spPr>
              <a:xfrm>
                <a:off x="0" y="0"/>
                <a:ext cx="4297680" cy="658368"/>
              </a:xfrm>
              <a:custGeom>
                <a:rect b="b" l="l" r="r" t="t"/>
                <a:pathLst>
                  <a:path extrusionOk="0" h="658368" w="4297680">
                    <a:moveTo>
                      <a:pt x="0" y="0"/>
                    </a:moveTo>
                    <a:lnTo>
                      <a:pt x="4297680" y="0"/>
                    </a:lnTo>
                    <a:lnTo>
                      <a:pt x="4297680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77194" l="0" r="0" t="-7719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3" name="Google Shape;1113;p16"/>
              <p:cNvSpPr txBox="1"/>
              <p:nvPr/>
            </p:nvSpPr>
            <p:spPr>
              <a:xfrm>
                <a:off x="0" y="-19050"/>
                <a:ext cx="4297680" cy="6774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1993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75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Total</a:t>
                </a:r>
                <a:endParaRPr/>
              </a:p>
            </p:txBody>
          </p:sp>
        </p:grpSp>
        <p:sp>
          <p:nvSpPr>
            <p:cNvPr id="1114" name="Google Shape;1114;p16"/>
            <p:cNvSpPr/>
            <p:nvPr/>
          </p:nvSpPr>
          <p:spPr>
            <a:xfrm>
              <a:off x="4297680" y="5925312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0B2545"/>
            </a:solidFill>
            <a:ln cap="sq" cmpd="sng" w="1427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15" name="Google Shape;1115;p16"/>
            <p:cNvGrpSpPr/>
            <p:nvPr/>
          </p:nvGrpSpPr>
          <p:grpSpPr>
            <a:xfrm>
              <a:off x="4307205" y="5934837"/>
              <a:ext cx="2980944" cy="658368"/>
              <a:chOff x="0" y="0"/>
              <a:chExt cx="2980944" cy="658368"/>
            </a:xfrm>
          </p:grpSpPr>
          <p:sp>
            <p:nvSpPr>
              <p:cNvPr id="1116" name="Google Shape;1116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7" name="Google Shape;1117;p16"/>
              <p:cNvSpPr txBox="1"/>
              <p:nvPr/>
            </p:nvSpPr>
            <p:spPr>
              <a:xfrm>
                <a:off x="0" y="0"/>
                <a:ext cx="2980944" cy="6583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1993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75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36.55%</a:t>
                </a:r>
                <a:endParaRPr/>
              </a:p>
            </p:txBody>
          </p:sp>
        </p:grpSp>
        <p:sp>
          <p:nvSpPr>
            <p:cNvPr id="1118" name="Google Shape;1118;p16"/>
            <p:cNvSpPr/>
            <p:nvPr/>
          </p:nvSpPr>
          <p:spPr>
            <a:xfrm>
              <a:off x="7278624" y="5925312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0B2545"/>
            </a:solidFill>
            <a:ln cap="sq" cmpd="sng" w="1427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19" name="Google Shape;1119;p16"/>
            <p:cNvGrpSpPr/>
            <p:nvPr/>
          </p:nvGrpSpPr>
          <p:grpSpPr>
            <a:xfrm>
              <a:off x="7288149" y="5934837"/>
              <a:ext cx="2980944" cy="658368"/>
              <a:chOff x="0" y="0"/>
              <a:chExt cx="2980944" cy="658368"/>
            </a:xfrm>
          </p:grpSpPr>
          <p:sp>
            <p:nvSpPr>
              <p:cNvPr id="1120" name="Google Shape;1120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1" name="Google Shape;1121;p16"/>
              <p:cNvSpPr txBox="1"/>
              <p:nvPr/>
            </p:nvSpPr>
            <p:spPr>
              <a:xfrm>
                <a:off x="0" y="0"/>
                <a:ext cx="2980944" cy="6583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1993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75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44.67%</a:t>
                </a:r>
                <a:endParaRPr/>
              </a:p>
            </p:txBody>
          </p:sp>
        </p:grpSp>
        <p:sp>
          <p:nvSpPr>
            <p:cNvPr id="1122" name="Google Shape;1122;p16"/>
            <p:cNvSpPr/>
            <p:nvPr/>
          </p:nvSpPr>
          <p:spPr>
            <a:xfrm>
              <a:off x="10259568" y="5925312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0B2545"/>
            </a:solidFill>
            <a:ln cap="sq" cmpd="sng" w="1427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23" name="Google Shape;1123;p16"/>
            <p:cNvGrpSpPr/>
            <p:nvPr/>
          </p:nvGrpSpPr>
          <p:grpSpPr>
            <a:xfrm>
              <a:off x="10269093" y="5934837"/>
              <a:ext cx="2980944" cy="658368"/>
              <a:chOff x="0" y="0"/>
              <a:chExt cx="2980944" cy="658368"/>
            </a:xfrm>
          </p:grpSpPr>
          <p:sp>
            <p:nvSpPr>
              <p:cNvPr id="1124" name="Google Shape;1124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5" name="Google Shape;1125;p16"/>
              <p:cNvSpPr txBox="1"/>
              <p:nvPr/>
            </p:nvSpPr>
            <p:spPr>
              <a:xfrm>
                <a:off x="0" y="0"/>
                <a:ext cx="2980944" cy="6583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1993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75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49.53%</a:t>
                </a:r>
                <a:endParaRPr/>
              </a:p>
            </p:txBody>
          </p:sp>
        </p:grpSp>
        <p:sp>
          <p:nvSpPr>
            <p:cNvPr id="1126" name="Google Shape;1126;p16"/>
            <p:cNvSpPr/>
            <p:nvPr/>
          </p:nvSpPr>
          <p:spPr>
            <a:xfrm>
              <a:off x="13240512" y="5925312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0B2545"/>
            </a:solidFill>
            <a:ln cap="sq" cmpd="sng" w="1427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27" name="Google Shape;1127;p16"/>
            <p:cNvGrpSpPr/>
            <p:nvPr/>
          </p:nvGrpSpPr>
          <p:grpSpPr>
            <a:xfrm>
              <a:off x="13250037" y="5934837"/>
              <a:ext cx="2980944" cy="658368"/>
              <a:chOff x="0" y="0"/>
              <a:chExt cx="2980944" cy="658368"/>
            </a:xfrm>
          </p:grpSpPr>
          <p:sp>
            <p:nvSpPr>
              <p:cNvPr id="1128" name="Google Shape;1128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9" name="Google Shape;1129;p16"/>
              <p:cNvSpPr txBox="1"/>
              <p:nvPr/>
            </p:nvSpPr>
            <p:spPr>
              <a:xfrm>
                <a:off x="0" y="0"/>
                <a:ext cx="2980944" cy="6583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1993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75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75.52%</a:t>
                </a:r>
                <a:endParaRPr/>
              </a:p>
            </p:txBody>
          </p:sp>
        </p:grpSp>
        <p:sp>
          <p:nvSpPr>
            <p:cNvPr id="1130" name="Google Shape;1130;p16"/>
            <p:cNvSpPr/>
            <p:nvPr/>
          </p:nvSpPr>
          <p:spPr>
            <a:xfrm>
              <a:off x="16221456" y="5925312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0B2545"/>
            </a:solidFill>
            <a:ln cap="sq" cmpd="sng" w="1427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31" name="Google Shape;1131;p16"/>
            <p:cNvGrpSpPr/>
            <p:nvPr/>
          </p:nvGrpSpPr>
          <p:grpSpPr>
            <a:xfrm>
              <a:off x="16230981" y="5934837"/>
              <a:ext cx="2980944" cy="658368"/>
              <a:chOff x="0" y="0"/>
              <a:chExt cx="2980944" cy="658368"/>
            </a:xfrm>
          </p:grpSpPr>
          <p:sp>
            <p:nvSpPr>
              <p:cNvPr id="1132" name="Google Shape;1132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3" name="Google Shape;1133;p16"/>
              <p:cNvSpPr txBox="1"/>
              <p:nvPr/>
            </p:nvSpPr>
            <p:spPr>
              <a:xfrm>
                <a:off x="0" y="0"/>
                <a:ext cx="2980944" cy="6583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1993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75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82.78%</a:t>
                </a:r>
                <a:endParaRPr/>
              </a:p>
            </p:txBody>
          </p:sp>
        </p:grpSp>
        <p:sp>
          <p:nvSpPr>
            <p:cNvPr id="1134" name="Google Shape;1134;p16"/>
            <p:cNvSpPr/>
            <p:nvPr/>
          </p:nvSpPr>
          <p:spPr>
            <a:xfrm>
              <a:off x="19202400" y="5925312"/>
              <a:ext cx="2999994" cy="677418"/>
            </a:xfrm>
            <a:custGeom>
              <a:rect b="b" l="l" r="r" t="t"/>
              <a:pathLst>
                <a:path extrusionOk="0" h="677418" w="2999994">
                  <a:moveTo>
                    <a:pt x="0" y="0"/>
                  </a:moveTo>
                  <a:lnTo>
                    <a:pt x="2999994" y="0"/>
                  </a:lnTo>
                  <a:lnTo>
                    <a:pt x="2999994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0B2545"/>
            </a:solidFill>
            <a:ln cap="sq" cmpd="sng" w="1427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35" name="Google Shape;1135;p16"/>
            <p:cNvGrpSpPr/>
            <p:nvPr/>
          </p:nvGrpSpPr>
          <p:grpSpPr>
            <a:xfrm>
              <a:off x="19211925" y="5934837"/>
              <a:ext cx="2980944" cy="658368"/>
              <a:chOff x="0" y="0"/>
              <a:chExt cx="2980944" cy="658368"/>
            </a:xfrm>
          </p:grpSpPr>
          <p:sp>
            <p:nvSpPr>
              <p:cNvPr id="1136" name="Google Shape;1136;p16"/>
              <p:cNvSpPr/>
              <p:nvPr/>
            </p:nvSpPr>
            <p:spPr>
              <a:xfrm>
                <a:off x="0" y="0"/>
                <a:ext cx="2980944" cy="658368"/>
              </a:xfrm>
              <a:custGeom>
                <a:rect b="b" l="l" r="r" t="t"/>
                <a:pathLst>
                  <a:path extrusionOk="0" h="658368" w="2980944">
                    <a:moveTo>
                      <a:pt x="0" y="0"/>
                    </a:moveTo>
                    <a:lnTo>
                      <a:pt x="2980944" y="0"/>
                    </a:lnTo>
                    <a:lnTo>
                      <a:pt x="2980944" y="658368"/>
                    </a:lnTo>
                    <a:lnTo>
                      <a:pt x="0" y="658368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38224" l="0" r="0" t="-38224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7" name="Google Shape;1137;p16"/>
              <p:cNvSpPr txBox="1"/>
              <p:nvPr/>
            </p:nvSpPr>
            <p:spPr>
              <a:xfrm>
                <a:off x="0" y="0"/>
                <a:ext cx="2980944" cy="6583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1993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75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56.32%</a:t>
                </a:r>
                <a:endParaRPr/>
              </a:p>
            </p:txBody>
          </p:sp>
        </p:grpSp>
      </p:grpSp>
      <p:sp>
        <p:nvSpPr>
          <p:cNvPr id="1138" name="Google Shape;1138;p16"/>
          <p:cNvSpPr/>
          <p:nvPr/>
        </p:nvSpPr>
        <p:spPr>
          <a:xfrm>
            <a:off x="822960" y="8133588"/>
            <a:ext cx="16644652" cy="1169252"/>
          </a:xfrm>
          <a:custGeom>
            <a:rect b="b" l="l" r="r" t="t"/>
            <a:pathLst>
              <a:path extrusionOk="0" h="1554480" w="22128480">
                <a:moveTo>
                  <a:pt x="0" y="146304"/>
                </a:moveTo>
                <a:cubicBezTo>
                  <a:pt x="0" y="65532"/>
                  <a:pt x="65532" y="0"/>
                  <a:pt x="146304" y="0"/>
                </a:cubicBezTo>
                <a:lnTo>
                  <a:pt x="21982176" y="0"/>
                </a:lnTo>
                <a:cubicBezTo>
                  <a:pt x="22062948" y="0"/>
                  <a:pt x="22128480" y="65532"/>
                  <a:pt x="22128480" y="146304"/>
                </a:cubicBezTo>
                <a:lnTo>
                  <a:pt x="22128480" y="1408176"/>
                </a:lnTo>
                <a:cubicBezTo>
                  <a:pt x="22128480" y="1488948"/>
                  <a:pt x="22062948" y="1554480"/>
                  <a:pt x="21982176" y="1554480"/>
                </a:cubicBezTo>
                <a:lnTo>
                  <a:pt x="146304" y="1554480"/>
                </a:lnTo>
                <a:cubicBezTo>
                  <a:pt x="65532" y="1554480"/>
                  <a:pt x="0" y="1488948"/>
                  <a:pt x="0" y="1408176"/>
                </a:cubicBezTo>
                <a:close/>
              </a:path>
            </a:pathLst>
          </a:custGeom>
          <a:solidFill>
            <a:srgbClr val="0B254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39" name="Google Shape;1139;p16"/>
          <p:cNvGrpSpPr/>
          <p:nvPr/>
        </p:nvGrpSpPr>
        <p:grpSpPr>
          <a:xfrm>
            <a:off x="1165860" y="8200454"/>
            <a:ext cx="15910560" cy="1057846"/>
            <a:chOff x="0" y="-57150"/>
            <a:chExt cx="21214080" cy="1410462"/>
          </a:xfrm>
        </p:grpSpPr>
        <p:sp>
          <p:nvSpPr>
            <p:cNvPr id="1140" name="Google Shape;1140;p16"/>
            <p:cNvSpPr/>
            <p:nvPr/>
          </p:nvSpPr>
          <p:spPr>
            <a:xfrm>
              <a:off x="0" y="0"/>
              <a:ext cx="21214080" cy="1353312"/>
            </a:xfrm>
            <a:custGeom>
              <a:rect b="b" l="l" r="r" t="t"/>
              <a:pathLst>
                <a:path extrusionOk="0" h="1353312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353312"/>
                  </a:lnTo>
                  <a:lnTo>
                    <a:pt x="0" y="135331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52737" l="0" r="0" t="-258137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1" name="Google Shape;1141;p16"/>
            <p:cNvSpPr txBox="1"/>
            <p:nvPr/>
          </p:nvSpPr>
          <p:spPr>
            <a:xfrm>
              <a:off x="0" y="-57150"/>
              <a:ext cx="21214080" cy="14104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876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20" u="none" strike="noStrike">
                  <a:solidFill>
                    <a:srgbClr val="E1A83B"/>
                  </a:solidFill>
                  <a:latin typeface="Calibri"/>
                  <a:ea typeface="Calibri"/>
                  <a:cs typeface="Calibri"/>
                  <a:sym typeface="Calibri"/>
                </a:rPr>
                <a:t>Jarak sebagai pendorong: </a:t>
              </a:r>
              <a:r>
                <a:rPr lang="en-US" sz="1620" u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Late rate naik dari ~50% (1.500–3.000 km) jadi &gt;75% di atas 3.000 km. Selisih janji vs aktual melompat dari 0,8 hari jadi 1,9 hari. SwiftShip konsisten tercepat di SETIAP kategori jarak — bukti keunggulan operasional</a:t>
              </a:r>
              <a:endParaRPr/>
            </a:p>
            <a:p>
              <a:pPr indent="0" lvl="0" marL="0" marR="0" rtl="0" algn="l">
                <a:lnSpc>
                  <a:spcPct val="13876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20" u="none" strike="noStrike">
                  <a:solidFill>
                    <a:srgbClr val="E1A83B"/>
                  </a:solidFill>
                  <a:latin typeface="Calibri"/>
                  <a:ea typeface="Calibri"/>
                  <a:cs typeface="Calibri"/>
                  <a:sym typeface="Calibri"/>
                </a:rPr>
                <a:t>Recomendation : </a:t>
              </a:r>
              <a:r>
                <a:rPr lang="en-US" sz="1620" u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Gunakan Estimasi Berbasis Jarak. Jangan samakan estimasi pengiriman antarkota/luar pulau (&gt;3.000 km) dengan pengiriman jarak dekat</a:t>
              </a:r>
              <a:endParaRPr/>
            </a:p>
          </p:txBody>
        </p:sp>
      </p:grpSp>
      <p:grpSp>
        <p:nvGrpSpPr>
          <p:cNvPr id="1142" name="Google Shape;1142;p16"/>
          <p:cNvGrpSpPr/>
          <p:nvPr/>
        </p:nvGrpSpPr>
        <p:grpSpPr>
          <a:xfrm>
            <a:off x="685800" y="9744361"/>
            <a:ext cx="10972800" cy="432911"/>
            <a:chOff x="0" y="-28575"/>
            <a:chExt cx="14630400" cy="577215"/>
          </a:xfrm>
        </p:grpSpPr>
        <p:sp>
          <p:nvSpPr>
            <p:cNvPr id="1143" name="Google Shape;1143;p16"/>
            <p:cNvSpPr/>
            <p:nvPr/>
          </p:nvSpPr>
          <p:spPr>
            <a:xfrm>
              <a:off x="0" y="0"/>
              <a:ext cx="14630400" cy="548640"/>
            </a:xfrm>
            <a:custGeom>
              <a:rect b="b" l="l" r="r" t="t"/>
              <a:pathLst>
                <a:path extrusionOk="0"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69642" l="0" r="0" t="-46964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4" name="Google Shape;1144;p16"/>
            <p:cNvSpPr txBox="1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5B7387"/>
                  </a:solidFill>
                  <a:latin typeface="Calibri"/>
                  <a:ea typeface="Calibri"/>
                  <a:cs typeface="Calibri"/>
                  <a:sym typeface="Calibri"/>
                </a:rPr>
                <a:t>E-Commerce Delivery Performance &amp; Revenue Risk</a:t>
              </a: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B"/>
        </a:solidFill>
      </p:bgPr>
    </p:bg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9" name="Google Shape;1149;p17"/>
          <p:cNvGrpSpPr/>
          <p:nvPr/>
        </p:nvGrpSpPr>
        <p:grpSpPr>
          <a:xfrm>
            <a:off x="822960" y="588645"/>
            <a:ext cx="10972800" cy="508635"/>
            <a:chOff x="0" y="-38100"/>
            <a:chExt cx="14630400" cy="678180"/>
          </a:xfrm>
        </p:grpSpPr>
        <p:sp>
          <p:nvSpPr>
            <p:cNvPr id="1150" name="Google Shape;1150;p17"/>
            <p:cNvSpPr/>
            <p:nvPr/>
          </p:nvSpPr>
          <p:spPr>
            <a:xfrm>
              <a:off x="0" y="0"/>
              <a:ext cx="14630400" cy="640080"/>
            </a:xfrm>
            <a:custGeom>
              <a:rect b="b" l="l" r="r" t="t"/>
              <a:pathLst>
                <a:path extrusionOk="0"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95395" l="0" r="0" t="-39539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1" name="Google Shape;1151;p17"/>
            <p:cNvSpPr txBox="1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pc="300" sz="1800">
                  <a:solidFill>
                    <a:srgbClr val="1C7293"/>
                  </a:solidFill>
                  <a:latin typeface="Calibri"/>
                  <a:ea typeface="Calibri"/>
                  <a:cs typeface="Calibri"/>
                  <a:sym typeface="Calibri"/>
                </a:rPr>
                <a:t>ROOT CAUSE ANALYSIS · TARGET</a:t>
              </a:r>
              <a:endParaRPr/>
            </a:p>
          </p:txBody>
        </p:sp>
      </p:grpSp>
      <p:grpSp>
        <p:nvGrpSpPr>
          <p:cNvPr id="1152" name="Google Shape;1152;p17"/>
          <p:cNvGrpSpPr/>
          <p:nvPr/>
        </p:nvGrpSpPr>
        <p:grpSpPr>
          <a:xfrm>
            <a:off x="822960" y="1055561"/>
            <a:ext cx="16184880" cy="1111568"/>
            <a:chOff x="0" y="-19050"/>
            <a:chExt cx="21579840" cy="1482090"/>
          </a:xfrm>
        </p:grpSpPr>
        <p:sp>
          <p:nvSpPr>
            <p:cNvPr id="1153" name="Google Shape;1153;p17"/>
            <p:cNvSpPr/>
            <p:nvPr/>
          </p:nvSpPr>
          <p:spPr>
            <a:xfrm>
              <a:off x="0" y="0"/>
              <a:ext cx="21579839" cy="1463040"/>
            </a:xfrm>
            <a:custGeom>
              <a:rect b="b" l="l" r="r" t="t"/>
              <a:pathLst>
                <a:path extrusionOk="0" h="146304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37389" l="0" r="0" t="-23738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4" name="Google Shape;1154;p17"/>
            <p:cNvSpPr txBox="1"/>
            <p:nvPr/>
          </p:nvSpPr>
          <p:spPr>
            <a:xfrm>
              <a:off x="0" y="-19050"/>
              <a:ext cx="21579840" cy="1482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00">
                  <a:solidFill>
                    <a:srgbClr val="0B2545"/>
                  </a:solidFill>
                  <a:latin typeface="Cambria"/>
                  <a:ea typeface="Cambria"/>
                  <a:cs typeface="Cambria"/>
                  <a:sym typeface="Cambria"/>
                </a:rPr>
                <a:t>Target Realistis: Turunkan Late Rate ke </a:t>
              </a:r>
              <a:r>
                <a:rPr b="1" lang="en-US" sz="4500">
                  <a:solidFill>
                    <a:srgbClr val="0B2545"/>
                  </a:solidFill>
                  <a:latin typeface="Cambria"/>
                  <a:ea typeface="Cambria"/>
                  <a:cs typeface="Cambria"/>
                  <a:sym typeface="Cambria"/>
                </a:rPr>
                <a:t>~41,4% </a:t>
              </a:r>
              <a:endParaRPr/>
            </a:p>
          </p:txBody>
        </p:sp>
      </p:grpSp>
      <p:grpSp>
        <p:nvGrpSpPr>
          <p:cNvPr id="1155" name="Google Shape;1155;p17"/>
          <p:cNvGrpSpPr/>
          <p:nvPr/>
        </p:nvGrpSpPr>
        <p:grpSpPr>
          <a:xfrm>
            <a:off x="822960" y="1919097"/>
            <a:ext cx="16596360" cy="440055"/>
            <a:chOff x="0" y="-38100"/>
            <a:chExt cx="22128480" cy="586740"/>
          </a:xfrm>
        </p:grpSpPr>
        <p:sp>
          <p:nvSpPr>
            <p:cNvPr id="1156" name="Google Shape;1156;p17"/>
            <p:cNvSpPr/>
            <p:nvPr/>
          </p:nvSpPr>
          <p:spPr>
            <a:xfrm>
              <a:off x="0" y="0"/>
              <a:ext cx="22128480" cy="548640"/>
            </a:xfrm>
            <a:custGeom>
              <a:rect b="b" l="l" r="r" t="t"/>
              <a:pathLst>
                <a:path extrusionOk="0" h="54864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735917" l="0" r="0" t="-735917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7" name="Google Shape;1157;p17"/>
            <p:cNvSpPr txBox="1"/>
            <p:nvPr/>
          </p:nvSpPr>
          <p:spPr>
            <a:xfrm>
              <a:off x="0" y="-38100"/>
              <a:ext cx="221284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5B7387"/>
                  </a:solidFill>
                  <a:latin typeface="Calibri"/>
                  <a:ea typeface="Calibri"/>
                  <a:cs typeface="Calibri"/>
                  <a:sym typeface="Calibri"/>
                </a:rPr>
                <a:t>Bukan angka ideal di luar jangkauan — level ini sudah terbukti tercapai secara nyata di data yang sama.</a:t>
              </a:r>
              <a:endParaRPr/>
            </a:p>
          </p:txBody>
        </p:sp>
      </p:grpSp>
      <p:sp>
        <p:nvSpPr>
          <p:cNvPr id="1158" name="Google Shape;1158;p17"/>
          <p:cNvSpPr/>
          <p:nvPr/>
        </p:nvSpPr>
        <p:spPr>
          <a:xfrm>
            <a:off x="813435" y="2733675"/>
            <a:ext cx="5093970" cy="2967990"/>
          </a:xfrm>
          <a:custGeom>
            <a:rect b="b" l="l" r="r" t="t"/>
            <a:pathLst>
              <a:path extrusionOk="0" h="3957320" w="6791960">
                <a:moveTo>
                  <a:pt x="0" y="184023"/>
                </a:moveTo>
                <a:cubicBezTo>
                  <a:pt x="0" y="82423"/>
                  <a:pt x="82423" y="0"/>
                  <a:pt x="184023" y="0"/>
                </a:cubicBezTo>
                <a:lnTo>
                  <a:pt x="6607937" y="0"/>
                </a:lnTo>
                <a:cubicBezTo>
                  <a:pt x="6709537" y="0"/>
                  <a:pt x="6791960" y="82423"/>
                  <a:pt x="6791960" y="184023"/>
                </a:cubicBezTo>
                <a:lnTo>
                  <a:pt x="6791960" y="3773297"/>
                </a:lnTo>
                <a:cubicBezTo>
                  <a:pt x="6791960" y="3874897"/>
                  <a:pt x="6709537" y="3957320"/>
                  <a:pt x="6607937" y="3957320"/>
                </a:cubicBezTo>
                <a:lnTo>
                  <a:pt x="184023" y="3957320"/>
                </a:lnTo>
                <a:cubicBezTo>
                  <a:pt x="82423" y="3957320"/>
                  <a:pt x="0" y="3874897"/>
                  <a:pt x="0" y="3773297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E3EA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59" name="Google Shape;1159;p17"/>
          <p:cNvGrpSpPr/>
          <p:nvPr/>
        </p:nvGrpSpPr>
        <p:grpSpPr>
          <a:xfrm>
            <a:off x="822960" y="3023521"/>
            <a:ext cx="5074920" cy="432911"/>
            <a:chOff x="0" y="-28575"/>
            <a:chExt cx="6766560" cy="577215"/>
          </a:xfrm>
        </p:grpSpPr>
        <p:sp>
          <p:nvSpPr>
            <p:cNvPr id="1160" name="Google Shape;1160;p17"/>
            <p:cNvSpPr/>
            <p:nvPr/>
          </p:nvSpPr>
          <p:spPr>
            <a:xfrm>
              <a:off x="0" y="0"/>
              <a:ext cx="6766560" cy="548640"/>
            </a:xfrm>
            <a:custGeom>
              <a:rect b="b" l="l" r="r" t="t"/>
              <a:pathLst>
                <a:path extrusionOk="0" h="54864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90315" l="0" r="0" t="-19031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1" name="Google Shape;1161;p17"/>
            <p:cNvSpPr txBox="1"/>
            <p:nvPr/>
          </p:nvSpPr>
          <p:spPr>
            <a:xfrm>
              <a:off x="0" y="-28575"/>
              <a:ext cx="6766560" cy="577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pc="150" sz="1650">
                  <a:solidFill>
                    <a:srgbClr val="5B7387"/>
                  </a:solidFill>
                  <a:latin typeface="Calibri"/>
                  <a:ea typeface="Calibri"/>
                  <a:cs typeface="Calibri"/>
                  <a:sym typeface="Calibri"/>
                </a:rPr>
                <a:t>SAAT INI</a:t>
              </a:r>
              <a:endParaRPr/>
            </a:p>
          </p:txBody>
        </p:sp>
      </p:grpSp>
      <p:grpSp>
        <p:nvGrpSpPr>
          <p:cNvPr id="1162" name="Google Shape;1162;p17"/>
          <p:cNvGrpSpPr/>
          <p:nvPr/>
        </p:nvGrpSpPr>
        <p:grpSpPr>
          <a:xfrm>
            <a:off x="822960" y="3414713"/>
            <a:ext cx="5074920" cy="1385888"/>
            <a:chOff x="0" y="-19050"/>
            <a:chExt cx="6766560" cy="1847850"/>
          </a:xfrm>
        </p:grpSpPr>
        <p:sp>
          <p:nvSpPr>
            <p:cNvPr id="1163" name="Google Shape;1163;p17"/>
            <p:cNvSpPr/>
            <p:nvPr/>
          </p:nvSpPr>
          <p:spPr>
            <a:xfrm>
              <a:off x="0" y="0"/>
              <a:ext cx="6766560" cy="1828800"/>
            </a:xfrm>
            <a:custGeom>
              <a:rect b="b" l="l" r="r" t="t"/>
              <a:pathLst>
                <a:path extrusionOk="0" h="182880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1828800"/>
                  </a:lnTo>
                  <a:lnTo>
                    <a:pt x="0" y="18288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2094" l="0" r="0" t="-2209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4" name="Google Shape;1164;p17"/>
            <p:cNvSpPr txBox="1"/>
            <p:nvPr/>
          </p:nvSpPr>
          <p:spPr>
            <a:xfrm>
              <a:off x="0" y="-19050"/>
              <a:ext cx="6766560" cy="1847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6300">
                  <a:solidFill>
                    <a:srgbClr val="D64545"/>
                  </a:solidFill>
                  <a:latin typeface="Cambria"/>
                  <a:ea typeface="Cambria"/>
                  <a:cs typeface="Cambria"/>
                  <a:sym typeface="Cambria"/>
                </a:rPr>
                <a:t>56,32%</a:t>
              </a:r>
              <a:endParaRPr/>
            </a:p>
          </p:txBody>
        </p:sp>
      </p:grpSp>
      <p:grpSp>
        <p:nvGrpSpPr>
          <p:cNvPr id="1165" name="Google Shape;1165;p17"/>
          <p:cNvGrpSpPr/>
          <p:nvPr/>
        </p:nvGrpSpPr>
        <p:grpSpPr>
          <a:xfrm>
            <a:off x="822960" y="4916329"/>
            <a:ext cx="5074920" cy="570071"/>
            <a:chOff x="0" y="-28575"/>
            <a:chExt cx="6766560" cy="760095"/>
          </a:xfrm>
        </p:grpSpPr>
        <p:sp>
          <p:nvSpPr>
            <p:cNvPr id="1166" name="Google Shape;1166;p17"/>
            <p:cNvSpPr/>
            <p:nvPr/>
          </p:nvSpPr>
          <p:spPr>
            <a:xfrm>
              <a:off x="0" y="0"/>
              <a:ext cx="6766560" cy="731520"/>
            </a:xfrm>
            <a:custGeom>
              <a:rect b="b" l="l" r="r" t="t"/>
              <a:pathLst>
                <a:path extrusionOk="0" h="73152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30232" l="0" r="0" t="-13023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7" name="Google Shape;1167;p17"/>
            <p:cNvSpPr txBox="1"/>
            <p:nvPr/>
          </p:nvSpPr>
          <p:spPr>
            <a:xfrm>
              <a:off x="0" y="-28575"/>
              <a:ext cx="6766560" cy="7600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>
                  <a:solidFill>
                    <a:srgbClr val="5B7387"/>
                  </a:solidFill>
                  <a:latin typeface="Calibri"/>
                  <a:ea typeface="Calibri"/>
                  <a:cs typeface="Calibri"/>
                  <a:sym typeface="Calibri"/>
                </a:rPr>
                <a:t>Late Rate keseluruhan</a:t>
              </a:r>
              <a:endParaRPr/>
            </a:p>
          </p:txBody>
        </p:sp>
      </p:grpSp>
      <p:grpSp>
        <p:nvGrpSpPr>
          <p:cNvPr id="1168" name="Google Shape;1168;p17"/>
          <p:cNvGrpSpPr/>
          <p:nvPr/>
        </p:nvGrpSpPr>
        <p:grpSpPr>
          <a:xfrm>
            <a:off x="6103620" y="3490436"/>
            <a:ext cx="1371600" cy="1515904"/>
            <a:chOff x="0" y="-9525"/>
            <a:chExt cx="1828800" cy="2021205"/>
          </a:xfrm>
        </p:grpSpPr>
        <p:sp>
          <p:nvSpPr>
            <p:cNvPr id="1169" name="Google Shape;1169;p17"/>
            <p:cNvSpPr/>
            <p:nvPr/>
          </p:nvSpPr>
          <p:spPr>
            <a:xfrm>
              <a:off x="0" y="0"/>
              <a:ext cx="1828800" cy="2011680"/>
            </a:xfrm>
            <a:custGeom>
              <a:rect b="b" l="l" r="r" t="t"/>
              <a:pathLst>
                <a:path extrusionOk="0" h="201168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2011680"/>
                  </a:lnTo>
                  <a:lnTo>
                    <a:pt x="0" y="20116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91131" r="-91131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0" name="Google Shape;1170;p17"/>
            <p:cNvSpPr txBox="1"/>
            <p:nvPr/>
          </p:nvSpPr>
          <p:spPr>
            <a:xfrm>
              <a:off x="0" y="-9525"/>
              <a:ext cx="1828800" cy="20212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6000">
                  <a:solidFill>
                    <a:srgbClr val="1C7293"/>
                  </a:solidFill>
                  <a:latin typeface="Cambria"/>
                  <a:ea typeface="Cambria"/>
                  <a:cs typeface="Cambria"/>
                  <a:sym typeface="Cambria"/>
                </a:rPr>
                <a:t>→</a:t>
              </a:r>
              <a:endParaRPr/>
            </a:p>
          </p:txBody>
        </p:sp>
      </p:grpSp>
      <p:sp>
        <p:nvSpPr>
          <p:cNvPr id="1171" name="Google Shape;1171;p17"/>
          <p:cNvSpPr/>
          <p:nvPr/>
        </p:nvSpPr>
        <p:spPr>
          <a:xfrm>
            <a:off x="7612380" y="2743200"/>
            <a:ext cx="5074920" cy="2948940"/>
          </a:xfrm>
          <a:custGeom>
            <a:rect b="b" l="l" r="r" t="t"/>
            <a:pathLst>
              <a:path extrusionOk="0" h="3931920" w="6766560">
                <a:moveTo>
                  <a:pt x="0" y="182880"/>
                </a:moveTo>
                <a:cubicBezTo>
                  <a:pt x="0" y="81915"/>
                  <a:pt x="81915" y="0"/>
                  <a:pt x="182880" y="0"/>
                </a:cubicBezTo>
                <a:lnTo>
                  <a:pt x="6583680" y="0"/>
                </a:lnTo>
                <a:cubicBezTo>
                  <a:pt x="6684645" y="0"/>
                  <a:pt x="6766560" y="81915"/>
                  <a:pt x="6766560" y="182880"/>
                </a:cubicBezTo>
                <a:lnTo>
                  <a:pt x="6766560" y="3749040"/>
                </a:lnTo>
                <a:cubicBezTo>
                  <a:pt x="6766560" y="3850005"/>
                  <a:pt x="6684645" y="3931920"/>
                  <a:pt x="6583680" y="3931920"/>
                </a:cubicBezTo>
                <a:lnTo>
                  <a:pt x="182880" y="3931920"/>
                </a:lnTo>
                <a:cubicBezTo>
                  <a:pt x="81915" y="3931920"/>
                  <a:pt x="0" y="3850005"/>
                  <a:pt x="0" y="3749040"/>
                </a:cubicBezTo>
                <a:close/>
              </a:path>
            </a:pathLst>
          </a:custGeom>
          <a:solidFill>
            <a:srgbClr val="0B254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72" name="Google Shape;1172;p17"/>
          <p:cNvGrpSpPr/>
          <p:nvPr/>
        </p:nvGrpSpPr>
        <p:grpSpPr>
          <a:xfrm>
            <a:off x="7612380" y="3023521"/>
            <a:ext cx="5074920" cy="432911"/>
            <a:chOff x="0" y="-28575"/>
            <a:chExt cx="6766560" cy="577215"/>
          </a:xfrm>
        </p:grpSpPr>
        <p:sp>
          <p:nvSpPr>
            <p:cNvPr id="1173" name="Google Shape;1173;p17"/>
            <p:cNvSpPr/>
            <p:nvPr/>
          </p:nvSpPr>
          <p:spPr>
            <a:xfrm>
              <a:off x="0" y="0"/>
              <a:ext cx="6766560" cy="548640"/>
            </a:xfrm>
            <a:custGeom>
              <a:rect b="b" l="l" r="r" t="t"/>
              <a:pathLst>
                <a:path extrusionOk="0" h="54864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90315" l="0" r="0" t="-19031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4" name="Google Shape;1174;p17"/>
            <p:cNvSpPr txBox="1"/>
            <p:nvPr/>
          </p:nvSpPr>
          <p:spPr>
            <a:xfrm>
              <a:off x="0" y="-28575"/>
              <a:ext cx="6766560" cy="577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pc="150" sz="1650">
                  <a:solidFill>
                    <a:srgbClr val="CFE2F3"/>
                  </a:solidFill>
                  <a:latin typeface="Calibri"/>
                  <a:ea typeface="Calibri"/>
                  <a:cs typeface="Calibri"/>
                  <a:sym typeface="Calibri"/>
                </a:rPr>
                <a:t>TARGET</a:t>
              </a:r>
              <a:endParaRPr/>
            </a:p>
          </p:txBody>
        </p:sp>
      </p:grpSp>
      <p:grpSp>
        <p:nvGrpSpPr>
          <p:cNvPr id="1175" name="Google Shape;1175;p17"/>
          <p:cNvGrpSpPr/>
          <p:nvPr/>
        </p:nvGrpSpPr>
        <p:grpSpPr>
          <a:xfrm>
            <a:off x="7612380" y="3414713"/>
            <a:ext cx="5074920" cy="1385888"/>
            <a:chOff x="0" y="-19050"/>
            <a:chExt cx="6766560" cy="1847850"/>
          </a:xfrm>
        </p:grpSpPr>
        <p:sp>
          <p:nvSpPr>
            <p:cNvPr id="1176" name="Google Shape;1176;p17"/>
            <p:cNvSpPr/>
            <p:nvPr/>
          </p:nvSpPr>
          <p:spPr>
            <a:xfrm>
              <a:off x="0" y="0"/>
              <a:ext cx="6766560" cy="1828800"/>
            </a:xfrm>
            <a:custGeom>
              <a:rect b="b" l="l" r="r" t="t"/>
              <a:pathLst>
                <a:path extrusionOk="0" h="182880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1828800"/>
                  </a:lnTo>
                  <a:lnTo>
                    <a:pt x="0" y="18288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2094" l="0" r="0" t="-2209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7" name="Google Shape;1177;p17"/>
            <p:cNvSpPr txBox="1"/>
            <p:nvPr/>
          </p:nvSpPr>
          <p:spPr>
            <a:xfrm>
              <a:off x="0" y="-19050"/>
              <a:ext cx="6766560" cy="1847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6300">
                  <a:solidFill>
                    <a:srgbClr val="2E9E6D"/>
                  </a:solidFill>
                  <a:latin typeface="Cambria"/>
                  <a:ea typeface="Cambria"/>
                  <a:cs typeface="Cambria"/>
                  <a:sym typeface="Cambria"/>
                </a:rPr>
                <a:t>~41,4% </a:t>
              </a:r>
              <a:endParaRPr/>
            </a:p>
          </p:txBody>
        </p:sp>
      </p:grpSp>
      <p:grpSp>
        <p:nvGrpSpPr>
          <p:cNvPr id="1178" name="Google Shape;1178;p17"/>
          <p:cNvGrpSpPr/>
          <p:nvPr/>
        </p:nvGrpSpPr>
        <p:grpSpPr>
          <a:xfrm>
            <a:off x="7612380" y="4916329"/>
            <a:ext cx="5074920" cy="570071"/>
            <a:chOff x="0" y="-28575"/>
            <a:chExt cx="6766560" cy="760095"/>
          </a:xfrm>
        </p:grpSpPr>
        <p:sp>
          <p:nvSpPr>
            <p:cNvPr id="1179" name="Google Shape;1179;p17"/>
            <p:cNvSpPr/>
            <p:nvPr/>
          </p:nvSpPr>
          <p:spPr>
            <a:xfrm>
              <a:off x="0" y="0"/>
              <a:ext cx="6766560" cy="731520"/>
            </a:xfrm>
            <a:custGeom>
              <a:rect b="b" l="l" r="r" t="t"/>
              <a:pathLst>
                <a:path extrusionOk="0" h="73152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30232" l="0" r="0" t="-13023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0" name="Google Shape;1180;p17"/>
            <p:cNvSpPr txBox="1"/>
            <p:nvPr/>
          </p:nvSpPr>
          <p:spPr>
            <a:xfrm>
              <a:off x="0" y="-28575"/>
              <a:ext cx="6766560" cy="7600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>
                  <a:solidFill>
                    <a:srgbClr val="CFE2F3"/>
                  </a:solidFill>
                  <a:latin typeface="Calibri"/>
                  <a:ea typeface="Calibri"/>
                  <a:cs typeface="Calibri"/>
                  <a:sym typeface="Calibri"/>
                </a:rPr>
                <a:t>Hasil Simulasi Dynamic SLA </a:t>
              </a:r>
              <a:endParaRPr/>
            </a:p>
          </p:txBody>
        </p:sp>
      </p:grpSp>
      <p:sp>
        <p:nvSpPr>
          <p:cNvPr id="1181" name="Google Shape;1181;p17"/>
          <p:cNvSpPr/>
          <p:nvPr/>
        </p:nvSpPr>
        <p:spPr>
          <a:xfrm>
            <a:off x="13089255" y="3076575"/>
            <a:ext cx="4339590" cy="2282190"/>
          </a:xfrm>
          <a:custGeom>
            <a:rect b="b" l="l" r="r" t="t"/>
            <a:pathLst>
              <a:path extrusionOk="0" h="3042920" w="5786120">
                <a:moveTo>
                  <a:pt x="0" y="184404"/>
                </a:moveTo>
                <a:cubicBezTo>
                  <a:pt x="0" y="82550"/>
                  <a:pt x="82550" y="0"/>
                  <a:pt x="184404" y="0"/>
                </a:cubicBezTo>
                <a:lnTo>
                  <a:pt x="5601716" y="0"/>
                </a:lnTo>
                <a:cubicBezTo>
                  <a:pt x="5703570" y="0"/>
                  <a:pt x="5786120" y="82550"/>
                  <a:pt x="5786120" y="184404"/>
                </a:cubicBezTo>
                <a:lnTo>
                  <a:pt x="5786120" y="2858516"/>
                </a:lnTo>
                <a:cubicBezTo>
                  <a:pt x="5786120" y="2960370"/>
                  <a:pt x="5703570" y="3042920"/>
                  <a:pt x="5601716" y="3042920"/>
                </a:cubicBezTo>
                <a:lnTo>
                  <a:pt x="184404" y="3042920"/>
                </a:lnTo>
                <a:cubicBezTo>
                  <a:pt x="82550" y="3042920"/>
                  <a:pt x="0" y="2960370"/>
                  <a:pt x="0" y="2858516"/>
                </a:cubicBezTo>
                <a:close/>
              </a:path>
            </a:pathLst>
          </a:custGeom>
          <a:solidFill>
            <a:srgbClr val="FCEFEA"/>
          </a:solidFill>
          <a:ln cap="sq" cmpd="sng" w="19050">
            <a:solidFill>
              <a:srgbClr val="F0D3C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82" name="Google Shape;1182;p17"/>
          <p:cNvGrpSpPr/>
          <p:nvPr/>
        </p:nvGrpSpPr>
        <p:grpSpPr>
          <a:xfrm>
            <a:off x="13098780" y="3319272"/>
            <a:ext cx="4320540" cy="960120"/>
            <a:chOff x="0" y="0"/>
            <a:chExt cx="5760720" cy="1280160"/>
          </a:xfrm>
        </p:grpSpPr>
        <p:sp>
          <p:nvSpPr>
            <p:cNvPr id="1183" name="Google Shape;1183;p17"/>
            <p:cNvSpPr/>
            <p:nvPr/>
          </p:nvSpPr>
          <p:spPr>
            <a:xfrm>
              <a:off x="0" y="0"/>
              <a:ext cx="5760720" cy="1280160"/>
            </a:xfrm>
            <a:custGeom>
              <a:rect b="b" l="l" r="r" t="t"/>
              <a:pathLst>
                <a:path extrusionOk="0" h="128016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1280160"/>
                  </a:lnTo>
                  <a:lnTo>
                    <a:pt x="0" y="12801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7682" l="0" r="0" t="-3768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4" name="Google Shape;1184;p17"/>
            <p:cNvSpPr txBox="1"/>
            <p:nvPr/>
          </p:nvSpPr>
          <p:spPr>
            <a:xfrm>
              <a:off x="0" y="0"/>
              <a:ext cx="5760720" cy="12801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00">
                  <a:solidFill>
                    <a:srgbClr val="B23A3A"/>
                  </a:solidFill>
                  <a:latin typeface="Cambria"/>
                  <a:ea typeface="Cambria"/>
                  <a:cs typeface="Cambria"/>
                  <a:sym typeface="Cambria"/>
                </a:rPr>
                <a:t>~15 p.p </a:t>
              </a:r>
              <a:endParaRPr/>
            </a:p>
          </p:txBody>
        </p:sp>
      </p:grpSp>
      <p:grpSp>
        <p:nvGrpSpPr>
          <p:cNvPr id="1185" name="Google Shape;1185;p17"/>
          <p:cNvGrpSpPr/>
          <p:nvPr/>
        </p:nvGrpSpPr>
        <p:grpSpPr>
          <a:xfrm>
            <a:off x="13304520" y="4161949"/>
            <a:ext cx="3909060" cy="1187291"/>
            <a:chOff x="0" y="-28575"/>
            <a:chExt cx="5212080" cy="1583055"/>
          </a:xfrm>
        </p:grpSpPr>
        <p:sp>
          <p:nvSpPr>
            <p:cNvPr id="1186" name="Google Shape;1186;p17"/>
            <p:cNvSpPr/>
            <p:nvPr/>
          </p:nvSpPr>
          <p:spPr>
            <a:xfrm>
              <a:off x="0" y="0"/>
              <a:ext cx="5212080" cy="1554480"/>
            </a:xfrm>
            <a:custGeom>
              <a:rect b="b" l="l" r="r" t="t"/>
              <a:pathLst>
                <a:path extrusionOk="0" h="155448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554480"/>
                  </a:lnTo>
                  <a:lnTo>
                    <a:pt x="0" y="15544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5332" l="0" r="0" t="-1533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7" name="Google Shape;1187;p17"/>
            <p:cNvSpPr txBox="1"/>
            <p:nvPr/>
          </p:nvSpPr>
          <p:spPr>
            <a:xfrm>
              <a:off x="0" y="-28575"/>
              <a:ext cx="5212080" cy="15830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214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dk1"/>
                  </a:solidFill>
                </a:rPr>
                <a:t>Potensi </a:t>
              </a:r>
              <a:r>
                <a:rPr b="1" lang="en-US" sz="1100">
                  <a:solidFill>
                    <a:schemeClr val="dk1"/>
                  </a:solidFill>
                </a:rPr>
                <a:t>~7.475 pesanan/tahun</a:t>
              </a:r>
              <a:r>
                <a:rPr lang="en-US" sz="1100">
                  <a:solidFill>
                    <a:schemeClr val="dk1"/>
                  </a:solidFill>
                </a:rPr>
                <a:t> berubah dari terlambat ke tepat waktu (dihitung dari 14,95% x  50.000 pesanan)</a:t>
              </a:r>
              <a:endParaRPr/>
            </a:p>
          </p:txBody>
        </p:sp>
      </p:grpSp>
      <p:sp>
        <p:nvSpPr>
          <p:cNvPr id="1188" name="Google Shape;1188;p17"/>
          <p:cNvSpPr/>
          <p:nvPr/>
        </p:nvSpPr>
        <p:spPr>
          <a:xfrm>
            <a:off x="836298" y="6165675"/>
            <a:ext cx="16615410" cy="2899410"/>
          </a:xfrm>
          <a:custGeom>
            <a:rect b="b" l="l" r="r" t="t"/>
            <a:pathLst>
              <a:path extrusionOk="0" h="3865880" w="22153880">
                <a:moveTo>
                  <a:pt x="0" y="147320"/>
                </a:moveTo>
                <a:cubicBezTo>
                  <a:pt x="0" y="65913"/>
                  <a:pt x="65913" y="0"/>
                  <a:pt x="147320" y="0"/>
                </a:cubicBezTo>
                <a:lnTo>
                  <a:pt x="22006561" y="0"/>
                </a:lnTo>
                <a:cubicBezTo>
                  <a:pt x="22087968" y="0"/>
                  <a:pt x="22153880" y="65913"/>
                  <a:pt x="22153880" y="147320"/>
                </a:cubicBezTo>
                <a:lnTo>
                  <a:pt x="22153880" y="3718560"/>
                </a:lnTo>
                <a:cubicBezTo>
                  <a:pt x="22153880" y="3799967"/>
                  <a:pt x="22087968" y="3865880"/>
                  <a:pt x="22006561" y="3865880"/>
                </a:cubicBezTo>
                <a:lnTo>
                  <a:pt x="147320" y="3865880"/>
                </a:lnTo>
                <a:cubicBezTo>
                  <a:pt x="65913" y="3865880"/>
                  <a:pt x="0" y="3799967"/>
                  <a:pt x="0" y="3718560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E3EA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17"/>
          <p:cNvSpPr/>
          <p:nvPr/>
        </p:nvSpPr>
        <p:spPr>
          <a:xfrm>
            <a:off x="1165860" y="6473952"/>
            <a:ext cx="576072" cy="576072"/>
          </a:xfrm>
          <a:custGeom>
            <a:rect b="b" l="l" r="r" t="t"/>
            <a:pathLst>
              <a:path extrusionOk="0" h="768096" w="768096">
                <a:moveTo>
                  <a:pt x="0" y="384048"/>
                </a:moveTo>
                <a:cubicBezTo>
                  <a:pt x="0" y="171958"/>
                  <a:pt x="171958" y="0"/>
                  <a:pt x="384048" y="0"/>
                </a:cubicBezTo>
                <a:cubicBezTo>
                  <a:pt x="596138" y="0"/>
                  <a:pt x="768096" y="171958"/>
                  <a:pt x="768096" y="384048"/>
                </a:cubicBezTo>
                <a:cubicBezTo>
                  <a:pt x="768096" y="596138"/>
                  <a:pt x="596138" y="768096"/>
                  <a:pt x="384048" y="768096"/>
                </a:cubicBezTo>
                <a:cubicBezTo>
                  <a:pt x="171958" y="768096"/>
                  <a:pt x="0" y="596138"/>
                  <a:pt x="0" y="384048"/>
                </a:cubicBezTo>
                <a:close/>
              </a:path>
            </a:pathLst>
          </a:cu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90" name="Google Shape;1190;p17"/>
          <p:cNvGrpSpPr/>
          <p:nvPr/>
        </p:nvGrpSpPr>
        <p:grpSpPr>
          <a:xfrm>
            <a:off x="1165860" y="6466808"/>
            <a:ext cx="576072" cy="583216"/>
            <a:chOff x="0" y="-9525"/>
            <a:chExt cx="768096" cy="777621"/>
          </a:xfrm>
        </p:grpSpPr>
        <p:sp>
          <p:nvSpPr>
            <p:cNvPr id="1191" name="Google Shape;1191;p17"/>
            <p:cNvSpPr/>
            <p:nvPr/>
          </p:nvSpPr>
          <p:spPr>
            <a:xfrm>
              <a:off x="0" y="0"/>
              <a:ext cx="768096" cy="768096"/>
            </a:xfrm>
            <a:custGeom>
              <a:rect b="b" l="l" r="r" t="t"/>
              <a:pathLst>
                <a:path extrusionOk="0"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2" name="Google Shape;1192;p17"/>
            <p:cNvSpPr txBox="1"/>
            <p:nvPr/>
          </p:nvSpPr>
          <p:spPr>
            <a:xfrm>
              <a:off x="0" y="-9525"/>
              <a:ext cx="768096" cy="7776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5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1</a:t>
              </a:r>
              <a:endParaRPr/>
            </a:p>
          </p:txBody>
        </p:sp>
      </p:grpSp>
      <p:grpSp>
        <p:nvGrpSpPr>
          <p:cNvPr id="1193" name="Google Shape;1193;p17"/>
          <p:cNvGrpSpPr/>
          <p:nvPr/>
        </p:nvGrpSpPr>
        <p:grpSpPr>
          <a:xfrm>
            <a:off x="6240780" y="6377940"/>
            <a:ext cx="10904221" cy="932606"/>
            <a:chOff x="0" y="0"/>
            <a:chExt cx="14538961" cy="1243475"/>
          </a:xfrm>
        </p:grpSpPr>
        <p:sp>
          <p:nvSpPr>
            <p:cNvPr id="1194" name="Google Shape;1194;p17"/>
            <p:cNvSpPr/>
            <p:nvPr/>
          </p:nvSpPr>
          <p:spPr>
            <a:xfrm>
              <a:off x="0" y="0"/>
              <a:ext cx="14538961" cy="1097280"/>
            </a:xfrm>
            <a:custGeom>
              <a:rect b="b" l="l" r="r" t="t"/>
              <a:pathLst>
                <a:path extrusionOk="0" h="1097280" w="14538961">
                  <a:moveTo>
                    <a:pt x="0" y="0"/>
                  </a:moveTo>
                  <a:lnTo>
                    <a:pt x="14538961" y="0"/>
                  </a:lnTo>
                  <a:lnTo>
                    <a:pt x="14538961" y="1097280"/>
                  </a:lnTo>
                  <a:lnTo>
                    <a:pt x="0" y="109728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5" name="Google Shape;1195;p17"/>
            <p:cNvSpPr txBox="1"/>
            <p:nvPr/>
          </p:nvSpPr>
          <p:spPr>
            <a:xfrm>
              <a:off x="0" y="98675"/>
              <a:ext cx="14538900" cy="114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96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20">
                  <a:solidFill>
                    <a:srgbClr val="5B7387"/>
                  </a:solidFill>
                  <a:latin typeface="Calibri"/>
                  <a:ea typeface="Calibri"/>
                  <a:cs typeface="Calibri"/>
                  <a:sym typeface="Calibri"/>
                </a:rPr>
                <a:t>Angka 41,37% didapat dari simulasi What-If Analysis dengan menambahkan buffer SLA 2 hari khusus pada pengiriman jarak jauh (&gt;3.000 km)</a:t>
              </a:r>
              <a:endParaRPr sz="16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96" name="Google Shape;1196;p17"/>
          <p:cNvSpPr/>
          <p:nvPr/>
        </p:nvSpPr>
        <p:spPr>
          <a:xfrm>
            <a:off x="1165860" y="7338060"/>
            <a:ext cx="576072" cy="576072"/>
          </a:xfrm>
          <a:custGeom>
            <a:rect b="b" l="l" r="r" t="t"/>
            <a:pathLst>
              <a:path extrusionOk="0" h="768096" w="768096">
                <a:moveTo>
                  <a:pt x="0" y="384048"/>
                </a:moveTo>
                <a:cubicBezTo>
                  <a:pt x="0" y="171958"/>
                  <a:pt x="171958" y="0"/>
                  <a:pt x="384048" y="0"/>
                </a:cubicBezTo>
                <a:cubicBezTo>
                  <a:pt x="596138" y="0"/>
                  <a:pt x="768096" y="171958"/>
                  <a:pt x="768096" y="384048"/>
                </a:cubicBezTo>
                <a:cubicBezTo>
                  <a:pt x="768096" y="596138"/>
                  <a:pt x="596138" y="768096"/>
                  <a:pt x="384048" y="768096"/>
                </a:cubicBezTo>
                <a:cubicBezTo>
                  <a:pt x="171958" y="768096"/>
                  <a:pt x="0" y="596138"/>
                  <a:pt x="0" y="384048"/>
                </a:cubicBezTo>
                <a:close/>
              </a:path>
            </a:pathLst>
          </a:cu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97" name="Google Shape;1197;p17"/>
          <p:cNvGrpSpPr/>
          <p:nvPr/>
        </p:nvGrpSpPr>
        <p:grpSpPr>
          <a:xfrm>
            <a:off x="1165860" y="7330916"/>
            <a:ext cx="576072" cy="583216"/>
            <a:chOff x="0" y="-9525"/>
            <a:chExt cx="768096" cy="777621"/>
          </a:xfrm>
        </p:grpSpPr>
        <p:sp>
          <p:nvSpPr>
            <p:cNvPr id="1198" name="Google Shape;1198;p17"/>
            <p:cNvSpPr/>
            <p:nvPr/>
          </p:nvSpPr>
          <p:spPr>
            <a:xfrm>
              <a:off x="0" y="0"/>
              <a:ext cx="768096" cy="768096"/>
            </a:xfrm>
            <a:custGeom>
              <a:rect b="b" l="l" r="r" t="t"/>
              <a:pathLst>
                <a:path extrusionOk="0"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9" name="Google Shape;1199;p17"/>
            <p:cNvSpPr txBox="1"/>
            <p:nvPr/>
          </p:nvSpPr>
          <p:spPr>
            <a:xfrm>
              <a:off x="0" y="-9525"/>
              <a:ext cx="768096" cy="7776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5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2</a:t>
              </a:r>
              <a:endParaRPr/>
            </a:p>
          </p:txBody>
        </p:sp>
      </p:grpSp>
      <p:grpSp>
        <p:nvGrpSpPr>
          <p:cNvPr id="1200" name="Google Shape;1200;p17"/>
          <p:cNvGrpSpPr/>
          <p:nvPr/>
        </p:nvGrpSpPr>
        <p:grpSpPr>
          <a:xfrm>
            <a:off x="1933945" y="6356186"/>
            <a:ext cx="4242575" cy="851625"/>
            <a:chOff x="0" y="-38150"/>
            <a:chExt cx="5656767" cy="1135500"/>
          </a:xfrm>
        </p:grpSpPr>
        <p:sp>
          <p:nvSpPr>
            <p:cNvPr id="1201" name="Google Shape;1201;p17"/>
            <p:cNvSpPr/>
            <p:nvPr/>
          </p:nvSpPr>
          <p:spPr>
            <a:xfrm>
              <a:off x="170367" y="-19050"/>
              <a:ext cx="5486400" cy="1097280"/>
            </a:xfrm>
            <a:custGeom>
              <a:rect b="b" l="l" r="r" t="t"/>
              <a:pathLst>
                <a:path extrusionOk="0" h="10972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7424" l="0" r="0" t="-4742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2" name="Google Shape;1202;p17"/>
            <p:cNvSpPr txBox="1"/>
            <p:nvPr/>
          </p:nvSpPr>
          <p:spPr>
            <a:xfrm>
              <a:off x="0" y="-38150"/>
              <a:ext cx="5486400" cy="113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B2545"/>
                  </a:solidFill>
                  <a:latin typeface="Calibri"/>
                  <a:ea typeface="Calibri"/>
                  <a:cs typeface="Calibri"/>
                  <a:sym typeface="Calibri"/>
                </a:rPr>
                <a:t>Simulasi Berbasis Data Riil (Data Backed)</a:t>
              </a:r>
              <a:endParaRPr/>
            </a:p>
          </p:txBody>
        </p:sp>
      </p:grpSp>
      <p:grpSp>
        <p:nvGrpSpPr>
          <p:cNvPr id="1203" name="Google Shape;1203;p17"/>
          <p:cNvGrpSpPr/>
          <p:nvPr/>
        </p:nvGrpSpPr>
        <p:grpSpPr>
          <a:xfrm>
            <a:off x="6240780" y="7206329"/>
            <a:ext cx="10904221" cy="858679"/>
            <a:chOff x="0" y="-47625"/>
            <a:chExt cx="14538961" cy="1144905"/>
          </a:xfrm>
        </p:grpSpPr>
        <p:sp>
          <p:nvSpPr>
            <p:cNvPr id="1204" name="Google Shape;1204;p17"/>
            <p:cNvSpPr/>
            <p:nvPr/>
          </p:nvSpPr>
          <p:spPr>
            <a:xfrm>
              <a:off x="0" y="0"/>
              <a:ext cx="14538961" cy="1097280"/>
            </a:xfrm>
            <a:custGeom>
              <a:rect b="b" l="l" r="r" t="t"/>
              <a:pathLst>
                <a:path extrusionOk="0" h="1097280" w="14538961">
                  <a:moveTo>
                    <a:pt x="0" y="0"/>
                  </a:moveTo>
                  <a:lnTo>
                    <a:pt x="14538961" y="0"/>
                  </a:lnTo>
                  <a:lnTo>
                    <a:pt x="14538961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08184" l="0" r="0" t="-20818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5" name="Google Shape;1205;p17"/>
            <p:cNvSpPr txBox="1"/>
            <p:nvPr/>
          </p:nvSpPr>
          <p:spPr>
            <a:xfrm>
              <a:off x="0" y="-47625"/>
              <a:ext cx="14538960" cy="11449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96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20">
                  <a:solidFill>
                    <a:srgbClr val="5B7387"/>
                  </a:solidFill>
                  <a:latin typeface="Calibri"/>
                  <a:ea typeface="Calibri"/>
                  <a:cs typeface="Calibri"/>
                  <a:sym typeface="Calibri"/>
                </a:rPr>
                <a:t>Late Rate pada kelompok pengiriman &gt;3.000 km melandai dari 75%–82% menjadi ~20% murni karena pengoreksian janji estimasi kaku di sistem, bukan memaksakan kurir bekerja di luar kapasitas. </a:t>
              </a:r>
              <a:endParaRPr/>
            </a:p>
          </p:txBody>
        </p:sp>
      </p:grpSp>
      <p:sp>
        <p:nvSpPr>
          <p:cNvPr id="1206" name="Google Shape;1206;p17"/>
          <p:cNvSpPr/>
          <p:nvPr/>
        </p:nvSpPr>
        <p:spPr>
          <a:xfrm>
            <a:off x="1165860" y="8202168"/>
            <a:ext cx="576072" cy="576072"/>
          </a:xfrm>
          <a:custGeom>
            <a:rect b="b" l="l" r="r" t="t"/>
            <a:pathLst>
              <a:path extrusionOk="0" h="768096" w="768096">
                <a:moveTo>
                  <a:pt x="0" y="384048"/>
                </a:moveTo>
                <a:cubicBezTo>
                  <a:pt x="0" y="171958"/>
                  <a:pt x="171958" y="0"/>
                  <a:pt x="384048" y="0"/>
                </a:cubicBezTo>
                <a:cubicBezTo>
                  <a:pt x="596138" y="0"/>
                  <a:pt x="768096" y="171958"/>
                  <a:pt x="768096" y="384048"/>
                </a:cubicBezTo>
                <a:cubicBezTo>
                  <a:pt x="768096" y="596138"/>
                  <a:pt x="596138" y="768096"/>
                  <a:pt x="384048" y="768096"/>
                </a:cubicBezTo>
                <a:cubicBezTo>
                  <a:pt x="171958" y="768096"/>
                  <a:pt x="0" y="596138"/>
                  <a:pt x="0" y="384048"/>
                </a:cubicBezTo>
                <a:close/>
              </a:path>
            </a:pathLst>
          </a:cu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07" name="Google Shape;1207;p17"/>
          <p:cNvGrpSpPr/>
          <p:nvPr/>
        </p:nvGrpSpPr>
        <p:grpSpPr>
          <a:xfrm>
            <a:off x="1165860" y="8195024"/>
            <a:ext cx="576072" cy="583216"/>
            <a:chOff x="0" y="-9525"/>
            <a:chExt cx="768096" cy="777621"/>
          </a:xfrm>
        </p:grpSpPr>
        <p:sp>
          <p:nvSpPr>
            <p:cNvPr id="1208" name="Google Shape;1208;p17"/>
            <p:cNvSpPr/>
            <p:nvPr/>
          </p:nvSpPr>
          <p:spPr>
            <a:xfrm>
              <a:off x="0" y="0"/>
              <a:ext cx="768096" cy="768096"/>
            </a:xfrm>
            <a:custGeom>
              <a:rect b="b" l="l" r="r" t="t"/>
              <a:pathLst>
                <a:path extrusionOk="0"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9" name="Google Shape;1209;p17"/>
            <p:cNvSpPr txBox="1"/>
            <p:nvPr/>
          </p:nvSpPr>
          <p:spPr>
            <a:xfrm>
              <a:off x="0" y="-9525"/>
              <a:ext cx="768096" cy="7776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5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3</a:t>
              </a:r>
              <a:endParaRPr/>
            </a:p>
          </p:txBody>
        </p:sp>
      </p:grpSp>
      <p:grpSp>
        <p:nvGrpSpPr>
          <p:cNvPr id="1210" name="Google Shape;1210;p17"/>
          <p:cNvGrpSpPr/>
          <p:nvPr/>
        </p:nvGrpSpPr>
        <p:grpSpPr>
          <a:xfrm>
            <a:off x="1988820" y="8077581"/>
            <a:ext cx="4114800" cy="851535"/>
            <a:chOff x="0" y="-38100"/>
            <a:chExt cx="5486400" cy="1135380"/>
          </a:xfrm>
        </p:grpSpPr>
        <p:sp>
          <p:nvSpPr>
            <p:cNvPr id="1211" name="Google Shape;1211;p17"/>
            <p:cNvSpPr/>
            <p:nvPr/>
          </p:nvSpPr>
          <p:spPr>
            <a:xfrm>
              <a:off x="0" y="0"/>
              <a:ext cx="5486400" cy="1097280"/>
            </a:xfrm>
            <a:custGeom>
              <a:rect b="b" l="l" r="r" t="t"/>
              <a:pathLst>
                <a:path extrusionOk="0" h="10972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7424" l="0" r="0" t="-4742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2" name="Google Shape;1212;p17"/>
            <p:cNvSpPr txBox="1"/>
            <p:nvPr/>
          </p:nvSpPr>
          <p:spPr>
            <a:xfrm>
              <a:off x="0" y="-38100"/>
              <a:ext cx="5486400" cy="11353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B2545"/>
                  </a:solidFill>
                  <a:latin typeface="Calibri"/>
                  <a:ea typeface="Calibri"/>
                  <a:cs typeface="Calibri"/>
                  <a:sym typeface="Calibri"/>
                </a:rPr>
                <a:t>Pijakan Strategis untuk Fase 2 (Phased Approach)</a:t>
              </a:r>
              <a:endParaRPr/>
            </a:p>
          </p:txBody>
        </p:sp>
      </p:grpSp>
      <p:grpSp>
        <p:nvGrpSpPr>
          <p:cNvPr id="1213" name="Google Shape;1213;p17"/>
          <p:cNvGrpSpPr/>
          <p:nvPr/>
        </p:nvGrpSpPr>
        <p:grpSpPr>
          <a:xfrm>
            <a:off x="6240780" y="8070437"/>
            <a:ext cx="10904221" cy="858679"/>
            <a:chOff x="0" y="-47625"/>
            <a:chExt cx="14538961" cy="1144905"/>
          </a:xfrm>
        </p:grpSpPr>
        <p:sp>
          <p:nvSpPr>
            <p:cNvPr id="1214" name="Google Shape;1214;p17"/>
            <p:cNvSpPr/>
            <p:nvPr/>
          </p:nvSpPr>
          <p:spPr>
            <a:xfrm>
              <a:off x="0" y="0"/>
              <a:ext cx="14538961" cy="1097280"/>
            </a:xfrm>
            <a:custGeom>
              <a:rect b="b" l="l" r="r" t="t"/>
              <a:pathLst>
                <a:path extrusionOk="0" h="1097280" w="14538961">
                  <a:moveTo>
                    <a:pt x="0" y="0"/>
                  </a:moveTo>
                  <a:lnTo>
                    <a:pt x="14538961" y="0"/>
                  </a:lnTo>
                  <a:lnTo>
                    <a:pt x="14538961" y="1097280"/>
                  </a:lnTo>
                  <a:lnTo>
                    <a:pt x="0" y="10972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08184" l="0" r="0" t="-20818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5" name="Google Shape;1215;p17"/>
            <p:cNvSpPr txBox="1"/>
            <p:nvPr/>
          </p:nvSpPr>
          <p:spPr>
            <a:xfrm>
              <a:off x="0" y="-47625"/>
              <a:ext cx="14538960" cy="11449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96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20">
                  <a:solidFill>
                    <a:srgbClr val="5B7387"/>
                  </a:solidFill>
                  <a:latin typeface="Calibri"/>
                  <a:ea typeface="Calibri"/>
                  <a:cs typeface="Calibri"/>
                  <a:sym typeface="Calibri"/>
                </a:rPr>
                <a:t>Pencapaian 41,4% adalah Quick Win (Fase 1). Ini menjadi baseline aman sebelum dilanjutkan dengan re-alokasi volume dari carrier berkinerja buruk (GlobalExpress) ke carrier terbaik (SwiftShip) pada Fase 2 untuk menekan Late Rate hingga &lt;30%</a:t>
              </a:r>
              <a:r>
                <a:rPr lang="en-US" sz="1100">
                  <a:solidFill>
                    <a:schemeClr val="dk1"/>
                  </a:solidFill>
                </a:rPr>
                <a:t>. </a:t>
              </a:r>
              <a:endParaRPr/>
            </a:p>
          </p:txBody>
        </p:sp>
      </p:grpSp>
      <p:grpSp>
        <p:nvGrpSpPr>
          <p:cNvPr id="1216" name="Google Shape;1216;p17"/>
          <p:cNvGrpSpPr/>
          <p:nvPr/>
        </p:nvGrpSpPr>
        <p:grpSpPr>
          <a:xfrm>
            <a:off x="685800" y="9744361"/>
            <a:ext cx="10972800" cy="432911"/>
            <a:chOff x="0" y="-28575"/>
            <a:chExt cx="14630400" cy="577215"/>
          </a:xfrm>
        </p:grpSpPr>
        <p:sp>
          <p:nvSpPr>
            <p:cNvPr id="1217" name="Google Shape;1217;p17"/>
            <p:cNvSpPr/>
            <p:nvPr/>
          </p:nvSpPr>
          <p:spPr>
            <a:xfrm>
              <a:off x="0" y="0"/>
              <a:ext cx="14630400" cy="548640"/>
            </a:xfrm>
            <a:custGeom>
              <a:rect b="b" l="l" r="r" t="t"/>
              <a:pathLst>
                <a:path extrusionOk="0"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69642" l="0" r="0" t="-46964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8" name="Google Shape;1218;p17"/>
            <p:cNvSpPr txBox="1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5B7387"/>
                  </a:solidFill>
                  <a:latin typeface="Calibri"/>
                  <a:ea typeface="Calibri"/>
                  <a:cs typeface="Calibri"/>
                  <a:sym typeface="Calibri"/>
                </a:rPr>
                <a:t>E-Commerce Delivery Performance &amp; Revenue Risk</a:t>
              </a:r>
              <a:endParaRPr/>
            </a:p>
          </p:txBody>
        </p:sp>
      </p:grpSp>
      <p:sp>
        <p:nvSpPr>
          <p:cNvPr id="1219" name="Google Shape;1219;p17"/>
          <p:cNvSpPr txBox="1"/>
          <p:nvPr/>
        </p:nvSpPr>
        <p:spPr>
          <a:xfrm>
            <a:off x="1988820" y="7189673"/>
            <a:ext cx="4114800" cy="85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Tanpa Membebankan Operasional (Operationally Feasible) </a:t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B"/>
        </a:solidFill>
      </p:bgPr>
    </p:bg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4" name="Google Shape;1224;p18"/>
          <p:cNvGrpSpPr/>
          <p:nvPr/>
        </p:nvGrpSpPr>
        <p:grpSpPr>
          <a:xfrm>
            <a:off x="845058" y="760095"/>
            <a:ext cx="10972800" cy="508635"/>
            <a:chOff x="0" y="-38100"/>
            <a:chExt cx="14630400" cy="678180"/>
          </a:xfrm>
        </p:grpSpPr>
        <p:sp>
          <p:nvSpPr>
            <p:cNvPr id="1225" name="Google Shape;1225;p18"/>
            <p:cNvSpPr/>
            <p:nvPr/>
          </p:nvSpPr>
          <p:spPr>
            <a:xfrm>
              <a:off x="0" y="0"/>
              <a:ext cx="14630400" cy="640080"/>
            </a:xfrm>
            <a:custGeom>
              <a:rect b="b" l="l" r="r" t="t"/>
              <a:pathLst>
                <a:path extrusionOk="0"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95395" l="0" r="0" t="-39539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6" name="Google Shape;1226;p18"/>
            <p:cNvSpPr txBox="1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pc="300" sz="1800">
                  <a:solidFill>
                    <a:srgbClr val="1C7293"/>
                  </a:solidFill>
                  <a:latin typeface="Calibri"/>
                  <a:ea typeface="Calibri"/>
                  <a:cs typeface="Calibri"/>
                  <a:sym typeface="Calibri"/>
                </a:rPr>
                <a:t>KESIMPULAN</a:t>
              </a:r>
              <a:endParaRPr/>
            </a:p>
          </p:txBody>
        </p:sp>
      </p:grpSp>
      <p:grpSp>
        <p:nvGrpSpPr>
          <p:cNvPr id="1227" name="Google Shape;1227;p18"/>
          <p:cNvGrpSpPr/>
          <p:nvPr/>
        </p:nvGrpSpPr>
        <p:grpSpPr>
          <a:xfrm>
            <a:off x="845058" y="1352550"/>
            <a:ext cx="16184880" cy="1111568"/>
            <a:chOff x="0" y="-19050"/>
            <a:chExt cx="21579840" cy="1482090"/>
          </a:xfrm>
        </p:grpSpPr>
        <p:sp>
          <p:nvSpPr>
            <p:cNvPr id="1228" name="Google Shape;1228;p18"/>
            <p:cNvSpPr/>
            <p:nvPr/>
          </p:nvSpPr>
          <p:spPr>
            <a:xfrm>
              <a:off x="0" y="0"/>
              <a:ext cx="21579839" cy="1463040"/>
            </a:xfrm>
            <a:custGeom>
              <a:rect b="b" l="l" r="r" t="t"/>
              <a:pathLst>
                <a:path extrusionOk="0" h="146304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37389" l="0" r="0" t="-23738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9" name="Google Shape;1229;p18"/>
            <p:cNvSpPr txBox="1"/>
            <p:nvPr/>
          </p:nvSpPr>
          <p:spPr>
            <a:xfrm>
              <a:off x="0" y="-19050"/>
              <a:ext cx="21579840" cy="1482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00">
                  <a:solidFill>
                    <a:srgbClr val="0B2545"/>
                  </a:solidFill>
                  <a:latin typeface="Cambria"/>
                  <a:ea typeface="Cambria"/>
                  <a:cs typeface="Cambria"/>
                  <a:sym typeface="Cambria"/>
                </a:rPr>
                <a:t>Insight Utama &amp; Rekomendasi</a:t>
              </a:r>
              <a:endParaRPr/>
            </a:p>
          </p:txBody>
        </p:sp>
      </p:grpSp>
      <p:sp>
        <p:nvSpPr>
          <p:cNvPr id="1230" name="Google Shape;1230;p18"/>
          <p:cNvSpPr/>
          <p:nvPr/>
        </p:nvSpPr>
        <p:spPr>
          <a:xfrm>
            <a:off x="836296" y="5016500"/>
            <a:ext cx="16615410" cy="1006602"/>
          </a:xfrm>
          <a:custGeom>
            <a:rect b="b" l="l" r="r" t="t"/>
            <a:pathLst>
              <a:path extrusionOk="0" h="1342136" w="22153880">
                <a:moveTo>
                  <a:pt x="0" y="149098"/>
                </a:moveTo>
                <a:cubicBezTo>
                  <a:pt x="0" y="66802"/>
                  <a:pt x="66802" y="0"/>
                  <a:pt x="149098" y="0"/>
                </a:cubicBezTo>
                <a:lnTo>
                  <a:pt x="22004782" y="0"/>
                </a:lnTo>
                <a:cubicBezTo>
                  <a:pt x="22087078" y="0"/>
                  <a:pt x="22153880" y="66802"/>
                  <a:pt x="22153880" y="149098"/>
                </a:cubicBezTo>
                <a:lnTo>
                  <a:pt x="22153880" y="1193038"/>
                </a:lnTo>
                <a:cubicBezTo>
                  <a:pt x="22153880" y="1275334"/>
                  <a:pt x="22087078" y="1342136"/>
                  <a:pt x="22004782" y="1342136"/>
                </a:cubicBezTo>
                <a:lnTo>
                  <a:pt x="149098" y="1342136"/>
                </a:lnTo>
                <a:cubicBezTo>
                  <a:pt x="66802" y="1342136"/>
                  <a:pt x="0" y="1275334"/>
                  <a:pt x="0" y="1193038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E3EA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p18"/>
          <p:cNvSpPr/>
          <p:nvPr/>
        </p:nvSpPr>
        <p:spPr>
          <a:xfrm>
            <a:off x="1092709" y="5218049"/>
            <a:ext cx="603504" cy="603504"/>
          </a:xfrm>
          <a:custGeom>
            <a:rect b="b" l="l" r="r" t="t"/>
            <a:pathLst>
              <a:path extrusionOk="0" h="804672" w="804672">
                <a:moveTo>
                  <a:pt x="0" y="402336"/>
                </a:moveTo>
                <a:cubicBezTo>
                  <a:pt x="0" y="180086"/>
                  <a:pt x="180086" y="0"/>
                  <a:pt x="402336" y="0"/>
                </a:cubicBezTo>
                <a:cubicBezTo>
                  <a:pt x="624586" y="0"/>
                  <a:pt x="804672" y="180086"/>
                  <a:pt x="804672" y="402336"/>
                </a:cubicBezTo>
                <a:cubicBezTo>
                  <a:pt x="804672" y="624586"/>
                  <a:pt x="624586" y="804672"/>
                  <a:pt x="402336" y="804672"/>
                </a:cubicBezTo>
                <a:cubicBezTo>
                  <a:pt x="180086" y="804672"/>
                  <a:pt x="0" y="624586"/>
                  <a:pt x="0" y="402336"/>
                </a:cubicBezTo>
                <a:close/>
              </a:path>
            </a:pathLst>
          </a:custGeom>
          <a:solidFill>
            <a:srgbClr val="D6454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2" name="Google Shape;1232;p18"/>
          <p:cNvGrpSpPr/>
          <p:nvPr/>
        </p:nvGrpSpPr>
        <p:grpSpPr>
          <a:xfrm>
            <a:off x="1092709" y="5210905"/>
            <a:ext cx="603504" cy="610648"/>
            <a:chOff x="0" y="-9525"/>
            <a:chExt cx="804672" cy="814197"/>
          </a:xfrm>
        </p:grpSpPr>
        <p:sp>
          <p:nvSpPr>
            <p:cNvPr id="1233" name="Google Shape;1233;p18"/>
            <p:cNvSpPr/>
            <p:nvPr/>
          </p:nvSpPr>
          <p:spPr>
            <a:xfrm>
              <a:off x="0" y="0"/>
              <a:ext cx="804672" cy="804672"/>
            </a:xfrm>
            <a:custGeom>
              <a:rect b="b" l="l" r="r" t="t"/>
              <a:pathLst>
                <a:path extrusionOk="0" h="804672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4" name="Google Shape;1234;p18"/>
            <p:cNvSpPr txBox="1"/>
            <p:nvPr/>
          </p:nvSpPr>
          <p:spPr>
            <a:xfrm>
              <a:off x="0" y="-9525"/>
              <a:ext cx="804672" cy="8141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5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3</a:t>
              </a:r>
              <a:endParaRPr/>
            </a:p>
          </p:txBody>
        </p:sp>
      </p:grpSp>
      <p:grpSp>
        <p:nvGrpSpPr>
          <p:cNvPr id="1235" name="Google Shape;1235;p18"/>
          <p:cNvGrpSpPr/>
          <p:nvPr/>
        </p:nvGrpSpPr>
        <p:grpSpPr>
          <a:xfrm>
            <a:off x="1970533" y="5059458"/>
            <a:ext cx="4526280" cy="899255"/>
            <a:chOff x="0" y="-28575"/>
            <a:chExt cx="6035040" cy="1199007"/>
          </a:xfrm>
        </p:grpSpPr>
        <p:sp>
          <p:nvSpPr>
            <p:cNvPr id="1236" name="Google Shape;1236;p18"/>
            <p:cNvSpPr/>
            <p:nvPr/>
          </p:nvSpPr>
          <p:spPr>
            <a:xfrm>
              <a:off x="0" y="0"/>
              <a:ext cx="6035040" cy="1170432"/>
            </a:xfrm>
            <a:custGeom>
              <a:rect b="b" l="l" r="r" t="t"/>
              <a:pathLst>
                <a:path extrusionOk="0" h="1170432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170432"/>
                  </a:lnTo>
                  <a:lnTo>
                    <a:pt x="0" y="11704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0470" l="0" r="0" t="-5047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7" name="Google Shape;1237;p18"/>
            <p:cNvSpPr txBox="1"/>
            <p:nvPr/>
          </p:nvSpPr>
          <p:spPr>
            <a:xfrm>
              <a:off x="0" y="-28575"/>
              <a:ext cx="6035040" cy="11990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29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25">
                  <a:solidFill>
                    <a:srgbClr val="0B2545"/>
                  </a:solidFill>
                  <a:latin typeface="Calibri"/>
                  <a:ea typeface="Calibri"/>
                  <a:cs typeface="Calibri"/>
                  <a:sym typeface="Calibri"/>
                </a:rPr>
                <a:t>Evaluasi &amp; Audit Kontrak Carrier Berisiko </a:t>
              </a:r>
              <a:endParaRPr/>
            </a:p>
          </p:txBody>
        </p:sp>
      </p:grpSp>
      <p:grpSp>
        <p:nvGrpSpPr>
          <p:cNvPr id="1238" name="Google Shape;1238;p18"/>
          <p:cNvGrpSpPr/>
          <p:nvPr/>
        </p:nvGrpSpPr>
        <p:grpSpPr>
          <a:xfrm>
            <a:off x="6675120" y="5052314"/>
            <a:ext cx="10492740" cy="906399"/>
            <a:chOff x="0" y="-38100"/>
            <a:chExt cx="13990320" cy="1208532"/>
          </a:xfrm>
        </p:grpSpPr>
        <p:sp>
          <p:nvSpPr>
            <p:cNvPr id="1239" name="Google Shape;1239;p18"/>
            <p:cNvSpPr/>
            <p:nvPr/>
          </p:nvSpPr>
          <p:spPr>
            <a:xfrm>
              <a:off x="0" y="0"/>
              <a:ext cx="13990320" cy="1170432"/>
            </a:xfrm>
            <a:custGeom>
              <a:rect b="b" l="l" r="r" t="t"/>
              <a:pathLst>
                <a:path extrusionOk="0" h="1170432" w="13990320">
                  <a:moveTo>
                    <a:pt x="0" y="0"/>
                  </a:moveTo>
                  <a:lnTo>
                    <a:pt x="13990320" y="0"/>
                  </a:lnTo>
                  <a:lnTo>
                    <a:pt x="13990320" y="1170432"/>
                  </a:lnTo>
                  <a:lnTo>
                    <a:pt x="0" y="11704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82905" l="0" r="0" t="-18290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0" name="Google Shape;1240;p18"/>
            <p:cNvSpPr txBox="1"/>
            <p:nvPr/>
          </p:nvSpPr>
          <p:spPr>
            <a:xfrm>
              <a:off x="0" y="-38100"/>
              <a:ext cx="13990320" cy="12085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5B7387"/>
                  </a:solidFill>
                  <a:latin typeface="Calibri"/>
                  <a:ea typeface="Calibri"/>
                  <a:cs typeface="Calibri"/>
                  <a:sym typeface="Calibri"/>
                </a:rPr>
                <a:t>Evaluasi GlobalExpress, PrimeDelivery, &amp; BlueRoute (late rate 61%–66%). Lakukan audit ulang apakah porsi rute pengirimannya setara dengan carrier lain. Jika rutenya sama tetapi late rate tetap tinggi, lakukan pemutusan kontrak dan alokasikan pesanan ke carrier lain</a:t>
              </a:r>
              <a:r>
                <a:rPr lang="en-US" sz="1100">
                  <a:solidFill>
                    <a:schemeClr val="dk1"/>
                  </a:solidFill>
                </a:rPr>
                <a:t>. </a:t>
              </a:r>
              <a:endParaRPr/>
            </a:p>
          </p:txBody>
        </p:sp>
      </p:grpSp>
      <p:sp>
        <p:nvSpPr>
          <p:cNvPr id="1241" name="Google Shape;1241;p18"/>
          <p:cNvSpPr/>
          <p:nvPr/>
        </p:nvSpPr>
        <p:spPr>
          <a:xfrm>
            <a:off x="836296" y="2464130"/>
            <a:ext cx="16615410" cy="1006602"/>
          </a:xfrm>
          <a:custGeom>
            <a:rect b="b" l="l" r="r" t="t"/>
            <a:pathLst>
              <a:path extrusionOk="0" h="1342136" w="22153880">
                <a:moveTo>
                  <a:pt x="0" y="149098"/>
                </a:moveTo>
                <a:cubicBezTo>
                  <a:pt x="0" y="66802"/>
                  <a:pt x="66802" y="0"/>
                  <a:pt x="149098" y="0"/>
                </a:cubicBezTo>
                <a:lnTo>
                  <a:pt x="22004782" y="0"/>
                </a:lnTo>
                <a:cubicBezTo>
                  <a:pt x="22087078" y="0"/>
                  <a:pt x="22153880" y="66802"/>
                  <a:pt x="22153880" y="149098"/>
                </a:cubicBezTo>
                <a:lnTo>
                  <a:pt x="22153880" y="1193038"/>
                </a:lnTo>
                <a:cubicBezTo>
                  <a:pt x="22153880" y="1275334"/>
                  <a:pt x="22087078" y="1342136"/>
                  <a:pt x="22004782" y="1342136"/>
                </a:cubicBezTo>
                <a:lnTo>
                  <a:pt x="149098" y="1342136"/>
                </a:lnTo>
                <a:cubicBezTo>
                  <a:pt x="66802" y="1342136"/>
                  <a:pt x="0" y="1275334"/>
                  <a:pt x="0" y="1193038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E3EA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5B73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p18"/>
          <p:cNvSpPr/>
          <p:nvPr/>
        </p:nvSpPr>
        <p:spPr>
          <a:xfrm>
            <a:off x="1092709" y="2665679"/>
            <a:ext cx="603504" cy="603504"/>
          </a:xfrm>
          <a:custGeom>
            <a:rect b="b" l="l" r="r" t="t"/>
            <a:pathLst>
              <a:path extrusionOk="0" h="804672" w="804672">
                <a:moveTo>
                  <a:pt x="0" y="402336"/>
                </a:moveTo>
                <a:cubicBezTo>
                  <a:pt x="0" y="180086"/>
                  <a:pt x="180086" y="0"/>
                  <a:pt x="402336" y="0"/>
                </a:cubicBezTo>
                <a:cubicBezTo>
                  <a:pt x="624586" y="0"/>
                  <a:pt x="804672" y="180086"/>
                  <a:pt x="804672" y="402336"/>
                </a:cubicBezTo>
                <a:cubicBezTo>
                  <a:pt x="804672" y="624586"/>
                  <a:pt x="624586" y="804672"/>
                  <a:pt x="402336" y="804672"/>
                </a:cubicBezTo>
                <a:cubicBezTo>
                  <a:pt x="180086" y="804672"/>
                  <a:pt x="0" y="624586"/>
                  <a:pt x="0" y="402336"/>
                </a:cubicBezTo>
                <a:close/>
              </a:path>
            </a:pathLst>
          </a:custGeom>
          <a:solidFill>
            <a:srgbClr val="E1A83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43" name="Google Shape;1243;p18"/>
          <p:cNvGrpSpPr/>
          <p:nvPr/>
        </p:nvGrpSpPr>
        <p:grpSpPr>
          <a:xfrm>
            <a:off x="1092709" y="2658535"/>
            <a:ext cx="603504" cy="610648"/>
            <a:chOff x="0" y="-9525"/>
            <a:chExt cx="804672" cy="814197"/>
          </a:xfrm>
        </p:grpSpPr>
        <p:sp>
          <p:nvSpPr>
            <p:cNvPr id="1244" name="Google Shape;1244;p18"/>
            <p:cNvSpPr/>
            <p:nvPr/>
          </p:nvSpPr>
          <p:spPr>
            <a:xfrm>
              <a:off x="0" y="0"/>
              <a:ext cx="804672" cy="804672"/>
            </a:xfrm>
            <a:custGeom>
              <a:rect b="b" l="l" r="r" t="t"/>
              <a:pathLst>
                <a:path extrusionOk="0" h="804672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5" name="Google Shape;1245;p18"/>
            <p:cNvSpPr txBox="1"/>
            <p:nvPr/>
          </p:nvSpPr>
          <p:spPr>
            <a:xfrm>
              <a:off x="0" y="-9525"/>
              <a:ext cx="804672" cy="8141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5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1</a:t>
              </a:r>
              <a:endParaRPr/>
            </a:p>
          </p:txBody>
        </p:sp>
      </p:grpSp>
      <p:grpSp>
        <p:nvGrpSpPr>
          <p:cNvPr id="1246" name="Google Shape;1246;p18"/>
          <p:cNvGrpSpPr/>
          <p:nvPr/>
        </p:nvGrpSpPr>
        <p:grpSpPr>
          <a:xfrm>
            <a:off x="1970533" y="2507088"/>
            <a:ext cx="4526280" cy="899255"/>
            <a:chOff x="0" y="-28575"/>
            <a:chExt cx="6035040" cy="1199007"/>
          </a:xfrm>
        </p:grpSpPr>
        <p:sp>
          <p:nvSpPr>
            <p:cNvPr id="1247" name="Google Shape;1247;p18"/>
            <p:cNvSpPr/>
            <p:nvPr/>
          </p:nvSpPr>
          <p:spPr>
            <a:xfrm>
              <a:off x="0" y="0"/>
              <a:ext cx="6035040" cy="1170432"/>
            </a:xfrm>
            <a:custGeom>
              <a:rect b="b" l="l" r="r" t="t"/>
              <a:pathLst>
                <a:path extrusionOk="0" h="1170432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170432"/>
                  </a:lnTo>
                  <a:lnTo>
                    <a:pt x="0" y="11704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0470" l="0" r="0" t="-5047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8" name="Google Shape;1248;p18"/>
            <p:cNvSpPr txBox="1"/>
            <p:nvPr/>
          </p:nvSpPr>
          <p:spPr>
            <a:xfrm>
              <a:off x="0" y="-28575"/>
              <a:ext cx="6035040" cy="11990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29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25">
                  <a:solidFill>
                    <a:srgbClr val="0B2545"/>
                  </a:solidFill>
                  <a:latin typeface="Calibri"/>
                  <a:ea typeface="Calibri"/>
                  <a:cs typeface="Calibri"/>
                  <a:sym typeface="Calibri"/>
                </a:rPr>
                <a:t>Terapkan Estimasi Fleksibel (Dynamic SLA) &amp; Mitigasi Rute Berisiko</a:t>
              </a:r>
              <a:endParaRPr/>
            </a:p>
          </p:txBody>
        </p:sp>
      </p:grpSp>
      <p:grpSp>
        <p:nvGrpSpPr>
          <p:cNvPr id="1249" name="Google Shape;1249;p18"/>
          <p:cNvGrpSpPr/>
          <p:nvPr/>
        </p:nvGrpSpPr>
        <p:grpSpPr>
          <a:xfrm>
            <a:off x="6675120" y="2499944"/>
            <a:ext cx="10492740" cy="906399"/>
            <a:chOff x="0" y="-38100"/>
            <a:chExt cx="13990320" cy="1208532"/>
          </a:xfrm>
        </p:grpSpPr>
        <p:sp>
          <p:nvSpPr>
            <p:cNvPr id="1250" name="Google Shape;1250;p18"/>
            <p:cNvSpPr/>
            <p:nvPr/>
          </p:nvSpPr>
          <p:spPr>
            <a:xfrm>
              <a:off x="0" y="0"/>
              <a:ext cx="13990320" cy="1170432"/>
            </a:xfrm>
            <a:custGeom>
              <a:rect b="b" l="l" r="r" t="t"/>
              <a:pathLst>
                <a:path extrusionOk="0" h="1170432" w="13990320">
                  <a:moveTo>
                    <a:pt x="0" y="0"/>
                  </a:moveTo>
                  <a:lnTo>
                    <a:pt x="13990320" y="0"/>
                  </a:lnTo>
                  <a:lnTo>
                    <a:pt x="13990320" y="1170432"/>
                  </a:lnTo>
                  <a:lnTo>
                    <a:pt x="0" y="11704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82905" l="0" r="0" t="-18290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1" name="Google Shape;1251;p18"/>
            <p:cNvSpPr txBox="1"/>
            <p:nvPr/>
          </p:nvSpPr>
          <p:spPr>
            <a:xfrm>
              <a:off x="0" y="-38100"/>
              <a:ext cx="13990320" cy="12085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5B7387"/>
                  </a:solidFill>
                  <a:latin typeface="Calibri"/>
                  <a:ea typeface="Calibri"/>
                  <a:cs typeface="Calibri"/>
                  <a:sym typeface="Calibri"/>
                </a:rPr>
                <a:t>Estimasi seragam (~7,2 hari) tidak realistis. Terapkan Dynamic SLA berbasis data riil dengan menambah buffer otomatis: +2 hari untuk jarak jauh (&gt;3.000 km) (gap melonjak 0,8 hari menjadi 1,9 hari) dan +3 hari saat cuaca ekstrem (waktu kirim membengkak hingga 10,3 hari).</a:t>
              </a:r>
              <a:r>
                <a:rPr lang="en-US" sz="1100">
                  <a:solidFill>
                    <a:schemeClr val="dk1"/>
                  </a:solidFill>
                </a:rPr>
                <a:t> </a:t>
              </a:r>
              <a:endParaRPr/>
            </a:p>
          </p:txBody>
        </p:sp>
      </p:grpSp>
      <p:sp>
        <p:nvSpPr>
          <p:cNvPr id="1252" name="Google Shape;1252;p18"/>
          <p:cNvSpPr/>
          <p:nvPr/>
        </p:nvSpPr>
        <p:spPr>
          <a:xfrm>
            <a:off x="836296" y="3763010"/>
            <a:ext cx="16615410" cy="1006602"/>
          </a:xfrm>
          <a:custGeom>
            <a:rect b="b" l="l" r="r" t="t"/>
            <a:pathLst>
              <a:path extrusionOk="0" h="1342136" w="22153880">
                <a:moveTo>
                  <a:pt x="0" y="149098"/>
                </a:moveTo>
                <a:cubicBezTo>
                  <a:pt x="0" y="66802"/>
                  <a:pt x="66802" y="0"/>
                  <a:pt x="149098" y="0"/>
                </a:cubicBezTo>
                <a:lnTo>
                  <a:pt x="22004782" y="0"/>
                </a:lnTo>
                <a:cubicBezTo>
                  <a:pt x="22087078" y="0"/>
                  <a:pt x="22153880" y="66802"/>
                  <a:pt x="22153880" y="149098"/>
                </a:cubicBezTo>
                <a:lnTo>
                  <a:pt x="22153880" y="1193038"/>
                </a:lnTo>
                <a:cubicBezTo>
                  <a:pt x="22153880" y="1275334"/>
                  <a:pt x="22087078" y="1342136"/>
                  <a:pt x="22004782" y="1342136"/>
                </a:cubicBezTo>
                <a:lnTo>
                  <a:pt x="149098" y="1342136"/>
                </a:lnTo>
                <a:cubicBezTo>
                  <a:pt x="66802" y="1342136"/>
                  <a:pt x="0" y="1275334"/>
                  <a:pt x="0" y="1193038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E3EA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3" name="Google Shape;1253;p18"/>
          <p:cNvSpPr/>
          <p:nvPr/>
        </p:nvSpPr>
        <p:spPr>
          <a:xfrm>
            <a:off x="1092709" y="3964559"/>
            <a:ext cx="603504" cy="603504"/>
          </a:xfrm>
          <a:custGeom>
            <a:rect b="b" l="l" r="r" t="t"/>
            <a:pathLst>
              <a:path extrusionOk="0" h="804672" w="804672">
                <a:moveTo>
                  <a:pt x="0" y="402336"/>
                </a:moveTo>
                <a:cubicBezTo>
                  <a:pt x="0" y="180086"/>
                  <a:pt x="180086" y="0"/>
                  <a:pt x="402336" y="0"/>
                </a:cubicBezTo>
                <a:cubicBezTo>
                  <a:pt x="624586" y="0"/>
                  <a:pt x="804672" y="180086"/>
                  <a:pt x="804672" y="402336"/>
                </a:cubicBezTo>
                <a:cubicBezTo>
                  <a:pt x="804672" y="624586"/>
                  <a:pt x="624586" y="804672"/>
                  <a:pt x="402336" y="804672"/>
                </a:cubicBezTo>
                <a:cubicBezTo>
                  <a:pt x="180086" y="804672"/>
                  <a:pt x="0" y="624586"/>
                  <a:pt x="0" y="402336"/>
                </a:cubicBezTo>
                <a:close/>
              </a:path>
            </a:pathLst>
          </a:custGeom>
          <a:solidFill>
            <a:srgbClr val="0B254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54" name="Google Shape;1254;p18"/>
          <p:cNvGrpSpPr/>
          <p:nvPr/>
        </p:nvGrpSpPr>
        <p:grpSpPr>
          <a:xfrm>
            <a:off x="1092709" y="3957415"/>
            <a:ext cx="603504" cy="610648"/>
            <a:chOff x="0" y="-9525"/>
            <a:chExt cx="804672" cy="814197"/>
          </a:xfrm>
        </p:grpSpPr>
        <p:sp>
          <p:nvSpPr>
            <p:cNvPr id="1255" name="Google Shape;1255;p18"/>
            <p:cNvSpPr/>
            <p:nvPr/>
          </p:nvSpPr>
          <p:spPr>
            <a:xfrm>
              <a:off x="0" y="0"/>
              <a:ext cx="804672" cy="804672"/>
            </a:xfrm>
            <a:custGeom>
              <a:rect b="b" l="l" r="r" t="t"/>
              <a:pathLst>
                <a:path extrusionOk="0" h="804672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6" name="Google Shape;1256;p18"/>
            <p:cNvSpPr txBox="1"/>
            <p:nvPr/>
          </p:nvSpPr>
          <p:spPr>
            <a:xfrm>
              <a:off x="0" y="-9525"/>
              <a:ext cx="804672" cy="8141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5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2</a:t>
              </a:r>
              <a:endParaRPr/>
            </a:p>
          </p:txBody>
        </p:sp>
      </p:grpSp>
      <p:grpSp>
        <p:nvGrpSpPr>
          <p:cNvPr id="1257" name="Google Shape;1257;p18"/>
          <p:cNvGrpSpPr/>
          <p:nvPr/>
        </p:nvGrpSpPr>
        <p:grpSpPr>
          <a:xfrm>
            <a:off x="1970533" y="3805968"/>
            <a:ext cx="4526280" cy="899255"/>
            <a:chOff x="0" y="-28575"/>
            <a:chExt cx="6035040" cy="1199007"/>
          </a:xfrm>
        </p:grpSpPr>
        <p:sp>
          <p:nvSpPr>
            <p:cNvPr id="1258" name="Google Shape;1258;p18"/>
            <p:cNvSpPr/>
            <p:nvPr/>
          </p:nvSpPr>
          <p:spPr>
            <a:xfrm>
              <a:off x="0" y="0"/>
              <a:ext cx="6035040" cy="1170432"/>
            </a:xfrm>
            <a:custGeom>
              <a:rect b="b" l="l" r="r" t="t"/>
              <a:pathLst>
                <a:path extrusionOk="0" h="1170432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170432"/>
                  </a:lnTo>
                  <a:lnTo>
                    <a:pt x="0" y="11704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0470" l="0" r="0" t="-5047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9" name="Google Shape;1259;p18"/>
            <p:cNvSpPr txBox="1"/>
            <p:nvPr/>
          </p:nvSpPr>
          <p:spPr>
            <a:xfrm>
              <a:off x="0" y="-28575"/>
              <a:ext cx="6035040" cy="11990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29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25">
                  <a:solidFill>
                    <a:srgbClr val="0B2545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r>
                <a:rPr b="1" lang="en-US" sz="1725">
                  <a:solidFill>
                    <a:srgbClr val="0B2545"/>
                  </a:solidFill>
                  <a:latin typeface="Calibri"/>
                  <a:ea typeface="Calibri"/>
                  <a:cs typeface="Calibri"/>
                  <a:sym typeface="Calibri"/>
                </a:rPr>
                <a:t>tandar</a:t>
              </a:r>
              <a:r>
                <a:rPr b="1" lang="en-US" sz="1725">
                  <a:solidFill>
                    <a:srgbClr val="0B2545"/>
                  </a:solidFill>
                  <a:latin typeface="Calibri"/>
                  <a:ea typeface="Calibri"/>
                  <a:cs typeface="Calibri"/>
                  <a:sym typeface="Calibri"/>
                </a:rPr>
                <a:t> SOP Baru Berbasis Baseline ~41,4% </a:t>
              </a:r>
              <a:endParaRPr/>
            </a:p>
          </p:txBody>
        </p:sp>
      </p:grpSp>
      <p:grpSp>
        <p:nvGrpSpPr>
          <p:cNvPr id="1260" name="Google Shape;1260;p18"/>
          <p:cNvGrpSpPr/>
          <p:nvPr/>
        </p:nvGrpSpPr>
        <p:grpSpPr>
          <a:xfrm>
            <a:off x="6675120" y="3798824"/>
            <a:ext cx="10492740" cy="906399"/>
            <a:chOff x="0" y="-38100"/>
            <a:chExt cx="13990320" cy="1208532"/>
          </a:xfrm>
        </p:grpSpPr>
        <p:sp>
          <p:nvSpPr>
            <p:cNvPr id="1261" name="Google Shape;1261;p18"/>
            <p:cNvSpPr/>
            <p:nvPr/>
          </p:nvSpPr>
          <p:spPr>
            <a:xfrm>
              <a:off x="0" y="0"/>
              <a:ext cx="13990320" cy="1170432"/>
            </a:xfrm>
            <a:custGeom>
              <a:rect b="b" l="l" r="r" t="t"/>
              <a:pathLst>
                <a:path extrusionOk="0" h="1170432" w="13990320">
                  <a:moveTo>
                    <a:pt x="0" y="0"/>
                  </a:moveTo>
                  <a:lnTo>
                    <a:pt x="13990320" y="0"/>
                  </a:lnTo>
                  <a:lnTo>
                    <a:pt x="13990320" y="1170432"/>
                  </a:lnTo>
                  <a:lnTo>
                    <a:pt x="0" y="11704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82905" l="0" r="0" t="-18290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2" name="Google Shape;1262;p18"/>
            <p:cNvSpPr txBox="1"/>
            <p:nvPr/>
          </p:nvSpPr>
          <p:spPr>
            <a:xfrm>
              <a:off x="0" y="-38100"/>
              <a:ext cx="13990320" cy="12085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5B7387"/>
                  </a:solidFill>
                  <a:latin typeface="Calibri"/>
                  <a:ea typeface="Calibri"/>
                  <a:cs typeface="Calibri"/>
                  <a:sym typeface="Calibri"/>
                </a:rPr>
                <a:t>Jadikan target late rate ~41,4% sebagai standar SOP operasional baru perusahaan. Seluruh tim operasional dan carrier wajib mengacu pada skema penyesuaian batas atas estimasi ini (+2 hari jarak jauh, +3 hari cuaca ekstrem) untuk menjaga konsistensi performa pengiriman. </a:t>
              </a:r>
              <a:endParaRPr/>
            </a:p>
          </p:txBody>
        </p:sp>
      </p:grpSp>
      <p:sp>
        <p:nvSpPr>
          <p:cNvPr id="1263" name="Google Shape;1263;p18"/>
          <p:cNvSpPr/>
          <p:nvPr/>
        </p:nvSpPr>
        <p:spPr>
          <a:xfrm>
            <a:off x="836296" y="6270015"/>
            <a:ext cx="16615410" cy="1006602"/>
          </a:xfrm>
          <a:custGeom>
            <a:rect b="b" l="l" r="r" t="t"/>
            <a:pathLst>
              <a:path extrusionOk="0" h="1342136" w="22153880">
                <a:moveTo>
                  <a:pt x="0" y="149098"/>
                </a:moveTo>
                <a:cubicBezTo>
                  <a:pt x="0" y="66802"/>
                  <a:pt x="66802" y="0"/>
                  <a:pt x="149098" y="0"/>
                </a:cubicBezTo>
                <a:lnTo>
                  <a:pt x="22004782" y="0"/>
                </a:lnTo>
                <a:cubicBezTo>
                  <a:pt x="22087078" y="0"/>
                  <a:pt x="22153880" y="66802"/>
                  <a:pt x="22153880" y="149098"/>
                </a:cubicBezTo>
                <a:lnTo>
                  <a:pt x="22153880" y="1193038"/>
                </a:lnTo>
                <a:cubicBezTo>
                  <a:pt x="22153880" y="1275334"/>
                  <a:pt x="22087078" y="1342136"/>
                  <a:pt x="22004782" y="1342136"/>
                </a:cubicBezTo>
                <a:lnTo>
                  <a:pt x="149098" y="1342136"/>
                </a:lnTo>
                <a:cubicBezTo>
                  <a:pt x="66802" y="1342136"/>
                  <a:pt x="0" y="1275334"/>
                  <a:pt x="0" y="1193038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E3EA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4" name="Google Shape;1264;p18"/>
          <p:cNvSpPr/>
          <p:nvPr/>
        </p:nvSpPr>
        <p:spPr>
          <a:xfrm>
            <a:off x="1092709" y="6471564"/>
            <a:ext cx="603504" cy="603504"/>
          </a:xfrm>
          <a:custGeom>
            <a:rect b="b" l="l" r="r" t="t"/>
            <a:pathLst>
              <a:path extrusionOk="0" h="804672" w="804672">
                <a:moveTo>
                  <a:pt x="0" y="402336"/>
                </a:moveTo>
                <a:cubicBezTo>
                  <a:pt x="0" y="180086"/>
                  <a:pt x="180086" y="0"/>
                  <a:pt x="402336" y="0"/>
                </a:cubicBezTo>
                <a:cubicBezTo>
                  <a:pt x="624586" y="0"/>
                  <a:pt x="804672" y="180086"/>
                  <a:pt x="804672" y="402336"/>
                </a:cubicBezTo>
                <a:cubicBezTo>
                  <a:pt x="804672" y="624586"/>
                  <a:pt x="624586" y="804672"/>
                  <a:pt x="402336" y="804672"/>
                </a:cubicBezTo>
                <a:cubicBezTo>
                  <a:pt x="180086" y="804672"/>
                  <a:pt x="0" y="624586"/>
                  <a:pt x="0" y="402336"/>
                </a:cubicBezTo>
                <a:close/>
              </a:path>
            </a:pathLst>
          </a:custGeom>
          <a:solidFill>
            <a:srgbClr val="2E9E6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65" name="Google Shape;1265;p18"/>
          <p:cNvGrpSpPr/>
          <p:nvPr/>
        </p:nvGrpSpPr>
        <p:grpSpPr>
          <a:xfrm>
            <a:off x="1092709" y="6464420"/>
            <a:ext cx="603504" cy="610648"/>
            <a:chOff x="0" y="-9525"/>
            <a:chExt cx="804672" cy="814197"/>
          </a:xfrm>
        </p:grpSpPr>
        <p:sp>
          <p:nvSpPr>
            <p:cNvPr id="1266" name="Google Shape;1266;p18"/>
            <p:cNvSpPr/>
            <p:nvPr/>
          </p:nvSpPr>
          <p:spPr>
            <a:xfrm>
              <a:off x="0" y="0"/>
              <a:ext cx="804672" cy="804672"/>
            </a:xfrm>
            <a:custGeom>
              <a:rect b="b" l="l" r="r" t="t"/>
              <a:pathLst>
                <a:path extrusionOk="0" h="804672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" name="Google Shape;1267;p18"/>
            <p:cNvSpPr txBox="1"/>
            <p:nvPr/>
          </p:nvSpPr>
          <p:spPr>
            <a:xfrm>
              <a:off x="0" y="-9525"/>
              <a:ext cx="804672" cy="8141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5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4</a:t>
              </a:r>
              <a:endParaRPr/>
            </a:p>
          </p:txBody>
        </p:sp>
      </p:grpSp>
      <p:grpSp>
        <p:nvGrpSpPr>
          <p:cNvPr id="1268" name="Google Shape;1268;p18"/>
          <p:cNvGrpSpPr/>
          <p:nvPr/>
        </p:nvGrpSpPr>
        <p:grpSpPr>
          <a:xfrm>
            <a:off x="1970533" y="6312973"/>
            <a:ext cx="4526280" cy="899255"/>
            <a:chOff x="0" y="-28575"/>
            <a:chExt cx="6035040" cy="1199007"/>
          </a:xfrm>
        </p:grpSpPr>
        <p:sp>
          <p:nvSpPr>
            <p:cNvPr id="1269" name="Google Shape;1269;p18"/>
            <p:cNvSpPr/>
            <p:nvPr/>
          </p:nvSpPr>
          <p:spPr>
            <a:xfrm>
              <a:off x="0" y="0"/>
              <a:ext cx="6035040" cy="1170432"/>
            </a:xfrm>
            <a:custGeom>
              <a:rect b="b" l="l" r="r" t="t"/>
              <a:pathLst>
                <a:path extrusionOk="0" h="1170432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170432"/>
                  </a:lnTo>
                  <a:lnTo>
                    <a:pt x="0" y="11704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0470" l="0" r="0" t="-5047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0" name="Google Shape;1270;p18"/>
            <p:cNvSpPr txBox="1"/>
            <p:nvPr/>
          </p:nvSpPr>
          <p:spPr>
            <a:xfrm>
              <a:off x="0" y="-28575"/>
              <a:ext cx="6035040" cy="11990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29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25">
                  <a:solidFill>
                    <a:srgbClr val="0B2545"/>
                  </a:solidFill>
                  <a:latin typeface="Calibri"/>
                  <a:ea typeface="Calibri"/>
                  <a:cs typeface="Calibri"/>
                  <a:sym typeface="Calibri"/>
                </a:rPr>
                <a:t>Lindungi pesanan bernilai tinggi</a:t>
              </a:r>
              <a:endParaRPr/>
            </a:p>
          </p:txBody>
        </p:sp>
      </p:grpSp>
      <p:grpSp>
        <p:nvGrpSpPr>
          <p:cNvPr id="1271" name="Google Shape;1271;p18"/>
          <p:cNvGrpSpPr/>
          <p:nvPr/>
        </p:nvGrpSpPr>
        <p:grpSpPr>
          <a:xfrm>
            <a:off x="6675120" y="6305829"/>
            <a:ext cx="10492740" cy="906399"/>
            <a:chOff x="0" y="-38100"/>
            <a:chExt cx="13990320" cy="1208532"/>
          </a:xfrm>
        </p:grpSpPr>
        <p:sp>
          <p:nvSpPr>
            <p:cNvPr id="1272" name="Google Shape;1272;p18"/>
            <p:cNvSpPr/>
            <p:nvPr/>
          </p:nvSpPr>
          <p:spPr>
            <a:xfrm>
              <a:off x="0" y="0"/>
              <a:ext cx="13990320" cy="1170432"/>
            </a:xfrm>
            <a:custGeom>
              <a:rect b="b" l="l" r="r" t="t"/>
              <a:pathLst>
                <a:path extrusionOk="0" h="1170432" w="13990320">
                  <a:moveTo>
                    <a:pt x="0" y="0"/>
                  </a:moveTo>
                  <a:lnTo>
                    <a:pt x="13990320" y="0"/>
                  </a:lnTo>
                  <a:lnTo>
                    <a:pt x="13990320" y="1170432"/>
                  </a:lnTo>
                  <a:lnTo>
                    <a:pt x="0" y="11704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82905" l="0" r="0" t="-18290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3" name="Google Shape;1273;p18"/>
            <p:cNvSpPr txBox="1"/>
            <p:nvPr/>
          </p:nvSpPr>
          <p:spPr>
            <a:xfrm>
              <a:off x="0" y="-38100"/>
              <a:ext cx="13990320" cy="12085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5B7387"/>
                  </a:solidFill>
                  <a:latin typeface="Calibri"/>
                  <a:ea typeface="Calibri"/>
                  <a:cs typeface="Calibri"/>
                  <a:sym typeface="Calibri"/>
                </a:rPr>
                <a:t>9,3% pesanan (&gt;$500) menyumbang 49,3% pendapatan — beri prioritas penanganan &amp; packaging ekstra pada segmen ini untuk menekan retur.</a:t>
              </a:r>
              <a:endParaRPr/>
            </a:p>
          </p:txBody>
        </p:sp>
      </p:grpSp>
      <p:grpSp>
        <p:nvGrpSpPr>
          <p:cNvPr id="1274" name="Google Shape;1274;p18"/>
          <p:cNvGrpSpPr/>
          <p:nvPr/>
        </p:nvGrpSpPr>
        <p:grpSpPr>
          <a:xfrm>
            <a:off x="685800" y="9744361"/>
            <a:ext cx="10972800" cy="432911"/>
            <a:chOff x="0" y="-28575"/>
            <a:chExt cx="14630400" cy="577215"/>
          </a:xfrm>
        </p:grpSpPr>
        <p:sp>
          <p:nvSpPr>
            <p:cNvPr id="1275" name="Google Shape;1275;p18"/>
            <p:cNvSpPr/>
            <p:nvPr/>
          </p:nvSpPr>
          <p:spPr>
            <a:xfrm>
              <a:off x="0" y="0"/>
              <a:ext cx="14630400" cy="548640"/>
            </a:xfrm>
            <a:custGeom>
              <a:rect b="b" l="l" r="r" t="t"/>
              <a:pathLst>
                <a:path extrusionOk="0"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69642" l="0" r="0" t="-46964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6" name="Google Shape;1276;p18"/>
            <p:cNvSpPr txBox="1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5B7387"/>
                  </a:solidFill>
                  <a:latin typeface="Calibri"/>
                  <a:ea typeface="Calibri"/>
                  <a:cs typeface="Calibri"/>
                  <a:sym typeface="Calibri"/>
                </a:rPr>
                <a:t>E-Commerce Delivery Performance &amp; Revenue Risk</a:t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1" name="Google Shape;1281;hd80787c6b53f6e6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9862" y="414800"/>
            <a:ext cx="14168274" cy="9191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6" name="Google Shape;1286;hd80787c6b53f6e6_0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0525" y="323675"/>
            <a:ext cx="14546949" cy="916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1" name="Google Shape;1291;h3c495877238649a1_0_0"/>
          <p:cNvGrpSpPr/>
          <p:nvPr/>
        </p:nvGrpSpPr>
        <p:grpSpPr>
          <a:xfrm>
            <a:off x="845058" y="1480200"/>
            <a:ext cx="16184925" cy="1111568"/>
            <a:chOff x="0" y="-19050"/>
            <a:chExt cx="21579900" cy="1482090"/>
          </a:xfrm>
        </p:grpSpPr>
        <p:sp>
          <p:nvSpPr>
            <p:cNvPr id="1292" name="Google Shape;1292;h3c495877238649a1_0_0"/>
            <p:cNvSpPr/>
            <p:nvPr/>
          </p:nvSpPr>
          <p:spPr>
            <a:xfrm>
              <a:off x="0" y="0"/>
              <a:ext cx="21579839" cy="1463040"/>
            </a:xfrm>
            <a:custGeom>
              <a:rect b="b" l="l" r="r" t="t"/>
              <a:pathLst>
                <a:path extrusionOk="0" h="146304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37389" l="0" r="0" t="-23738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3" name="Google Shape;1293;h3c495877238649a1_0_0"/>
            <p:cNvSpPr txBox="1"/>
            <p:nvPr/>
          </p:nvSpPr>
          <p:spPr>
            <a:xfrm>
              <a:off x="0" y="-19050"/>
              <a:ext cx="21579900" cy="148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00">
                  <a:solidFill>
                    <a:srgbClr val="0B2545"/>
                  </a:solidFill>
                  <a:latin typeface="Cambria"/>
                  <a:ea typeface="Cambria"/>
                  <a:cs typeface="Cambria"/>
                  <a:sym typeface="Cambria"/>
                </a:rPr>
                <a:t>File Penunjang</a:t>
              </a:r>
              <a:endParaRPr b="1" sz="4500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294" name="Google Shape;1294;h3c495877238649a1_0_0"/>
          <p:cNvSpPr/>
          <p:nvPr/>
        </p:nvSpPr>
        <p:spPr>
          <a:xfrm>
            <a:off x="836296" y="2591780"/>
            <a:ext cx="16615410" cy="1006602"/>
          </a:xfrm>
          <a:custGeom>
            <a:rect b="b" l="l" r="r" t="t"/>
            <a:pathLst>
              <a:path extrusionOk="0" h="1342136" w="22153880">
                <a:moveTo>
                  <a:pt x="0" y="149098"/>
                </a:moveTo>
                <a:cubicBezTo>
                  <a:pt x="0" y="66802"/>
                  <a:pt x="66802" y="0"/>
                  <a:pt x="149098" y="0"/>
                </a:cubicBezTo>
                <a:lnTo>
                  <a:pt x="22004782" y="0"/>
                </a:lnTo>
                <a:cubicBezTo>
                  <a:pt x="22087078" y="0"/>
                  <a:pt x="22153880" y="66802"/>
                  <a:pt x="22153880" y="149098"/>
                </a:cubicBezTo>
                <a:lnTo>
                  <a:pt x="22153880" y="1193038"/>
                </a:lnTo>
                <a:cubicBezTo>
                  <a:pt x="22153880" y="1275334"/>
                  <a:pt x="22087078" y="1342136"/>
                  <a:pt x="22004782" y="1342136"/>
                </a:cubicBezTo>
                <a:lnTo>
                  <a:pt x="149098" y="1342136"/>
                </a:lnTo>
                <a:cubicBezTo>
                  <a:pt x="66802" y="1342136"/>
                  <a:pt x="0" y="1275334"/>
                  <a:pt x="0" y="1193038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E3EA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5B73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5" name="Google Shape;1295;h3c495877238649a1_0_0"/>
          <p:cNvSpPr/>
          <p:nvPr/>
        </p:nvSpPr>
        <p:spPr>
          <a:xfrm>
            <a:off x="1092709" y="2793329"/>
            <a:ext cx="603504" cy="603504"/>
          </a:xfrm>
          <a:custGeom>
            <a:rect b="b" l="l" r="r" t="t"/>
            <a:pathLst>
              <a:path extrusionOk="0" h="804672" w="804672">
                <a:moveTo>
                  <a:pt x="0" y="402336"/>
                </a:moveTo>
                <a:cubicBezTo>
                  <a:pt x="0" y="180086"/>
                  <a:pt x="180086" y="0"/>
                  <a:pt x="402336" y="0"/>
                </a:cubicBezTo>
                <a:cubicBezTo>
                  <a:pt x="624586" y="0"/>
                  <a:pt x="804672" y="180086"/>
                  <a:pt x="804672" y="402336"/>
                </a:cubicBezTo>
                <a:cubicBezTo>
                  <a:pt x="804672" y="624586"/>
                  <a:pt x="624586" y="804672"/>
                  <a:pt x="402336" y="804672"/>
                </a:cubicBezTo>
                <a:cubicBezTo>
                  <a:pt x="180086" y="804672"/>
                  <a:pt x="0" y="624586"/>
                  <a:pt x="0" y="402336"/>
                </a:cubicBezTo>
                <a:close/>
              </a:path>
            </a:pathLst>
          </a:custGeom>
          <a:solidFill>
            <a:srgbClr val="E1A83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96" name="Google Shape;1296;h3c495877238649a1_0_0"/>
          <p:cNvGrpSpPr/>
          <p:nvPr/>
        </p:nvGrpSpPr>
        <p:grpSpPr>
          <a:xfrm>
            <a:off x="1092709" y="2786185"/>
            <a:ext cx="603504" cy="610650"/>
            <a:chOff x="0" y="-9525"/>
            <a:chExt cx="804672" cy="814200"/>
          </a:xfrm>
        </p:grpSpPr>
        <p:sp>
          <p:nvSpPr>
            <p:cNvPr id="1297" name="Google Shape;1297;h3c495877238649a1_0_0"/>
            <p:cNvSpPr/>
            <p:nvPr/>
          </p:nvSpPr>
          <p:spPr>
            <a:xfrm>
              <a:off x="0" y="0"/>
              <a:ext cx="804672" cy="804672"/>
            </a:xfrm>
            <a:custGeom>
              <a:rect b="b" l="l" r="r" t="t"/>
              <a:pathLst>
                <a:path extrusionOk="0" h="804672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299" r="-78309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8" name="Google Shape;1298;h3c495877238649a1_0_0"/>
            <p:cNvSpPr txBox="1"/>
            <p:nvPr/>
          </p:nvSpPr>
          <p:spPr>
            <a:xfrm>
              <a:off x="0" y="-9525"/>
              <a:ext cx="804600" cy="81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5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1</a:t>
              </a:r>
              <a:endParaRPr/>
            </a:p>
          </p:txBody>
        </p:sp>
      </p:grpSp>
      <p:grpSp>
        <p:nvGrpSpPr>
          <p:cNvPr id="1299" name="Google Shape;1299;h3c495877238649a1_0_0"/>
          <p:cNvGrpSpPr/>
          <p:nvPr/>
        </p:nvGrpSpPr>
        <p:grpSpPr>
          <a:xfrm>
            <a:off x="1970532" y="2634738"/>
            <a:ext cx="4526325" cy="899325"/>
            <a:chOff x="0" y="-28575"/>
            <a:chExt cx="6035100" cy="1199100"/>
          </a:xfrm>
        </p:grpSpPr>
        <p:sp>
          <p:nvSpPr>
            <p:cNvPr id="1300" name="Google Shape;1300;h3c495877238649a1_0_0"/>
            <p:cNvSpPr/>
            <p:nvPr/>
          </p:nvSpPr>
          <p:spPr>
            <a:xfrm>
              <a:off x="0" y="0"/>
              <a:ext cx="6035040" cy="1170432"/>
            </a:xfrm>
            <a:custGeom>
              <a:rect b="b" l="l" r="r" t="t"/>
              <a:pathLst>
                <a:path extrusionOk="0" h="1170432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170432"/>
                  </a:lnTo>
                  <a:lnTo>
                    <a:pt x="0" y="11704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0470" l="0" r="0" t="-5047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1" name="Google Shape;1301;h3c495877238649a1_0_0"/>
            <p:cNvSpPr txBox="1"/>
            <p:nvPr/>
          </p:nvSpPr>
          <p:spPr>
            <a:xfrm>
              <a:off x="0" y="-28575"/>
              <a:ext cx="6035100" cy="119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29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25">
                  <a:solidFill>
                    <a:srgbClr val="0B2545"/>
                  </a:solidFill>
                  <a:latin typeface="Calibri"/>
                  <a:ea typeface="Calibri"/>
                  <a:cs typeface="Calibri"/>
                  <a:sym typeface="Calibri"/>
                </a:rPr>
                <a:t>Link Collab </a:t>
              </a:r>
              <a:endParaRPr/>
            </a:p>
          </p:txBody>
        </p:sp>
      </p:grpSp>
      <p:grpSp>
        <p:nvGrpSpPr>
          <p:cNvPr id="1302" name="Google Shape;1302;h3c495877238649a1_0_0"/>
          <p:cNvGrpSpPr/>
          <p:nvPr/>
        </p:nvGrpSpPr>
        <p:grpSpPr>
          <a:xfrm>
            <a:off x="6675120" y="2627594"/>
            <a:ext cx="10492740" cy="906399"/>
            <a:chOff x="0" y="-38100"/>
            <a:chExt cx="13990320" cy="1208532"/>
          </a:xfrm>
        </p:grpSpPr>
        <p:sp>
          <p:nvSpPr>
            <p:cNvPr id="1303" name="Google Shape;1303;h3c495877238649a1_0_0"/>
            <p:cNvSpPr/>
            <p:nvPr/>
          </p:nvSpPr>
          <p:spPr>
            <a:xfrm>
              <a:off x="0" y="0"/>
              <a:ext cx="13990320" cy="1170432"/>
            </a:xfrm>
            <a:custGeom>
              <a:rect b="b" l="l" r="r" t="t"/>
              <a:pathLst>
                <a:path extrusionOk="0" h="1170432" w="13990320">
                  <a:moveTo>
                    <a:pt x="0" y="0"/>
                  </a:moveTo>
                  <a:lnTo>
                    <a:pt x="13990320" y="0"/>
                  </a:lnTo>
                  <a:lnTo>
                    <a:pt x="13990320" y="1170432"/>
                  </a:lnTo>
                  <a:lnTo>
                    <a:pt x="0" y="11704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82909" l="0" r="0" t="-18290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4" name="Google Shape;1304;h3c495877238649a1_0_0"/>
            <p:cNvSpPr txBox="1"/>
            <p:nvPr/>
          </p:nvSpPr>
          <p:spPr>
            <a:xfrm>
              <a:off x="0" y="-38100"/>
              <a:ext cx="13990200" cy="120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3200" u="sng">
                  <a:solidFill>
                    <a:schemeClr val="hlink"/>
                  </a:solidFill>
                  <a:latin typeface="Calibri"/>
                  <a:ea typeface="Calibri"/>
                  <a:cs typeface="Calibri"/>
                  <a:sym typeface="Calibri"/>
                  <a:hlinkClick r:id="rId4"/>
                </a:rPr>
                <a:t>Naela Arbach- FInal Project-E-Commerce .ipynb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rgbClr val="5B738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5" name="Google Shape;1305;h3c495877238649a1_0_0"/>
          <p:cNvSpPr/>
          <p:nvPr/>
        </p:nvSpPr>
        <p:spPr>
          <a:xfrm>
            <a:off x="836296" y="3890660"/>
            <a:ext cx="16615410" cy="1006602"/>
          </a:xfrm>
          <a:custGeom>
            <a:rect b="b" l="l" r="r" t="t"/>
            <a:pathLst>
              <a:path extrusionOk="0" h="1342136" w="22153880">
                <a:moveTo>
                  <a:pt x="0" y="149098"/>
                </a:moveTo>
                <a:cubicBezTo>
                  <a:pt x="0" y="66802"/>
                  <a:pt x="66802" y="0"/>
                  <a:pt x="149098" y="0"/>
                </a:cubicBezTo>
                <a:lnTo>
                  <a:pt x="22004782" y="0"/>
                </a:lnTo>
                <a:cubicBezTo>
                  <a:pt x="22087078" y="0"/>
                  <a:pt x="22153880" y="66802"/>
                  <a:pt x="22153880" y="149098"/>
                </a:cubicBezTo>
                <a:lnTo>
                  <a:pt x="22153880" y="1193038"/>
                </a:lnTo>
                <a:cubicBezTo>
                  <a:pt x="22153880" y="1275334"/>
                  <a:pt x="22087078" y="1342136"/>
                  <a:pt x="22004782" y="1342136"/>
                </a:cubicBezTo>
                <a:lnTo>
                  <a:pt x="149098" y="1342136"/>
                </a:lnTo>
                <a:cubicBezTo>
                  <a:pt x="66802" y="1342136"/>
                  <a:pt x="0" y="1275334"/>
                  <a:pt x="0" y="1193038"/>
                </a:cubicBezTo>
                <a:close/>
              </a:path>
            </a:pathLst>
          </a:custGeom>
          <a:solidFill>
            <a:srgbClr val="FFFFFF"/>
          </a:solidFill>
          <a:ln cap="sq" cmpd="sng" w="19050">
            <a:solidFill>
              <a:srgbClr val="E3EAF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6" name="Google Shape;1306;h3c495877238649a1_0_0"/>
          <p:cNvSpPr/>
          <p:nvPr/>
        </p:nvSpPr>
        <p:spPr>
          <a:xfrm>
            <a:off x="1092709" y="4092209"/>
            <a:ext cx="603504" cy="603504"/>
          </a:xfrm>
          <a:custGeom>
            <a:rect b="b" l="l" r="r" t="t"/>
            <a:pathLst>
              <a:path extrusionOk="0" h="804672" w="804672">
                <a:moveTo>
                  <a:pt x="0" y="402336"/>
                </a:moveTo>
                <a:cubicBezTo>
                  <a:pt x="0" y="180086"/>
                  <a:pt x="180086" y="0"/>
                  <a:pt x="402336" y="0"/>
                </a:cubicBezTo>
                <a:cubicBezTo>
                  <a:pt x="624586" y="0"/>
                  <a:pt x="804672" y="180086"/>
                  <a:pt x="804672" y="402336"/>
                </a:cubicBezTo>
                <a:cubicBezTo>
                  <a:pt x="804672" y="624586"/>
                  <a:pt x="624586" y="804672"/>
                  <a:pt x="402336" y="804672"/>
                </a:cubicBezTo>
                <a:cubicBezTo>
                  <a:pt x="180086" y="804672"/>
                  <a:pt x="0" y="624586"/>
                  <a:pt x="0" y="402336"/>
                </a:cubicBezTo>
                <a:close/>
              </a:path>
            </a:pathLst>
          </a:custGeom>
          <a:solidFill>
            <a:srgbClr val="0B254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07" name="Google Shape;1307;h3c495877238649a1_0_0"/>
          <p:cNvGrpSpPr/>
          <p:nvPr/>
        </p:nvGrpSpPr>
        <p:grpSpPr>
          <a:xfrm>
            <a:off x="1092709" y="4085065"/>
            <a:ext cx="603504" cy="610650"/>
            <a:chOff x="0" y="-9525"/>
            <a:chExt cx="804672" cy="814200"/>
          </a:xfrm>
        </p:grpSpPr>
        <p:sp>
          <p:nvSpPr>
            <p:cNvPr id="1308" name="Google Shape;1308;h3c495877238649a1_0_0"/>
            <p:cNvSpPr/>
            <p:nvPr/>
          </p:nvSpPr>
          <p:spPr>
            <a:xfrm>
              <a:off x="0" y="0"/>
              <a:ext cx="804672" cy="804672"/>
            </a:xfrm>
            <a:custGeom>
              <a:rect b="b" l="l" r="r" t="t"/>
              <a:pathLst>
                <a:path extrusionOk="0" h="804672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299" r="-78309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9" name="Google Shape;1309;h3c495877238649a1_0_0"/>
            <p:cNvSpPr txBox="1"/>
            <p:nvPr/>
          </p:nvSpPr>
          <p:spPr>
            <a:xfrm>
              <a:off x="0" y="-9525"/>
              <a:ext cx="804600" cy="81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5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2</a:t>
              </a:r>
              <a:endParaRPr/>
            </a:p>
          </p:txBody>
        </p:sp>
      </p:grpSp>
      <p:grpSp>
        <p:nvGrpSpPr>
          <p:cNvPr id="1310" name="Google Shape;1310;h3c495877238649a1_0_0"/>
          <p:cNvGrpSpPr/>
          <p:nvPr/>
        </p:nvGrpSpPr>
        <p:grpSpPr>
          <a:xfrm>
            <a:off x="1970532" y="3933618"/>
            <a:ext cx="4526325" cy="899325"/>
            <a:chOff x="0" y="-28575"/>
            <a:chExt cx="6035100" cy="1199100"/>
          </a:xfrm>
        </p:grpSpPr>
        <p:sp>
          <p:nvSpPr>
            <p:cNvPr id="1311" name="Google Shape;1311;h3c495877238649a1_0_0"/>
            <p:cNvSpPr/>
            <p:nvPr/>
          </p:nvSpPr>
          <p:spPr>
            <a:xfrm>
              <a:off x="0" y="0"/>
              <a:ext cx="6035040" cy="1170432"/>
            </a:xfrm>
            <a:custGeom>
              <a:rect b="b" l="l" r="r" t="t"/>
              <a:pathLst>
                <a:path extrusionOk="0" h="1170432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170432"/>
                  </a:lnTo>
                  <a:lnTo>
                    <a:pt x="0" y="11704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0470" l="0" r="0" t="-5047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2" name="Google Shape;1312;h3c495877238649a1_0_0"/>
            <p:cNvSpPr txBox="1"/>
            <p:nvPr/>
          </p:nvSpPr>
          <p:spPr>
            <a:xfrm>
              <a:off x="0" y="-28575"/>
              <a:ext cx="6035100" cy="119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29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25">
                  <a:solidFill>
                    <a:srgbClr val="0B2545"/>
                  </a:solidFill>
                  <a:latin typeface="Calibri"/>
                  <a:ea typeface="Calibri"/>
                  <a:cs typeface="Calibri"/>
                  <a:sym typeface="Calibri"/>
                </a:rPr>
                <a:t>Dashboard</a:t>
              </a:r>
              <a:r>
                <a:rPr b="1" lang="en-US" sz="1725">
                  <a:solidFill>
                    <a:srgbClr val="0B2545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</p:txBody>
        </p:sp>
      </p:grpSp>
      <p:grpSp>
        <p:nvGrpSpPr>
          <p:cNvPr id="1313" name="Google Shape;1313;h3c495877238649a1_0_0"/>
          <p:cNvGrpSpPr/>
          <p:nvPr/>
        </p:nvGrpSpPr>
        <p:grpSpPr>
          <a:xfrm>
            <a:off x="6675120" y="3926474"/>
            <a:ext cx="10492740" cy="906399"/>
            <a:chOff x="0" y="-38100"/>
            <a:chExt cx="13990320" cy="1208532"/>
          </a:xfrm>
        </p:grpSpPr>
        <p:sp>
          <p:nvSpPr>
            <p:cNvPr id="1314" name="Google Shape;1314;h3c495877238649a1_0_0"/>
            <p:cNvSpPr/>
            <p:nvPr/>
          </p:nvSpPr>
          <p:spPr>
            <a:xfrm>
              <a:off x="0" y="0"/>
              <a:ext cx="13990320" cy="1170432"/>
            </a:xfrm>
            <a:custGeom>
              <a:rect b="b" l="l" r="r" t="t"/>
              <a:pathLst>
                <a:path extrusionOk="0" h="1170432" w="13990320">
                  <a:moveTo>
                    <a:pt x="0" y="0"/>
                  </a:moveTo>
                  <a:lnTo>
                    <a:pt x="13990320" y="0"/>
                  </a:lnTo>
                  <a:lnTo>
                    <a:pt x="13990320" y="1170432"/>
                  </a:lnTo>
                  <a:lnTo>
                    <a:pt x="0" y="11704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82909" l="0" r="0" t="-18290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5" name="Google Shape;1315;h3c495877238649a1_0_0"/>
            <p:cNvSpPr txBox="1"/>
            <p:nvPr/>
          </p:nvSpPr>
          <p:spPr>
            <a:xfrm>
              <a:off x="0" y="-38100"/>
              <a:ext cx="13990200" cy="120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3200" u="sng">
                  <a:solidFill>
                    <a:schemeClr val="hlink"/>
                  </a:solidFill>
                  <a:latin typeface="Calibri"/>
                  <a:ea typeface="Calibri"/>
                  <a:cs typeface="Calibri"/>
                  <a:sym typeface="Calibri"/>
                  <a:hlinkClick r:id="rId5"/>
                </a:rPr>
                <a:t>Dashboard 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rgbClr val="5B738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545"/>
        </a:solidFill>
      </p:bgPr>
    </p:bg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p19"/>
          <p:cNvSpPr/>
          <p:nvPr/>
        </p:nvSpPr>
        <p:spPr>
          <a:xfrm>
            <a:off x="1234440" y="3703320"/>
            <a:ext cx="12344400" cy="1371600"/>
          </a:xfrm>
          <a:custGeom>
            <a:rect b="b" l="l" r="r" t="t"/>
            <a:pathLst>
              <a:path extrusionOk="0" h="1828800" w="16459200">
                <a:moveTo>
                  <a:pt x="0" y="0"/>
                </a:moveTo>
                <a:lnTo>
                  <a:pt x="16459200" y="0"/>
                </a:lnTo>
                <a:lnTo>
                  <a:pt x="16459200" y="1828800"/>
                </a:lnTo>
                <a:lnTo>
                  <a:pt x="0" y="182880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125242" l="0" r="0" t="-12524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21" name="Google Shape;1321;p19"/>
          <p:cNvGrpSpPr/>
          <p:nvPr/>
        </p:nvGrpSpPr>
        <p:grpSpPr>
          <a:xfrm>
            <a:off x="1234440" y="3689032"/>
            <a:ext cx="12344400" cy="1385888"/>
            <a:chOff x="0" y="-9525"/>
            <a:chExt cx="16459200" cy="1847850"/>
          </a:xfrm>
        </p:grpSpPr>
        <p:sp>
          <p:nvSpPr>
            <p:cNvPr id="1322" name="Google Shape;1322;p19"/>
            <p:cNvSpPr/>
            <p:nvPr/>
          </p:nvSpPr>
          <p:spPr>
            <a:xfrm>
              <a:off x="0" y="0"/>
              <a:ext cx="16459200" cy="1838325"/>
            </a:xfrm>
            <a:custGeom>
              <a:rect b="b" l="l" r="r" t="t"/>
              <a:pathLst>
                <a:path extrusionOk="0" h="1838325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838325"/>
                  </a:lnTo>
                  <a:lnTo>
                    <a:pt x="0" y="183832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24459" l="0" r="0" t="-12445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3" name="Google Shape;1323;p19"/>
            <p:cNvSpPr txBox="1"/>
            <p:nvPr/>
          </p:nvSpPr>
          <p:spPr>
            <a:xfrm>
              <a:off x="0" y="-9525"/>
              <a:ext cx="16459200" cy="1847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6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70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Terima Kasih</a:t>
              </a:r>
              <a:endParaRPr/>
            </a:p>
          </p:txBody>
        </p:sp>
      </p:grpSp>
      <p:sp>
        <p:nvSpPr>
          <p:cNvPr id="1324" name="Google Shape;1324;p19"/>
          <p:cNvSpPr/>
          <p:nvPr/>
        </p:nvSpPr>
        <p:spPr>
          <a:xfrm>
            <a:off x="1234440" y="9189720"/>
            <a:ext cx="13716000" cy="548640"/>
          </a:xfrm>
          <a:custGeom>
            <a:rect b="b" l="l" r="r" t="t"/>
            <a:pathLst>
              <a:path extrusionOk="0" h="731520" w="18288000">
                <a:moveTo>
                  <a:pt x="0" y="0"/>
                </a:moveTo>
                <a:lnTo>
                  <a:pt x="18288000" y="0"/>
                </a:lnTo>
                <a:lnTo>
                  <a:pt x="18288000" y="731520"/>
                </a:lnTo>
                <a:lnTo>
                  <a:pt x="0" y="7315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436760" l="0" r="0" t="-43676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25" name="Google Shape;1325;p19"/>
          <p:cNvGrpSpPr/>
          <p:nvPr/>
        </p:nvGrpSpPr>
        <p:grpSpPr>
          <a:xfrm>
            <a:off x="1234440" y="9161144"/>
            <a:ext cx="13716000" cy="577216"/>
            <a:chOff x="0" y="-19050"/>
            <a:chExt cx="18288000" cy="769620"/>
          </a:xfrm>
        </p:grpSpPr>
        <p:sp>
          <p:nvSpPr>
            <p:cNvPr id="1326" name="Google Shape;1326;p19"/>
            <p:cNvSpPr/>
            <p:nvPr/>
          </p:nvSpPr>
          <p:spPr>
            <a:xfrm>
              <a:off x="0" y="0"/>
              <a:ext cx="18288000" cy="750570"/>
            </a:xfrm>
            <a:custGeom>
              <a:rect b="b" l="l" r="r" t="t"/>
              <a:pathLst>
                <a:path extrusionOk="0" h="75057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50570"/>
                  </a:lnTo>
                  <a:lnTo>
                    <a:pt x="0" y="75057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424744" l="0" r="0" t="-42474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7" name="Google Shape;1327;p19"/>
            <p:cNvSpPr txBox="1"/>
            <p:nvPr/>
          </p:nvSpPr>
          <p:spPr>
            <a:xfrm>
              <a:off x="0" y="-19050"/>
              <a:ext cx="18288000" cy="7696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575">
                  <a:solidFill>
                    <a:srgbClr val="7E97B5"/>
                  </a:solidFill>
                  <a:latin typeface="Calibri"/>
                  <a:ea typeface="Calibri"/>
                  <a:cs typeface="Calibri"/>
                  <a:sym typeface="Calibri"/>
                </a:rPr>
                <a:t>E-Commerce Delivery Performance &amp; Revenue Risk Dashboard  •  Sumber: EDA Python &amp; Power BI</a:t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